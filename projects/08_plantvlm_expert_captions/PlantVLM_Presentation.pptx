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open: a classifier tells you a disease name. We wanted a model that tells you what it actually sees on the leaf — and this is how we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they would build. They will say classifier. Then show what a label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fast — one line each. The point is that none of these are solved by trying harder; each needs a design decision, which the rest of the talk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benchmark numbers are published on generic datasets. Plant leaves on a plain background are not that, so we tested on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at this stage we were not chasing a metric. We were reading text and asking whether it was grounded in the image in front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BLIP-2 story is the useful one: it is not that the model was bad at English, it is that it would not hold a structure we could parse. Format compliance is a real capability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Phase 1 proved the machinery works end to end. Phase 2 replaced the weakest part of it — where the sentences came from — with human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on this slide. The five captions are not duplicates — they are five valid descriptions. Because no single sentence minimises the error, the model is pushed toward the visual evidence they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textbook analogy out loud. Full fine-tuning is rewriting the book; LoRA is sticky notes. Then give the four numbers — they make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from the app running on our workstation — a tomato early blight leaf, correctly identified, with the confidence the model reports. If the GPU is free, run it live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base output aloud — the rambling is the point. Then read the tuned one. Nothing about the model changed except the sentences we showed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note: thirty images is a start, not a result. The methodology is what we are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42A"/>
        </a:solidFill>
      </p:bgPr>
    </p:bg>
    <p:spTree>
      <p:nvGrpSpPr>
        <p:cNvPr id="1" name=""/>
        <p:cNvGrpSpPr/>
        <p:nvPr/>
      </p:nvGrpSpPr>
      <p:grpSpPr>
        <a:xfrm>
          <a:off x="0" y="0"/>
          <a:ext cx="0" cy="0"/>
          <a:chOff x="0" y="0"/>
          <a:chExt cx="0" cy="0"/>
        </a:xfrm>
      </p:grpSpPr>
      <p:sp>
        <p:nvSpPr>
          <p:cNvPr id="2" name="Text 0"/>
          <p:cNvSpPr/>
          <p:nvPr/>
        </p:nvSpPr>
        <p:spPr>
          <a:xfrm>
            <a:off x="822960" y="19659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Teaching a Model to Describe a Sick Leaf</a:t>
            </a:r>
            <a:endParaRPr lang="en-US" sz="4000" dirty="0"/>
          </a:p>
        </p:txBody>
      </p:sp>
      <p:sp>
        <p:nvSpPr>
          <p:cNvPr id="3" name="Text 1"/>
          <p:cNvSpPr/>
          <p:nvPr/>
        </p:nvSpPr>
        <p:spPr>
          <a:xfrm>
            <a:off x="822960" y="2926080"/>
            <a:ext cx="10515600" cy="411480"/>
          </a:xfrm>
          <a:prstGeom prst="rect">
            <a:avLst/>
          </a:prstGeom>
          <a:noFill/>
          <a:ln/>
        </p:spPr>
        <p:txBody>
          <a:bodyPr wrap="square" lIns="0" tIns="0" rIns="0" bIns="0" rtlCol="0" anchor="ctr"/>
          <a:lstStyle/>
          <a:p>
            <a:pPr indent="0" marL="0">
              <a:buNone/>
            </a:pPr>
            <a:r>
              <a:rPr lang="en-US" sz="1800" dirty="0">
                <a:solidFill>
                  <a:srgbClr val="A9C6B5"/>
                </a:solidFill>
                <a:latin typeface="Calibri" pitchFamily="34" charset="0"/>
                <a:ea typeface="Calibri" pitchFamily="34" charset="-122"/>
                <a:cs typeface="Calibri" pitchFamily="34" charset="-120"/>
              </a:rPr>
              <a:t>How we built a Vision-Language Model pipeline for tomato leaf disease</a:t>
            </a:r>
            <a:endParaRPr lang="en-US" sz="1800" dirty="0"/>
          </a:p>
        </p:txBody>
      </p:sp>
      <p:sp>
        <p:nvSpPr>
          <p:cNvPr id="4" name="Shape 2"/>
          <p:cNvSpPr/>
          <p:nvPr/>
        </p:nvSpPr>
        <p:spPr>
          <a:xfrm>
            <a:off x="868680" y="3611880"/>
            <a:ext cx="2011680" cy="0"/>
          </a:xfrm>
          <a:prstGeom prst="line">
            <a:avLst/>
          </a:prstGeom>
          <a:noFill/>
          <a:ln w="25400">
            <a:solidFill>
              <a:srgbClr val="2E6B4F"/>
            </a:solidFill>
            <a:prstDash val="solid"/>
          </a:ln>
        </p:spPr>
      </p:sp>
      <p:sp>
        <p:nvSpPr>
          <p:cNvPr id="5" name="Text 3"/>
          <p:cNvSpPr/>
          <p:nvPr/>
        </p:nvSpPr>
        <p:spPr>
          <a:xfrm>
            <a:off x="822960" y="3886200"/>
            <a:ext cx="105156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Harish  ·  Aakash  ·  Kamaksha</a:t>
            </a:r>
            <a:endParaRPr lang="en-US" sz="1500" dirty="0"/>
          </a:p>
        </p:txBody>
      </p:sp>
      <p:sp>
        <p:nvSpPr>
          <p:cNvPr id="6" name="Text 4"/>
          <p:cNvSpPr/>
          <p:nvPr/>
        </p:nvSpPr>
        <p:spPr>
          <a:xfrm>
            <a:off x="822960" y="4279392"/>
            <a:ext cx="10515600" cy="292608"/>
          </a:xfrm>
          <a:prstGeom prst="rect">
            <a:avLst/>
          </a:prstGeom>
          <a:noFill/>
          <a:ln/>
        </p:spPr>
        <p:txBody>
          <a:bodyPr wrap="square" lIns="0" tIns="0" rIns="0" bIns="0" rtlCol="0" anchor="ctr"/>
          <a:lstStyle/>
          <a:p>
            <a:pPr indent="0" marL="0">
              <a:buNone/>
            </a:pPr>
            <a:r>
              <a:rPr lang="en-US" sz="1200" dirty="0">
                <a:solidFill>
                  <a:srgbClr val="8FB3A0"/>
                </a:solidFill>
                <a:latin typeface="Calibri" pitchFamily="34" charset="0"/>
                <a:ea typeface="Calibri" pitchFamily="34" charset="-122"/>
                <a:cs typeface="Calibri" pitchFamily="34" charset="-120"/>
              </a:rPr>
              <a:t>Qwen2.5-VL-7B  ·  LoRA fine-tuning  ·  150 manually validated captions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Three kinds of model</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What each one takes in, and what it can give back</a:t>
            </a:r>
            <a:endParaRPr lang="en-US" sz="1400" dirty="0"/>
          </a:p>
        </p:txBody>
      </p:sp>
      <p:sp>
        <p:nvSpPr>
          <p:cNvPr id="4" name="Shape 2"/>
          <p:cNvSpPr/>
          <p:nvPr/>
        </p:nvSpPr>
        <p:spPr>
          <a:xfrm>
            <a:off x="548640" y="1508760"/>
            <a:ext cx="3520440" cy="3931920"/>
          </a:xfrm>
          <a:prstGeom prst="roundRect">
            <a:avLst>
              <a:gd name="adj" fmla="val 2078"/>
            </a:avLst>
          </a:prstGeom>
          <a:solidFill>
            <a:srgbClr val="EDF3EF"/>
          </a:solidFill>
          <a:ln w="9525">
            <a:solidFill>
              <a:srgbClr val="C9DAD0"/>
            </a:solidFill>
            <a:prstDash val="solid"/>
          </a:ln>
        </p:spPr>
      </p:sp>
      <p:sp>
        <p:nvSpPr>
          <p:cNvPr id="5" name="Text 3"/>
          <p:cNvSpPr/>
          <p:nvPr/>
        </p:nvSpPr>
        <p:spPr>
          <a:xfrm>
            <a:off x="822960" y="1673352"/>
            <a:ext cx="2926080" cy="457200"/>
          </a:xfrm>
          <a:prstGeom prst="rect">
            <a:avLst/>
          </a:prstGeom>
          <a:noFill/>
          <a:ln/>
        </p:spPr>
        <p:txBody>
          <a:bodyPr wrap="square" lIns="0" tIns="0" rIns="0" bIns="0" rtlCol="0" anchor="ctr"/>
          <a:lstStyle/>
          <a:p>
            <a:pPr indent="0" marL="0">
              <a:buNone/>
            </a:pPr>
            <a:r>
              <a:rPr lang="en-US" sz="2400" b="1" dirty="0">
                <a:solidFill>
                  <a:srgbClr val="14342A"/>
                </a:solidFill>
                <a:latin typeface="Cambria" pitchFamily="34" charset="0"/>
                <a:ea typeface="Cambria" pitchFamily="34" charset="-122"/>
                <a:cs typeface="Cambria" pitchFamily="34" charset="-120"/>
              </a:rPr>
              <a:t>CNN</a:t>
            </a:r>
            <a:endParaRPr lang="en-US" sz="2400" dirty="0"/>
          </a:p>
        </p:txBody>
      </p:sp>
      <p:sp>
        <p:nvSpPr>
          <p:cNvPr id="6" name="Text 4"/>
          <p:cNvSpPr/>
          <p:nvPr/>
        </p:nvSpPr>
        <p:spPr>
          <a:xfrm>
            <a:off x="822960" y="2130552"/>
            <a:ext cx="2926080" cy="256032"/>
          </a:xfrm>
          <a:prstGeom prst="rect">
            <a:avLst/>
          </a:prstGeom>
          <a:noFill/>
          <a:ln/>
        </p:spPr>
        <p:txBody>
          <a:bodyPr wrap="square" lIns="0" tIns="0" rIns="0" bIns="0" rtlCol="0" anchor="ctr"/>
          <a:lstStyle/>
          <a:p>
            <a:pPr indent="0" marL="0">
              <a:buNone/>
            </a:pPr>
            <a:r>
              <a:rPr lang="en-US" sz="1100" dirty="0">
                <a:solidFill>
                  <a:srgbClr val="5C6B62"/>
                </a:solidFill>
                <a:latin typeface="Calibri" pitchFamily="34" charset="0"/>
                <a:ea typeface="Calibri" pitchFamily="34" charset="-122"/>
                <a:cs typeface="Calibri" pitchFamily="34" charset="-120"/>
              </a:rPr>
              <a:t>Classifier</a:t>
            </a:r>
            <a:endParaRPr lang="en-US" sz="1100" dirty="0"/>
          </a:p>
        </p:txBody>
      </p:sp>
      <p:sp>
        <p:nvSpPr>
          <p:cNvPr id="7" name="Text 5"/>
          <p:cNvSpPr/>
          <p:nvPr/>
        </p:nvSpPr>
        <p:spPr>
          <a:xfrm>
            <a:off x="822960" y="2450592"/>
            <a:ext cx="3017520" cy="274320"/>
          </a:xfrm>
          <a:prstGeom prst="rect">
            <a:avLst/>
          </a:prstGeom>
          <a:noFill/>
          <a:ln/>
        </p:spPr>
        <p:txBody>
          <a:bodyPr wrap="square" lIns="0" tIns="0" rIns="0" bIns="0" rtlCol="0" anchor="ctr"/>
          <a:lstStyle/>
          <a:p>
            <a:pPr indent="0" marL="0">
              <a:buNone/>
            </a:pPr>
            <a:r>
              <a:rPr lang="en-US" sz="1200" b="1" dirty="0">
                <a:solidFill>
                  <a:srgbClr val="2E6B4F"/>
                </a:solidFill>
                <a:latin typeface="Calibri" pitchFamily="34" charset="0"/>
                <a:ea typeface="Calibri" pitchFamily="34" charset="-122"/>
                <a:cs typeface="Calibri" pitchFamily="34" charset="-120"/>
              </a:rPr>
              <a:t>Image   →   One label</a:t>
            </a:r>
            <a:endParaRPr lang="en-US" sz="1200" dirty="0"/>
          </a:p>
        </p:txBody>
      </p:sp>
      <p:sp>
        <p:nvSpPr>
          <p:cNvPr id="8" name="Shape 6"/>
          <p:cNvSpPr/>
          <p:nvPr/>
        </p:nvSpPr>
        <p:spPr>
          <a:xfrm>
            <a:off x="822960" y="2816352"/>
            <a:ext cx="2971800" cy="0"/>
          </a:xfrm>
          <a:prstGeom prst="line">
            <a:avLst/>
          </a:prstGeom>
          <a:noFill/>
          <a:ln w="9525">
            <a:solidFill>
              <a:srgbClr val="C9DAD0"/>
            </a:solidFill>
            <a:prstDash val="solid"/>
          </a:ln>
        </p:spPr>
      </p:sp>
      <p:sp>
        <p:nvSpPr>
          <p:cNvPr id="9" name="Text 7"/>
          <p:cNvSpPr/>
          <p:nvPr/>
        </p:nvSpPr>
        <p:spPr>
          <a:xfrm>
            <a:off x="822960" y="2944368"/>
            <a:ext cx="3017520" cy="914400"/>
          </a:xfrm>
          <a:prstGeom prst="rect">
            <a:avLst/>
          </a:prstGeom>
          <a:noFill/>
          <a:ln/>
        </p:spPr>
        <p:txBody>
          <a:bodyPr wrap="square" lIns="0" tIns="0" rIns="0" bIns="0" rtlCol="0" anchor="ctr"/>
          <a:lstStyle/>
          <a:p>
            <a:pPr indent="0" marL="0">
              <a:buNone/>
            </a:pPr>
            <a:r>
              <a:rPr lang="en-US" sz="1100" i="1" dirty="0">
                <a:solidFill>
                  <a:srgbClr val="1C2620"/>
                </a:solidFill>
                <a:latin typeface="Calibri" pitchFamily="34" charset="0"/>
                <a:ea typeface="Calibri" pitchFamily="34" charset="-122"/>
                <a:cs typeface="Calibri" pitchFamily="34" charset="-120"/>
              </a:rPr>
              <a:t>Tomato_Early_blight</a:t>
            </a:r>
            <a:endParaRPr lang="en-US" sz="1100" dirty="0"/>
          </a:p>
        </p:txBody>
      </p:sp>
      <p:sp>
        <p:nvSpPr>
          <p:cNvPr id="10" name="Text 8"/>
          <p:cNvSpPr/>
          <p:nvPr/>
        </p:nvSpPr>
        <p:spPr>
          <a:xfrm>
            <a:off x="822960" y="4206240"/>
            <a:ext cx="3017520" cy="10058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No reason. No detail.</a:t>
            </a:r>
            <a:endParaRPr lang="en-US" sz="1200" dirty="0"/>
          </a:p>
          <a:p>
            <a:pPr indent="0" marL="0">
              <a:buNone/>
            </a:pPr>
            <a:r>
              <a:rPr lang="en-US" sz="1200" dirty="0">
                <a:solidFill>
                  <a:srgbClr val="5C6B62"/>
                </a:solidFill>
                <a:latin typeface="Calibri" pitchFamily="34" charset="0"/>
                <a:ea typeface="Calibri" pitchFamily="34" charset="-122"/>
                <a:cs typeface="Calibri" pitchFamily="34" charset="-120"/>
              </a:rPr>
              <a:t>You cannot check it.</a:t>
            </a:r>
            <a:endParaRPr lang="en-US" sz="1200" dirty="0"/>
          </a:p>
        </p:txBody>
      </p:sp>
      <p:sp>
        <p:nvSpPr>
          <p:cNvPr id="11" name="Shape 9"/>
          <p:cNvSpPr/>
          <p:nvPr/>
        </p:nvSpPr>
        <p:spPr>
          <a:xfrm>
            <a:off x="4343400" y="1508760"/>
            <a:ext cx="3520440" cy="3931920"/>
          </a:xfrm>
          <a:prstGeom prst="roundRect">
            <a:avLst>
              <a:gd name="adj" fmla="val 2078"/>
            </a:avLst>
          </a:prstGeom>
          <a:solidFill>
            <a:srgbClr val="EDF3EF"/>
          </a:solidFill>
          <a:ln w="9525">
            <a:solidFill>
              <a:srgbClr val="C9DAD0"/>
            </a:solidFill>
            <a:prstDash val="solid"/>
          </a:ln>
        </p:spPr>
      </p:sp>
      <p:sp>
        <p:nvSpPr>
          <p:cNvPr id="12" name="Text 10"/>
          <p:cNvSpPr/>
          <p:nvPr/>
        </p:nvSpPr>
        <p:spPr>
          <a:xfrm>
            <a:off x="4617720" y="1673352"/>
            <a:ext cx="2926080" cy="457200"/>
          </a:xfrm>
          <a:prstGeom prst="rect">
            <a:avLst/>
          </a:prstGeom>
          <a:noFill/>
          <a:ln/>
        </p:spPr>
        <p:txBody>
          <a:bodyPr wrap="square" lIns="0" tIns="0" rIns="0" bIns="0" rtlCol="0" anchor="ctr"/>
          <a:lstStyle/>
          <a:p>
            <a:pPr indent="0" marL="0">
              <a:buNone/>
            </a:pPr>
            <a:r>
              <a:rPr lang="en-US" sz="2400" b="1" dirty="0">
                <a:solidFill>
                  <a:srgbClr val="14342A"/>
                </a:solidFill>
                <a:latin typeface="Cambria" pitchFamily="34" charset="0"/>
                <a:ea typeface="Cambria" pitchFamily="34" charset="-122"/>
                <a:cs typeface="Cambria" pitchFamily="34" charset="-120"/>
              </a:rPr>
              <a:t>LLM</a:t>
            </a:r>
            <a:endParaRPr lang="en-US" sz="2400" dirty="0"/>
          </a:p>
        </p:txBody>
      </p:sp>
      <p:sp>
        <p:nvSpPr>
          <p:cNvPr id="13" name="Text 11"/>
          <p:cNvSpPr/>
          <p:nvPr/>
        </p:nvSpPr>
        <p:spPr>
          <a:xfrm>
            <a:off x="4617720" y="2130552"/>
            <a:ext cx="2926080" cy="256032"/>
          </a:xfrm>
          <a:prstGeom prst="rect">
            <a:avLst/>
          </a:prstGeom>
          <a:noFill/>
          <a:ln/>
        </p:spPr>
        <p:txBody>
          <a:bodyPr wrap="square" lIns="0" tIns="0" rIns="0" bIns="0" rtlCol="0" anchor="ctr"/>
          <a:lstStyle/>
          <a:p>
            <a:pPr indent="0" marL="0">
              <a:buNone/>
            </a:pPr>
            <a:r>
              <a:rPr lang="en-US" sz="1100" dirty="0">
                <a:solidFill>
                  <a:srgbClr val="5C6B62"/>
                </a:solidFill>
                <a:latin typeface="Calibri" pitchFamily="34" charset="0"/>
                <a:ea typeface="Calibri" pitchFamily="34" charset="-122"/>
                <a:cs typeface="Calibri" pitchFamily="34" charset="-120"/>
              </a:rPr>
              <a:t>Language model</a:t>
            </a:r>
            <a:endParaRPr lang="en-US" sz="1100" dirty="0"/>
          </a:p>
        </p:txBody>
      </p:sp>
      <p:sp>
        <p:nvSpPr>
          <p:cNvPr id="14" name="Text 12"/>
          <p:cNvSpPr/>
          <p:nvPr/>
        </p:nvSpPr>
        <p:spPr>
          <a:xfrm>
            <a:off x="4617720" y="2450592"/>
            <a:ext cx="3017520" cy="274320"/>
          </a:xfrm>
          <a:prstGeom prst="rect">
            <a:avLst/>
          </a:prstGeom>
          <a:noFill/>
          <a:ln/>
        </p:spPr>
        <p:txBody>
          <a:bodyPr wrap="square" lIns="0" tIns="0" rIns="0" bIns="0" rtlCol="0" anchor="ctr"/>
          <a:lstStyle/>
          <a:p>
            <a:pPr indent="0" marL="0">
              <a:buNone/>
            </a:pPr>
            <a:r>
              <a:rPr lang="en-US" sz="1200" b="1" dirty="0">
                <a:solidFill>
                  <a:srgbClr val="2E6B4F"/>
                </a:solidFill>
                <a:latin typeface="Calibri" pitchFamily="34" charset="0"/>
                <a:ea typeface="Calibri" pitchFamily="34" charset="-122"/>
                <a:cs typeface="Calibri" pitchFamily="34" charset="-120"/>
              </a:rPr>
              <a:t>Text   →   Text</a:t>
            </a:r>
            <a:endParaRPr lang="en-US" sz="1200" dirty="0"/>
          </a:p>
        </p:txBody>
      </p:sp>
      <p:sp>
        <p:nvSpPr>
          <p:cNvPr id="15" name="Shape 13"/>
          <p:cNvSpPr/>
          <p:nvPr/>
        </p:nvSpPr>
        <p:spPr>
          <a:xfrm>
            <a:off x="4617720" y="2816352"/>
            <a:ext cx="2971800" cy="0"/>
          </a:xfrm>
          <a:prstGeom prst="line">
            <a:avLst/>
          </a:prstGeom>
          <a:noFill/>
          <a:ln w="9525">
            <a:solidFill>
              <a:srgbClr val="C9DAD0"/>
            </a:solidFill>
            <a:prstDash val="solid"/>
          </a:ln>
        </p:spPr>
      </p:sp>
      <p:sp>
        <p:nvSpPr>
          <p:cNvPr id="16" name="Text 14"/>
          <p:cNvSpPr/>
          <p:nvPr/>
        </p:nvSpPr>
        <p:spPr>
          <a:xfrm>
            <a:off x="4617720" y="2944368"/>
            <a:ext cx="3017520" cy="914400"/>
          </a:xfrm>
          <a:prstGeom prst="rect">
            <a:avLst/>
          </a:prstGeom>
          <a:noFill/>
          <a:ln/>
        </p:spPr>
        <p:txBody>
          <a:bodyPr wrap="square" lIns="0" tIns="0" rIns="0" bIns="0" rtlCol="0" anchor="ctr"/>
          <a:lstStyle/>
          <a:p>
            <a:pPr indent="0" marL="0">
              <a:buNone/>
            </a:pPr>
            <a:r>
              <a:rPr lang="en-US" sz="1100" i="1" dirty="0">
                <a:solidFill>
                  <a:srgbClr val="1C2620"/>
                </a:solidFill>
                <a:latin typeface="Calibri" pitchFamily="34" charset="0"/>
                <a:ea typeface="Calibri" pitchFamily="34" charset="-122"/>
                <a:cs typeface="Calibri" pitchFamily="34" charset="-120"/>
              </a:rPr>
              <a:t>“Early blight is caused by</a:t>
            </a:r>
            <a:endParaRPr lang="en-US" sz="1100" dirty="0"/>
          </a:p>
          <a:p>
            <a:pPr indent="0" marL="0">
              <a:buNone/>
            </a:pPr>
            <a:r>
              <a:rPr lang="en-US" sz="1100" i="1" dirty="0">
                <a:solidFill>
                  <a:srgbClr val="1C2620"/>
                </a:solidFill>
                <a:latin typeface="Calibri" pitchFamily="34" charset="0"/>
                <a:ea typeface="Calibri" pitchFamily="34" charset="-122"/>
                <a:cs typeface="Calibri" pitchFamily="34" charset="-120"/>
              </a:rPr>
              <a:t>Alternaria solani…”</a:t>
            </a:r>
            <a:endParaRPr lang="en-US" sz="1100" dirty="0"/>
          </a:p>
        </p:txBody>
      </p:sp>
      <p:sp>
        <p:nvSpPr>
          <p:cNvPr id="17" name="Text 15"/>
          <p:cNvSpPr/>
          <p:nvPr/>
        </p:nvSpPr>
        <p:spPr>
          <a:xfrm>
            <a:off x="4617720" y="4206240"/>
            <a:ext cx="3017520" cy="10058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Fluent — but it has</a:t>
            </a:r>
            <a:endParaRPr lang="en-US" sz="1200" dirty="0"/>
          </a:p>
          <a:p>
            <a:pPr indent="0" marL="0">
              <a:buNone/>
            </a:pPr>
            <a:r>
              <a:rPr lang="en-US" sz="1200" dirty="0">
                <a:solidFill>
                  <a:srgbClr val="5C6B62"/>
                </a:solidFill>
                <a:latin typeface="Calibri" pitchFamily="34" charset="0"/>
                <a:ea typeface="Calibri" pitchFamily="34" charset="-122"/>
                <a:cs typeface="Calibri" pitchFamily="34" charset="-120"/>
              </a:rPr>
              <a:t>never seen your leaf.</a:t>
            </a:r>
            <a:endParaRPr lang="en-US" sz="1200" dirty="0"/>
          </a:p>
        </p:txBody>
      </p:sp>
      <p:sp>
        <p:nvSpPr>
          <p:cNvPr id="18" name="Shape 16"/>
          <p:cNvSpPr/>
          <p:nvPr/>
        </p:nvSpPr>
        <p:spPr>
          <a:xfrm>
            <a:off x="8138160" y="1508760"/>
            <a:ext cx="3520440" cy="3931920"/>
          </a:xfrm>
          <a:prstGeom prst="roundRect">
            <a:avLst>
              <a:gd name="adj" fmla="val 2078"/>
            </a:avLst>
          </a:prstGeom>
          <a:solidFill>
            <a:srgbClr val="14342A"/>
          </a:solidFill>
          <a:ln/>
        </p:spPr>
      </p:sp>
      <p:sp>
        <p:nvSpPr>
          <p:cNvPr id="19" name="Text 17"/>
          <p:cNvSpPr/>
          <p:nvPr/>
        </p:nvSpPr>
        <p:spPr>
          <a:xfrm>
            <a:off x="8412480" y="1673352"/>
            <a:ext cx="29260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VLM</a:t>
            </a:r>
            <a:endParaRPr lang="en-US" sz="2400" dirty="0"/>
          </a:p>
        </p:txBody>
      </p:sp>
      <p:sp>
        <p:nvSpPr>
          <p:cNvPr id="20" name="Text 18"/>
          <p:cNvSpPr/>
          <p:nvPr/>
        </p:nvSpPr>
        <p:spPr>
          <a:xfrm>
            <a:off x="8412480" y="2130552"/>
            <a:ext cx="2926080" cy="256032"/>
          </a:xfrm>
          <a:prstGeom prst="rect">
            <a:avLst/>
          </a:prstGeom>
          <a:noFill/>
          <a:ln/>
        </p:spPr>
        <p:txBody>
          <a:bodyPr wrap="square" lIns="0" tIns="0" rIns="0" bIns="0" rtlCol="0" anchor="ctr"/>
          <a:lstStyle/>
          <a:p>
            <a:pPr indent="0" marL="0">
              <a:buNone/>
            </a:pPr>
            <a:r>
              <a:rPr lang="en-US" sz="1100" dirty="0">
                <a:solidFill>
                  <a:srgbClr val="8FB3A0"/>
                </a:solidFill>
                <a:latin typeface="Calibri" pitchFamily="34" charset="0"/>
                <a:ea typeface="Calibri" pitchFamily="34" charset="-122"/>
                <a:cs typeface="Calibri" pitchFamily="34" charset="-120"/>
              </a:rPr>
              <a:t>Vision-Language model</a:t>
            </a:r>
            <a:endParaRPr lang="en-US" sz="1100" dirty="0"/>
          </a:p>
        </p:txBody>
      </p:sp>
      <p:sp>
        <p:nvSpPr>
          <p:cNvPr id="21" name="Text 19"/>
          <p:cNvSpPr/>
          <p:nvPr/>
        </p:nvSpPr>
        <p:spPr>
          <a:xfrm>
            <a:off x="8412480" y="2450592"/>
            <a:ext cx="3017520" cy="274320"/>
          </a:xfrm>
          <a:prstGeom prst="rect">
            <a:avLst/>
          </a:prstGeom>
          <a:noFill/>
          <a:ln/>
        </p:spPr>
        <p:txBody>
          <a:bodyPr wrap="square" lIns="0" tIns="0" rIns="0" bIns="0" rtlCol="0" anchor="ctr"/>
          <a:lstStyle/>
          <a:p>
            <a:pPr indent="0" marL="0">
              <a:buNone/>
            </a:pPr>
            <a:r>
              <a:rPr lang="en-US" sz="1200" b="1" dirty="0">
                <a:solidFill>
                  <a:srgbClr val="A9C6B5"/>
                </a:solidFill>
                <a:latin typeface="Calibri" pitchFamily="34" charset="0"/>
                <a:ea typeface="Calibri" pitchFamily="34" charset="-122"/>
                <a:cs typeface="Calibri" pitchFamily="34" charset="-120"/>
              </a:rPr>
              <a:t>Image + Question   →   Sentences</a:t>
            </a:r>
            <a:endParaRPr lang="en-US" sz="1200" dirty="0"/>
          </a:p>
        </p:txBody>
      </p:sp>
      <p:sp>
        <p:nvSpPr>
          <p:cNvPr id="22" name="Shape 20"/>
          <p:cNvSpPr/>
          <p:nvPr/>
        </p:nvSpPr>
        <p:spPr>
          <a:xfrm>
            <a:off x="8412480" y="2816352"/>
            <a:ext cx="2971800" cy="0"/>
          </a:xfrm>
          <a:prstGeom prst="line">
            <a:avLst/>
          </a:prstGeom>
          <a:noFill/>
          <a:ln w="9525">
            <a:solidFill>
              <a:srgbClr val="3A5C4A"/>
            </a:solidFill>
            <a:prstDash val="solid"/>
          </a:ln>
        </p:spPr>
      </p:sp>
      <p:sp>
        <p:nvSpPr>
          <p:cNvPr id="23" name="Text 21"/>
          <p:cNvSpPr/>
          <p:nvPr/>
        </p:nvSpPr>
        <p:spPr>
          <a:xfrm>
            <a:off x="8412480" y="2944368"/>
            <a:ext cx="3017520" cy="9144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“Two brown patches, one near</a:t>
            </a:r>
            <a:endParaRPr lang="en-US" sz="1100" dirty="0"/>
          </a:p>
          <a:p>
            <a:pPr indent="0" marL="0">
              <a:buNone/>
            </a:pPr>
            <a:r>
              <a:rPr lang="en-US" sz="1100" i="1" dirty="0">
                <a:solidFill>
                  <a:srgbClr val="FFFFFF"/>
                </a:solidFill>
                <a:latin typeface="Calibri" pitchFamily="34" charset="0"/>
                <a:ea typeface="Calibri" pitchFamily="34" charset="-122"/>
                <a:cs typeface="Calibri" pitchFamily="34" charset="-120"/>
              </a:rPr>
              <a:t>the upper centre…”</a:t>
            </a:r>
            <a:endParaRPr lang="en-US" sz="1100" dirty="0"/>
          </a:p>
        </p:txBody>
      </p:sp>
      <p:sp>
        <p:nvSpPr>
          <p:cNvPr id="24" name="Text 22"/>
          <p:cNvSpPr/>
          <p:nvPr/>
        </p:nvSpPr>
        <p:spPr>
          <a:xfrm>
            <a:off x="8412480" y="4206240"/>
            <a:ext cx="3017520" cy="1005840"/>
          </a:xfrm>
          <a:prstGeom prst="rect">
            <a:avLst/>
          </a:prstGeom>
          <a:noFill/>
          <a:ln/>
        </p:spPr>
        <p:txBody>
          <a:bodyPr wrap="square" lIns="0" tIns="0" rIns="0" bIns="0" rtlCol="0" anchor="ctr"/>
          <a:lstStyle/>
          <a:p>
            <a:pPr indent="0" marL="0">
              <a:buNone/>
            </a:pPr>
            <a:r>
              <a:rPr lang="en-US" sz="1200" dirty="0">
                <a:solidFill>
                  <a:srgbClr val="A9C6B5"/>
                </a:solidFill>
                <a:latin typeface="Calibri" pitchFamily="34" charset="0"/>
                <a:ea typeface="Calibri" pitchFamily="34" charset="-122"/>
                <a:cs typeface="Calibri" pitchFamily="34" charset="-120"/>
              </a:rPr>
              <a:t>An answer with the</a:t>
            </a:r>
            <a:endParaRPr lang="en-US" sz="1200" dirty="0"/>
          </a:p>
          <a:p>
            <a:pPr indent="0" marL="0">
              <a:buNone/>
            </a:pPr>
            <a:r>
              <a:rPr lang="en-US" sz="1200" dirty="0">
                <a:solidFill>
                  <a:srgbClr val="A9C6B5"/>
                </a:solidFill>
                <a:latin typeface="Calibri" pitchFamily="34" charset="0"/>
                <a:ea typeface="Calibri" pitchFamily="34" charset="-122"/>
                <a:cs typeface="Calibri" pitchFamily="34" charset="-120"/>
              </a:rPr>
              <a:t>evidence attached.</a:t>
            </a:r>
            <a:endParaRPr lang="en-US" sz="1200" dirty="0"/>
          </a:p>
        </p:txBody>
      </p:sp>
      <p:sp>
        <p:nvSpPr>
          <p:cNvPr id="25" name="Text 23"/>
          <p:cNvSpPr/>
          <p:nvPr/>
        </p:nvSpPr>
        <p:spPr>
          <a:xfrm>
            <a:off x="548640" y="5715000"/>
            <a:ext cx="11064240" cy="365760"/>
          </a:xfrm>
          <a:prstGeom prst="rect">
            <a:avLst/>
          </a:prstGeom>
          <a:noFill/>
          <a:ln/>
        </p:spPr>
        <p:txBody>
          <a:bodyPr wrap="square" lIns="0" tIns="0" rIns="0" bIns="0" rtlCol="0" anchor="ctr"/>
          <a:lstStyle/>
          <a:p>
            <a:pPr indent="0" marL="0">
              <a:buNone/>
            </a:pPr>
            <a:r>
              <a:rPr lang="en-US" sz="1400" b="1" dirty="0">
                <a:solidFill>
                  <a:srgbClr val="14342A"/>
                </a:solidFill>
                <a:latin typeface="Calibri" pitchFamily="34" charset="0"/>
                <a:ea typeface="Calibri" pitchFamily="34" charset="-122"/>
                <a:cs typeface="Calibri" pitchFamily="34" charset="-120"/>
              </a:rPr>
              <a:t>A farmer cannot act on a label. A description can be read, checked, and questioned.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Why training a VLM is hard</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Six problems we had to work around</a:t>
            </a:r>
            <a:endParaRPr lang="en-US" sz="1400" dirty="0"/>
          </a:p>
        </p:txBody>
      </p:sp>
      <p:sp>
        <p:nvSpPr>
          <p:cNvPr id="4" name="Shape 2"/>
          <p:cNvSpPr/>
          <p:nvPr/>
        </p:nvSpPr>
        <p:spPr>
          <a:xfrm>
            <a:off x="548640" y="1572768"/>
            <a:ext cx="3520440" cy="1874520"/>
          </a:xfrm>
          <a:prstGeom prst="roundRect">
            <a:avLst>
              <a:gd name="adj" fmla="val 3902"/>
            </a:avLst>
          </a:prstGeom>
          <a:solidFill>
            <a:srgbClr val="EDF3EF"/>
          </a:solidFill>
          <a:ln w="9525">
            <a:solidFill>
              <a:srgbClr val="C9DAD0"/>
            </a:solidFill>
            <a:prstDash val="solid"/>
          </a:ln>
        </p:spPr>
      </p:sp>
      <p:sp>
        <p:nvSpPr>
          <p:cNvPr id="5" name="Shape 3"/>
          <p:cNvSpPr/>
          <p:nvPr/>
        </p:nvSpPr>
        <p:spPr>
          <a:xfrm>
            <a:off x="822960" y="1828800"/>
            <a:ext cx="310896" cy="310896"/>
          </a:xfrm>
          <a:prstGeom prst="ellipse">
            <a:avLst/>
          </a:prstGeom>
          <a:solidFill>
            <a:srgbClr val="2E6B4F"/>
          </a:solidFill>
          <a:ln/>
        </p:spPr>
      </p:sp>
      <p:sp>
        <p:nvSpPr>
          <p:cNvPr id="6" name="Text 4"/>
          <p:cNvSpPr/>
          <p:nvPr/>
        </p:nvSpPr>
        <p:spPr>
          <a:xfrm>
            <a:off x="822960"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34440" y="1847088"/>
            <a:ext cx="26517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Data hunger</a:t>
            </a:r>
            <a:endParaRPr lang="en-US" sz="1600" dirty="0"/>
          </a:p>
        </p:txBody>
      </p:sp>
      <p:sp>
        <p:nvSpPr>
          <p:cNvPr id="8" name="Text 6"/>
          <p:cNvSpPr/>
          <p:nvPr/>
        </p:nvSpPr>
        <p:spPr>
          <a:xfrm>
            <a:off x="822960" y="2322576"/>
            <a:ext cx="3017520" cy="9144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VLMs are pre-trained on millions of image-text pairs. We had thirty images.</a:t>
            </a:r>
            <a:endParaRPr lang="en-US" sz="1200" dirty="0"/>
          </a:p>
        </p:txBody>
      </p:sp>
      <p:sp>
        <p:nvSpPr>
          <p:cNvPr id="9" name="Shape 7"/>
          <p:cNvSpPr/>
          <p:nvPr/>
        </p:nvSpPr>
        <p:spPr>
          <a:xfrm>
            <a:off x="4343400" y="1572768"/>
            <a:ext cx="3520440" cy="1874520"/>
          </a:xfrm>
          <a:prstGeom prst="roundRect">
            <a:avLst>
              <a:gd name="adj" fmla="val 3902"/>
            </a:avLst>
          </a:prstGeom>
          <a:solidFill>
            <a:srgbClr val="EDF3EF"/>
          </a:solidFill>
          <a:ln w="9525">
            <a:solidFill>
              <a:srgbClr val="C9DAD0"/>
            </a:solidFill>
            <a:prstDash val="solid"/>
          </a:ln>
        </p:spPr>
      </p:sp>
      <p:sp>
        <p:nvSpPr>
          <p:cNvPr id="10" name="Shape 8"/>
          <p:cNvSpPr/>
          <p:nvPr/>
        </p:nvSpPr>
        <p:spPr>
          <a:xfrm>
            <a:off x="4617720" y="1828800"/>
            <a:ext cx="310896" cy="310896"/>
          </a:xfrm>
          <a:prstGeom prst="ellipse">
            <a:avLst/>
          </a:prstGeom>
          <a:solidFill>
            <a:srgbClr val="2E6B4F"/>
          </a:solidFill>
          <a:ln/>
        </p:spPr>
      </p:sp>
      <p:sp>
        <p:nvSpPr>
          <p:cNvPr id="11" name="Text 9"/>
          <p:cNvSpPr/>
          <p:nvPr/>
        </p:nvSpPr>
        <p:spPr>
          <a:xfrm>
            <a:off x="4617720"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029200" y="1847088"/>
            <a:ext cx="26517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Cost</a:t>
            </a:r>
            <a:endParaRPr lang="en-US" sz="1600" dirty="0"/>
          </a:p>
        </p:txBody>
      </p:sp>
      <p:sp>
        <p:nvSpPr>
          <p:cNvPr id="13" name="Text 11"/>
          <p:cNvSpPr/>
          <p:nvPr/>
        </p:nvSpPr>
        <p:spPr>
          <a:xfrm>
            <a:off x="4617720" y="2322576"/>
            <a:ext cx="3017520" cy="9144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A 7B model's full weights do not fit in 24 GB of VRAM.</a:t>
            </a:r>
            <a:endParaRPr lang="en-US" sz="1200" dirty="0"/>
          </a:p>
        </p:txBody>
      </p:sp>
      <p:sp>
        <p:nvSpPr>
          <p:cNvPr id="14" name="Shape 12"/>
          <p:cNvSpPr/>
          <p:nvPr/>
        </p:nvSpPr>
        <p:spPr>
          <a:xfrm>
            <a:off x="8138160" y="1572768"/>
            <a:ext cx="3520440" cy="1874520"/>
          </a:xfrm>
          <a:prstGeom prst="roundRect">
            <a:avLst>
              <a:gd name="adj" fmla="val 3902"/>
            </a:avLst>
          </a:prstGeom>
          <a:solidFill>
            <a:srgbClr val="EDF3EF"/>
          </a:solidFill>
          <a:ln w="9525">
            <a:solidFill>
              <a:srgbClr val="C9DAD0"/>
            </a:solidFill>
            <a:prstDash val="solid"/>
          </a:ln>
        </p:spPr>
      </p:sp>
      <p:sp>
        <p:nvSpPr>
          <p:cNvPr id="15" name="Shape 13"/>
          <p:cNvSpPr/>
          <p:nvPr/>
        </p:nvSpPr>
        <p:spPr>
          <a:xfrm>
            <a:off x="8412480" y="1828800"/>
            <a:ext cx="310896" cy="310896"/>
          </a:xfrm>
          <a:prstGeom prst="ellipse">
            <a:avLst/>
          </a:prstGeom>
          <a:solidFill>
            <a:srgbClr val="2E6B4F"/>
          </a:solidFill>
          <a:ln/>
        </p:spPr>
      </p:sp>
      <p:sp>
        <p:nvSpPr>
          <p:cNvPr id="16" name="Text 14"/>
          <p:cNvSpPr/>
          <p:nvPr/>
        </p:nvSpPr>
        <p:spPr>
          <a:xfrm>
            <a:off x="8412480"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823960" y="1847088"/>
            <a:ext cx="26517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Alignment</a:t>
            </a:r>
            <a:endParaRPr lang="en-US" sz="1600" dirty="0"/>
          </a:p>
        </p:txBody>
      </p:sp>
      <p:sp>
        <p:nvSpPr>
          <p:cNvPr id="18" name="Text 16"/>
          <p:cNvSpPr/>
          <p:nvPr/>
        </p:nvSpPr>
        <p:spPr>
          <a:xfrm>
            <a:off x="8412480" y="2322576"/>
            <a:ext cx="3017520" cy="9144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The model must connect what it sees to what it says — not just describe pixels.</a:t>
            </a:r>
            <a:endParaRPr lang="en-US" sz="1200" dirty="0"/>
          </a:p>
        </p:txBody>
      </p:sp>
      <p:sp>
        <p:nvSpPr>
          <p:cNvPr id="19" name="Shape 17"/>
          <p:cNvSpPr/>
          <p:nvPr/>
        </p:nvSpPr>
        <p:spPr>
          <a:xfrm>
            <a:off x="548640" y="3694176"/>
            <a:ext cx="3520440" cy="1874520"/>
          </a:xfrm>
          <a:prstGeom prst="roundRect">
            <a:avLst>
              <a:gd name="adj" fmla="val 3902"/>
            </a:avLst>
          </a:prstGeom>
          <a:solidFill>
            <a:srgbClr val="EDF3EF"/>
          </a:solidFill>
          <a:ln w="9525">
            <a:solidFill>
              <a:srgbClr val="C9DAD0"/>
            </a:solidFill>
            <a:prstDash val="solid"/>
          </a:ln>
        </p:spPr>
      </p:sp>
      <p:sp>
        <p:nvSpPr>
          <p:cNvPr id="20" name="Shape 18"/>
          <p:cNvSpPr/>
          <p:nvPr/>
        </p:nvSpPr>
        <p:spPr>
          <a:xfrm>
            <a:off x="822960" y="3950208"/>
            <a:ext cx="310896" cy="310896"/>
          </a:xfrm>
          <a:prstGeom prst="ellipse">
            <a:avLst/>
          </a:prstGeom>
          <a:solidFill>
            <a:srgbClr val="2E6B4F"/>
          </a:solidFill>
          <a:ln/>
        </p:spPr>
      </p:sp>
      <p:sp>
        <p:nvSpPr>
          <p:cNvPr id="21" name="Text 19"/>
          <p:cNvSpPr/>
          <p:nvPr/>
        </p:nvSpPr>
        <p:spPr>
          <a:xfrm>
            <a:off x="822960" y="3950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34440" y="3968496"/>
            <a:ext cx="26517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Hallucination</a:t>
            </a:r>
            <a:endParaRPr lang="en-US" sz="1600" dirty="0"/>
          </a:p>
        </p:txBody>
      </p:sp>
      <p:sp>
        <p:nvSpPr>
          <p:cNvPr id="23" name="Text 21"/>
          <p:cNvSpPr/>
          <p:nvPr/>
        </p:nvSpPr>
        <p:spPr>
          <a:xfrm>
            <a:off x="822960" y="4443984"/>
            <a:ext cx="3017520" cy="9144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It will confidently describe symptoms that are not in the picture.</a:t>
            </a:r>
            <a:endParaRPr lang="en-US" sz="1200" dirty="0"/>
          </a:p>
        </p:txBody>
      </p:sp>
      <p:sp>
        <p:nvSpPr>
          <p:cNvPr id="24" name="Shape 22"/>
          <p:cNvSpPr/>
          <p:nvPr/>
        </p:nvSpPr>
        <p:spPr>
          <a:xfrm>
            <a:off x="4343400" y="3694176"/>
            <a:ext cx="3520440" cy="1874520"/>
          </a:xfrm>
          <a:prstGeom prst="roundRect">
            <a:avLst>
              <a:gd name="adj" fmla="val 3902"/>
            </a:avLst>
          </a:prstGeom>
          <a:solidFill>
            <a:srgbClr val="EDF3EF"/>
          </a:solidFill>
          <a:ln w="9525">
            <a:solidFill>
              <a:srgbClr val="C9DAD0"/>
            </a:solidFill>
            <a:prstDash val="solid"/>
          </a:ln>
        </p:spPr>
      </p:sp>
      <p:sp>
        <p:nvSpPr>
          <p:cNvPr id="25" name="Shape 23"/>
          <p:cNvSpPr/>
          <p:nvPr/>
        </p:nvSpPr>
        <p:spPr>
          <a:xfrm>
            <a:off x="4617720" y="3950208"/>
            <a:ext cx="310896" cy="310896"/>
          </a:xfrm>
          <a:prstGeom prst="ellipse">
            <a:avLst/>
          </a:prstGeom>
          <a:solidFill>
            <a:srgbClr val="2E6B4F"/>
          </a:solidFill>
          <a:ln/>
        </p:spPr>
      </p:sp>
      <p:sp>
        <p:nvSpPr>
          <p:cNvPr id="26" name="Text 24"/>
          <p:cNvSpPr/>
          <p:nvPr/>
        </p:nvSpPr>
        <p:spPr>
          <a:xfrm>
            <a:off x="4617720" y="3950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5029200" y="3968496"/>
            <a:ext cx="26517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Domain knowledge</a:t>
            </a:r>
            <a:endParaRPr lang="en-US" sz="1600" dirty="0"/>
          </a:p>
        </p:txBody>
      </p:sp>
      <p:sp>
        <p:nvSpPr>
          <p:cNvPr id="28" name="Text 26"/>
          <p:cNvSpPr/>
          <p:nvPr/>
        </p:nvSpPr>
        <p:spPr>
          <a:xfrm>
            <a:off x="4617720" y="4443984"/>
            <a:ext cx="3017520" cy="9144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General models have barely seen plant pathology.</a:t>
            </a:r>
            <a:endParaRPr lang="en-US" sz="1200" dirty="0"/>
          </a:p>
        </p:txBody>
      </p:sp>
      <p:sp>
        <p:nvSpPr>
          <p:cNvPr id="29" name="Shape 27"/>
          <p:cNvSpPr/>
          <p:nvPr/>
        </p:nvSpPr>
        <p:spPr>
          <a:xfrm>
            <a:off x="8138160" y="3694176"/>
            <a:ext cx="3520440" cy="1874520"/>
          </a:xfrm>
          <a:prstGeom prst="roundRect">
            <a:avLst>
              <a:gd name="adj" fmla="val 3902"/>
            </a:avLst>
          </a:prstGeom>
          <a:solidFill>
            <a:srgbClr val="EDF3EF"/>
          </a:solidFill>
          <a:ln w="9525">
            <a:solidFill>
              <a:srgbClr val="C9DAD0"/>
            </a:solidFill>
            <a:prstDash val="solid"/>
          </a:ln>
        </p:spPr>
      </p:sp>
      <p:sp>
        <p:nvSpPr>
          <p:cNvPr id="30" name="Shape 28"/>
          <p:cNvSpPr/>
          <p:nvPr/>
        </p:nvSpPr>
        <p:spPr>
          <a:xfrm>
            <a:off x="8412480" y="3950208"/>
            <a:ext cx="310896" cy="310896"/>
          </a:xfrm>
          <a:prstGeom prst="ellipse">
            <a:avLst/>
          </a:prstGeom>
          <a:solidFill>
            <a:srgbClr val="2E6B4F"/>
          </a:solidFill>
          <a:ln/>
        </p:spPr>
      </p:sp>
      <p:sp>
        <p:nvSpPr>
          <p:cNvPr id="31" name="Text 29"/>
          <p:cNvSpPr/>
          <p:nvPr/>
        </p:nvSpPr>
        <p:spPr>
          <a:xfrm>
            <a:off x="8412480" y="3950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823960" y="3968496"/>
            <a:ext cx="26517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No datasets</a:t>
            </a:r>
            <a:endParaRPr lang="en-US" sz="1600" dirty="0"/>
          </a:p>
        </p:txBody>
      </p:sp>
      <p:sp>
        <p:nvSpPr>
          <p:cNvPr id="33" name="Text 31"/>
          <p:cNvSpPr/>
          <p:nvPr/>
        </p:nvSpPr>
        <p:spPr>
          <a:xfrm>
            <a:off x="8412480" y="4443984"/>
            <a:ext cx="3017520" cy="9144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Crop images come with labels, almost never with sentences.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The models we put on the bench</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Open-weight VLMs we downloaded, ran, and fine-tuned on our data</a:t>
            </a:r>
            <a:endParaRPr lang="en-US" sz="1400" dirty="0"/>
          </a:p>
        </p:txBody>
      </p:sp>
      <p:sp>
        <p:nvSpPr>
          <p:cNvPr id="4" name="Shape 2"/>
          <p:cNvSpPr/>
          <p:nvPr/>
        </p:nvSpPr>
        <p:spPr>
          <a:xfrm>
            <a:off x="548640" y="1600200"/>
            <a:ext cx="11064240" cy="658368"/>
          </a:xfrm>
          <a:prstGeom prst="roundRect">
            <a:avLst>
              <a:gd name="adj" fmla="val 11111"/>
            </a:avLst>
          </a:prstGeom>
          <a:solidFill>
            <a:srgbClr val="14342A"/>
          </a:solidFill>
          <a:ln/>
        </p:spPr>
      </p:sp>
      <p:sp>
        <p:nvSpPr>
          <p:cNvPr id="5" name="Text 3"/>
          <p:cNvSpPr/>
          <p:nvPr/>
        </p:nvSpPr>
        <p:spPr>
          <a:xfrm>
            <a:off x="868680" y="1655064"/>
            <a:ext cx="42062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Qwen2.5-VL-7B-Instruct</a:t>
            </a:r>
            <a:endParaRPr lang="en-US" sz="1500" dirty="0"/>
          </a:p>
        </p:txBody>
      </p:sp>
      <p:sp>
        <p:nvSpPr>
          <p:cNvPr id="6" name="Text 4"/>
          <p:cNvSpPr/>
          <p:nvPr/>
        </p:nvSpPr>
        <p:spPr>
          <a:xfrm>
            <a:off x="5120640" y="1655064"/>
            <a:ext cx="2011680" cy="548640"/>
          </a:xfrm>
          <a:prstGeom prst="rect">
            <a:avLst/>
          </a:prstGeom>
          <a:noFill/>
          <a:ln/>
        </p:spPr>
        <p:txBody>
          <a:bodyPr wrap="square" lIns="0" tIns="0" rIns="0" bIns="0" rtlCol="0" anchor="ctr"/>
          <a:lstStyle/>
          <a:p>
            <a:pPr indent="0" marL="0">
              <a:buNone/>
            </a:pPr>
            <a:r>
              <a:rPr lang="en-US" sz="1200" dirty="0">
                <a:solidFill>
                  <a:srgbClr val="8FB3A0"/>
                </a:solidFill>
                <a:latin typeface="Calibri" pitchFamily="34" charset="0"/>
                <a:ea typeface="Calibri" pitchFamily="34" charset="-122"/>
                <a:cs typeface="Calibri" pitchFamily="34" charset="-120"/>
              </a:rPr>
              <a:t>Alibaba</a:t>
            </a:r>
            <a:endParaRPr lang="en-US" sz="1200" dirty="0"/>
          </a:p>
        </p:txBody>
      </p:sp>
      <p:sp>
        <p:nvSpPr>
          <p:cNvPr id="7" name="Text 5"/>
          <p:cNvSpPr/>
          <p:nvPr/>
        </p:nvSpPr>
        <p:spPr>
          <a:xfrm>
            <a:off x="7223760" y="1655064"/>
            <a:ext cx="4114800" cy="548640"/>
          </a:xfrm>
          <a:prstGeom prst="rect">
            <a:avLst/>
          </a:prstGeom>
          <a:noFill/>
          <a:ln/>
        </p:spPr>
        <p:txBody>
          <a:bodyPr wrap="square" lIns="0" tIns="0" rIns="0" bIns="0" rtlCol="0" anchor="ctr"/>
          <a:lstStyle/>
          <a:p>
            <a:pPr indent="0" marL="0">
              <a:buNone/>
            </a:pPr>
            <a:r>
              <a:rPr lang="en-US" sz="1200" dirty="0">
                <a:solidFill>
                  <a:srgbClr val="A9C6B5"/>
                </a:solidFill>
                <a:latin typeface="Calibri" pitchFamily="34" charset="0"/>
                <a:ea typeface="Calibri" pitchFamily="34" charset="-122"/>
                <a:cs typeface="Calibri" pitchFamily="34" charset="-120"/>
              </a:rPr>
              <a:t>Fine-tuned · strong, stable output</a:t>
            </a:r>
            <a:endParaRPr lang="en-US" sz="1200" dirty="0"/>
          </a:p>
        </p:txBody>
      </p:sp>
      <p:sp>
        <p:nvSpPr>
          <p:cNvPr id="8" name="Shape 6"/>
          <p:cNvSpPr/>
          <p:nvPr/>
        </p:nvSpPr>
        <p:spPr>
          <a:xfrm>
            <a:off x="548640" y="2386584"/>
            <a:ext cx="11064240" cy="658368"/>
          </a:xfrm>
          <a:prstGeom prst="roundRect">
            <a:avLst>
              <a:gd name="adj" fmla="val 11111"/>
            </a:avLst>
          </a:prstGeom>
          <a:solidFill>
            <a:srgbClr val="FFFFFF"/>
          </a:solidFill>
          <a:ln w="9525">
            <a:solidFill>
              <a:srgbClr val="C9DAD0"/>
            </a:solidFill>
            <a:prstDash val="solid"/>
          </a:ln>
        </p:spPr>
      </p:sp>
      <p:sp>
        <p:nvSpPr>
          <p:cNvPr id="9" name="Text 7"/>
          <p:cNvSpPr/>
          <p:nvPr/>
        </p:nvSpPr>
        <p:spPr>
          <a:xfrm>
            <a:off x="868680" y="2441448"/>
            <a:ext cx="4206240" cy="548640"/>
          </a:xfrm>
          <a:prstGeom prst="rect">
            <a:avLst/>
          </a:prstGeom>
          <a:noFill/>
          <a:ln/>
        </p:spPr>
        <p:txBody>
          <a:bodyPr wrap="square" lIns="0" tIns="0" rIns="0" bIns="0" rtlCol="0" anchor="ctr"/>
          <a:lstStyle/>
          <a:p>
            <a:pPr indent="0" marL="0">
              <a:buNone/>
            </a:pPr>
            <a:r>
              <a:rPr lang="en-US" sz="1500" b="1" dirty="0">
                <a:solidFill>
                  <a:srgbClr val="1C2620"/>
                </a:solidFill>
                <a:latin typeface="Calibri" pitchFamily="34" charset="0"/>
                <a:ea typeface="Calibri" pitchFamily="34" charset="-122"/>
                <a:cs typeface="Calibri" pitchFamily="34" charset="-120"/>
              </a:rPr>
              <a:t>LLaVA-1.6-Mistral-7B</a:t>
            </a:r>
            <a:endParaRPr lang="en-US" sz="1500" dirty="0"/>
          </a:p>
        </p:txBody>
      </p:sp>
      <p:sp>
        <p:nvSpPr>
          <p:cNvPr id="10" name="Text 8"/>
          <p:cNvSpPr/>
          <p:nvPr/>
        </p:nvSpPr>
        <p:spPr>
          <a:xfrm>
            <a:off x="5120640" y="2441448"/>
            <a:ext cx="201168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LLaVA</a:t>
            </a:r>
            <a:endParaRPr lang="en-US" sz="1200" dirty="0"/>
          </a:p>
        </p:txBody>
      </p:sp>
      <p:sp>
        <p:nvSpPr>
          <p:cNvPr id="11" name="Text 9"/>
          <p:cNvSpPr/>
          <p:nvPr/>
        </p:nvSpPr>
        <p:spPr>
          <a:xfrm>
            <a:off x="7223760" y="2441448"/>
            <a:ext cx="411480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Fine-tuned · adapters trained</a:t>
            </a:r>
            <a:endParaRPr lang="en-US" sz="1200" dirty="0"/>
          </a:p>
        </p:txBody>
      </p:sp>
      <p:sp>
        <p:nvSpPr>
          <p:cNvPr id="12" name="Shape 10"/>
          <p:cNvSpPr/>
          <p:nvPr/>
        </p:nvSpPr>
        <p:spPr>
          <a:xfrm>
            <a:off x="548640" y="3172968"/>
            <a:ext cx="11064240" cy="658368"/>
          </a:xfrm>
          <a:prstGeom prst="roundRect">
            <a:avLst>
              <a:gd name="adj" fmla="val 11111"/>
            </a:avLst>
          </a:prstGeom>
          <a:solidFill>
            <a:srgbClr val="FFFFFF"/>
          </a:solidFill>
          <a:ln w="9525">
            <a:solidFill>
              <a:srgbClr val="C9DAD0"/>
            </a:solidFill>
            <a:prstDash val="solid"/>
          </a:ln>
        </p:spPr>
      </p:sp>
      <p:sp>
        <p:nvSpPr>
          <p:cNvPr id="13" name="Text 11"/>
          <p:cNvSpPr/>
          <p:nvPr/>
        </p:nvSpPr>
        <p:spPr>
          <a:xfrm>
            <a:off x="868680" y="3227832"/>
            <a:ext cx="4206240" cy="548640"/>
          </a:xfrm>
          <a:prstGeom prst="rect">
            <a:avLst/>
          </a:prstGeom>
          <a:noFill/>
          <a:ln/>
        </p:spPr>
        <p:txBody>
          <a:bodyPr wrap="square" lIns="0" tIns="0" rIns="0" bIns="0" rtlCol="0" anchor="ctr"/>
          <a:lstStyle/>
          <a:p>
            <a:pPr indent="0" marL="0">
              <a:buNone/>
            </a:pPr>
            <a:r>
              <a:rPr lang="en-US" sz="1500" b="1" dirty="0">
                <a:solidFill>
                  <a:srgbClr val="1C2620"/>
                </a:solidFill>
                <a:latin typeface="Calibri" pitchFamily="34" charset="0"/>
                <a:ea typeface="Calibri" pitchFamily="34" charset="-122"/>
                <a:cs typeface="Calibri" pitchFamily="34" charset="-120"/>
              </a:rPr>
              <a:t>BLIP-2 OPT-2.7B</a:t>
            </a:r>
            <a:endParaRPr lang="en-US" sz="1500" dirty="0"/>
          </a:p>
        </p:txBody>
      </p:sp>
      <p:sp>
        <p:nvSpPr>
          <p:cNvPr id="14" name="Text 12"/>
          <p:cNvSpPr/>
          <p:nvPr/>
        </p:nvSpPr>
        <p:spPr>
          <a:xfrm>
            <a:off x="5120640" y="3227832"/>
            <a:ext cx="201168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Salesforce</a:t>
            </a:r>
            <a:endParaRPr lang="en-US" sz="1200" dirty="0"/>
          </a:p>
        </p:txBody>
      </p:sp>
      <p:sp>
        <p:nvSpPr>
          <p:cNvPr id="15" name="Text 13"/>
          <p:cNvSpPr/>
          <p:nvPr/>
        </p:nvSpPr>
        <p:spPr>
          <a:xfrm>
            <a:off x="7223760" y="3227832"/>
            <a:ext cx="411480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Fine-tuned · lost the output format</a:t>
            </a:r>
            <a:endParaRPr lang="en-US" sz="1200" dirty="0"/>
          </a:p>
        </p:txBody>
      </p:sp>
      <p:sp>
        <p:nvSpPr>
          <p:cNvPr id="16" name="Shape 14"/>
          <p:cNvSpPr/>
          <p:nvPr/>
        </p:nvSpPr>
        <p:spPr>
          <a:xfrm>
            <a:off x="548640" y="3959352"/>
            <a:ext cx="11064240" cy="658368"/>
          </a:xfrm>
          <a:prstGeom prst="roundRect">
            <a:avLst>
              <a:gd name="adj" fmla="val 11111"/>
            </a:avLst>
          </a:prstGeom>
          <a:solidFill>
            <a:srgbClr val="FFFFFF"/>
          </a:solidFill>
          <a:ln w="9525">
            <a:solidFill>
              <a:srgbClr val="C9DAD0"/>
            </a:solidFill>
            <a:prstDash val="solid"/>
          </a:ln>
        </p:spPr>
      </p:sp>
      <p:sp>
        <p:nvSpPr>
          <p:cNvPr id="17" name="Text 15"/>
          <p:cNvSpPr/>
          <p:nvPr/>
        </p:nvSpPr>
        <p:spPr>
          <a:xfrm>
            <a:off x="868680" y="4014216"/>
            <a:ext cx="4206240" cy="548640"/>
          </a:xfrm>
          <a:prstGeom prst="rect">
            <a:avLst/>
          </a:prstGeom>
          <a:noFill/>
          <a:ln/>
        </p:spPr>
        <p:txBody>
          <a:bodyPr wrap="square" lIns="0" tIns="0" rIns="0" bIns="0" rtlCol="0" anchor="ctr"/>
          <a:lstStyle/>
          <a:p>
            <a:pPr indent="0" marL="0">
              <a:buNone/>
            </a:pPr>
            <a:r>
              <a:rPr lang="en-US" sz="1500" b="1" dirty="0">
                <a:solidFill>
                  <a:srgbClr val="1C2620"/>
                </a:solidFill>
                <a:latin typeface="Calibri" pitchFamily="34" charset="0"/>
                <a:ea typeface="Calibri" pitchFamily="34" charset="-122"/>
                <a:cs typeface="Calibri" pitchFamily="34" charset="-120"/>
              </a:rPr>
              <a:t>BLIP-2 FLAN-T5-XL</a:t>
            </a:r>
            <a:endParaRPr lang="en-US" sz="1500" dirty="0"/>
          </a:p>
        </p:txBody>
      </p:sp>
      <p:sp>
        <p:nvSpPr>
          <p:cNvPr id="18" name="Text 16"/>
          <p:cNvSpPr/>
          <p:nvPr/>
        </p:nvSpPr>
        <p:spPr>
          <a:xfrm>
            <a:off x="5120640" y="4014216"/>
            <a:ext cx="201168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Salesforce</a:t>
            </a:r>
            <a:endParaRPr lang="en-US" sz="1200" dirty="0"/>
          </a:p>
        </p:txBody>
      </p:sp>
      <p:sp>
        <p:nvSpPr>
          <p:cNvPr id="19" name="Text 17"/>
          <p:cNvSpPr/>
          <p:nvPr/>
        </p:nvSpPr>
        <p:spPr>
          <a:xfrm>
            <a:off x="7223760" y="4014216"/>
            <a:ext cx="411480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Evaluated</a:t>
            </a:r>
            <a:endParaRPr lang="en-US" sz="1200" dirty="0"/>
          </a:p>
        </p:txBody>
      </p:sp>
      <p:sp>
        <p:nvSpPr>
          <p:cNvPr id="20" name="Shape 18"/>
          <p:cNvSpPr/>
          <p:nvPr/>
        </p:nvSpPr>
        <p:spPr>
          <a:xfrm>
            <a:off x="548640" y="4745736"/>
            <a:ext cx="11064240" cy="658368"/>
          </a:xfrm>
          <a:prstGeom prst="roundRect">
            <a:avLst>
              <a:gd name="adj" fmla="val 11111"/>
            </a:avLst>
          </a:prstGeom>
          <a:solidFill>
            <a:srgbClr val="FFFFFF"/>
          </a:solidFill>
          <a:ln w="9525">
            <a:solidFill>
              <a:srgbClr val="C9DAD0"/>
            </a:solidFill>
            <a:prstDash val="solid"/>
          </a:ln>
        </p:spPr>
      </p:sp>
      <p:sp>
        <p:nvSpPr>
          <p:cNvPr id="21" name="Text 19"/>
          <p:cNvSpPr/>
          <p:nvPr/>
        </p:nvSpPr>
        <p:spPr>
          <a:xfrm>
            <a:off x="868680" y="4800600"/>
            <a:ext cx="4206240" cy="548640"/>
          </a:xfrm>
          <a:prstGeom prst="rect">
            <a:avLst/>
          </a:prstGeom>
          <a:noFill/>
          <a:ln/>
        </p:spPr>
        <p:txBody>
          <a:bodyPr wrap="square" lIns="0" tIns="0" rIns="0" bIns="0" rtlCol="0" anchor="ctr"/>
          <a:lstStyle/>
          <a:p>
            <a:pPr indent="0" marL="0">
              <a:buNone/>
            </a:pPr>
            <a:r>
              <a:rPr lang="en-US" sz="1500" b="1" dirty="0">
                <a:solidFill>
                  <a:srgbClr val="1C2620"/>
                </a:solidFill>
                <a:latin typeface="Calibri" pitchFamily="34" charset="0"/>
                <a:ea typeface="Calibri" pitchFamily="34" charset="-122"/>
                <a:cs typeface="Calibri" pitchFamily="34" charset="-120"/>
              </a:rPr>
              <a:t>Florence-2-base-ft</a:t>
            </a:r>
            <a:endParaRPr lang="en-US" sz="1500" dirty="0"/>
          </a:p>
        </p:txBody>
      </p:sp>
      <p:sp>
        <p:nvSpPr>
          <p:cNvPr id="22" name="Text 20"/>
          <p:cNvSpPr/>
          <p:nvPr/>
        </p:nvSpPr>
        <p:spPr>
          <a:xfrm>
            <a:off x="5120640" y="4800600"/>
            <a:ext cx="201168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Microsoft</a:t>
            </a:r>
            <a:endParaRPr lang="en-US" sz="1200" dirty="0"/>
          </a:p>
        </p:txBody>
      </p:sp>
      <p:sp>
        <p:nvSpPr>
          <p:cNvPr id="23" name="Text 21"/>
          <p:cNvSpPr/>
          <p:nvPr/>
        </p:nvSpPr>
        <p:spPr>
          <a:xfrm>
            <a:off x="7223760" y="4800600"/>
            <a:ext cx="4114800" cy="548640"/>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Attempted · needed source patching</a:t>
            </a:r>
            <a:endParaRPr lang="en-US" sz="1200" dirty="0"/>
          </a:p>
        </p:txBody>
      </p:sp>
      <p:sp>
        <p:nvSpPr>
          <p:cNvPr id="24" name="Text 22"/>
          <p:cNvSpPr/>
          <p:nvPr/>
        </p:nvSpPr>
        <p:spPr>
          <a:xfrm>
            <a:off x="548640" y="5779008"/>
            <a:ext cx="11064240" cy="365760"/>
          </a:xfrm>
          <a:prstGeom prst="rect">
            <a:avLst/>
          </a:prstGeom>
          <a:noFill/>
          <a:ln/>
        </p:spPr>
        <p:txBody>
          <a:bodyPr wrap="square" lIns="0" tIns="0" rIns="0" bIns="0" rtlCol="0" anchor="ctr"/>
          <a:lstStyle/>
          <a:p>
            <a:pPr indent="0" marL="0">
              <a:buNone/>
            </a:pPr>
            <a:r>
              <a:rPr lang="en-US" sz="1400" b="1" dirty="0">
                <a:solidFill>
                  <a:srgbClr val="14342A"/>
                </a:solidFill>
                <a:latin typeface="Calibri" pitchFamily="34" charset="0"/>
                <a:ea typeface="Calibri" pitchFamily="34" charset="-122"/>
                <a:cs typeface="Calibri" pitchFamily="34" charset="-120"/>
              </a:rPr>
              <a:t>No model is chosen from a leaderboard. We ran every one on our own leaves.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How we compared them</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Same images, same prompt, side-by-side outputs</a:t>
            </a:r>
            <a:endParaRPr lang="en-US" sz="1400" dirty="0"/>
          </a:p>
        </p:txBody>
      </p:sp>
      <p:sp>
        <p:nvSpPr>
          <p:cNvPr id="4" name="Shape 2"/>
          <p:cNvSpPr/>
          <p:nvPr/>
        </p:nvSpPr>
        <p:spPr>
          <a:xfrm>
            <a:off x="548640" y="1965960"/>
            <a:ext cx="1627632" cy="1508760"/>
          </a:xfrm>
          <a:prstGeom prst="roundRect">
            <a:avLst>
              <a:gd name="adj" fmla="val 4848"/>
            </a:avLst>
          </a:prstGeom>
          <a:solidFill>
            <a:srgbClr val="EDF3EF"/>
          </a:solidFill>
          <a:ln w="9525">
            <a:solidFill>
              <a:srgbClr val="C9DAD0"/>
            </a:solidFill>
            <a:prstDash val="solid"/>
          </a:ln>
        </p:spPr>
      </p:sp>
      <p:sp>
        <p:nvSpPr>
          <p:cNvPr id="5" name="Text 3"/>
          <p:cNvSpPr/>
          <p:nvPr/>
        </p:nvSpPr>
        <p:spPr>
          <a:xfrm>
            <a:off x="621792" y="2057400"/>
            <a:ext cx="1481328" cy="1325880"/>
          </a:xfrm>
          <a:prstGeom prst="rect">
            <a:avLst/>
          </a:prstGeom>
          <a:noFill/>
          <a:ln/>
        </p:spPr>
        <p:txBody>
          <a:bodyPr wrap="square" lIns="0" tIns="0" rIns="0" bIns="0" rtlCol="0" anchor="ctr"/>
          <a:lstStyle/>
          <a:p>
            <a:pPr algn="ctr" indent="0" marL="0">
              <a:buNone/>
            </a:pPr>
            <a:r>
              <a:rPr lang="en-US" sz="1200" b="1" dirty="0">
                <a:solidFill>
                  <a:srgbClr val="1C2620"/>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1C2620"/>
                </a:solidFill>
                <a:latin typeface="Calibri" pitchFamily="34" charset="0"/>
                <a:ea typeface="Calibri" pitchFamily="34" charset="-122"/>
                <a:cs typeface="Calibri" pitchFamily="34" charset="-120"/>
              </a:rPr>
              <a:t>tomato</a:t>
            </a:r>
            <a:endParaRPr lang="en-US" sz="1200" dirty="0"/>
          </a:p>
          <a:p>
            <a:pPr algn="ctr" indent="0" marL="0">
              <a:buNone/>
            </a:pPr>
            <a:r>
              <a:rPr lang="en-US" sz="1200" b="1" dirty="0">
                <a:solidFill>
                  <a:srgbClr val="1C2620"/>
                </a:solidFill>
                <a:latin typeface="Calibri" pitchFamily="34" charset="0"/>
                <a:ea typeface="Calibri" pitchFamily="34" charset="-122"/>
                <a:cs typeface="Calibri" pitchFamily="34" charset="-120"/>
              </a:rPr>
              <a:t>images</a:t>
            </a:r>
            <a:endParaRPr lang="en-US" sz="1200" dirty="0"/>
          </a:p>
        </p:txBody>
      </p:sp>
      <p:sp>
        <p:nvSpPr>
          <p:cNvPr id="6" name="Shape 4"/>
          <p:cNvSpPr/>
          <p:nvPr/>
        </p:nvSpPr>
        <p:spPr>
          <a:xfrm>
            <a:off x="2212848" y="2724912"/>
            <a:ext cx="201168" cy="0"/>
          </a:xfrm>
          <a:prstGeom prst="line">
            <a:avLst/>
          </a:prstGeom>
          <a:noFill/>
          <a:ln w="19050">
            <a:solidFill>
              <a:srgbClr val="2E6B4F"/>
            </a:solidFill>
            <a:prstDash val="solid"/>
            <a:tailEnd type="triangle"/>
          </a:ln>
        </p:spPr>
      </p:sp>
      <p:sp>
        <p:nvSpPr>
          <p:cNvPr id="7" name="Shape 5"/>
          <p:cNvSpPr/>
          <p:nvPr/>
        </p:nvSpPr>
        <p:spPr>
          <a:xfrm>
            <a:off x="2450592" y="1965960"/>
            <a:ext cx="1627632" cy="1508760"/>
          </a:xfrm>
          <a:prstGeom prst="roundRect">
            <a:avLst>
              <a:gd name="adj" fmla="val 4848"/>
            </a:avLst>
          </a:prstGeom>
          <a:solidFill>
            <a:srgbClr val="EDF3EF"/>
          </a:solidFill>
          <a:ln w="9525">
            <a:solidFill>
              <a:srgbClr val="C9DAD0"/>
            </a:solidFill>
            <a:prstDash val="solid"/>
          </a:ln>
        </p:spPr>
      </p:sp>
      <p:sp>
        <p:nvSpPr>
          <p:cNvPr id="8" name="Text 6"/>
          <p:cNvSpPr/>
          <p:nvPr/>
        </p:nvSpPr>
        <p:spPr>
          <a:xfrm>
            <a:off x="2523744" y="2057400"/>
            <a:ext cx="1481328" cy="1325880"/>
          </a:xfrm>
          <a:prstGeom prst="rect">
            <a:avLst/>
          </a:prstGeom>
          <a:noFill/>
          <a:ln/>
        </p:spPr>
        <p:txBody>
          <a:bodyPr wrap="square" lIns="0" tIns="0" rIns="0" bIns="0" rtlCol="0" anchor="ctr"/>
          <a:lstStyle/>
          <a:p>
            <a:pPr algn="ctr" indent="0" marL="0">
              <a:buNone/>
            </a:pPr>
            <a:r>
              <a:rPr lang="en-US" sz="1200" b="1" dirty="0">
                <a:solidFill>
                  <a:srgbClr val="1C2620"/>
                </a:solidFill>
                <a:latin typeface="Calibri" pitchFamily="34" charset="0"/>
                <a:ea typeface="Calibri" pitchFamily="34" charset="-122"/>
                <a:cs typeface="Calibri" pitchFamily="34" charset="-120"/>
              </a:rPr>
              <a:t>One fixed</a:t>
            </a:r>
            <a:endParaRPr lang="en-US" sz="1200" dirty="0"/>
          </a:p>
          <a:p>
            <a:pPr algn="ctr" indent="0" marL="0">
              <a:buNone/>
            </a:pPr>
            <a:r>
              <a:rPr lang="en-US" sz="1200" b="1" dirty="0">
                <a:solidFill>
                  <a:srgbClr val="1C2620"/>
                </a:solidFill>
                <a:latin typeface="Calibri" pitchFamily="34" charset="0"/>
                <a:ea typeface="Calibri" pitchFamily="34" charset="-122"/>
                <a:cs typeface="Calibri" pitchFamily="34" charset="-120"/>
              </a:rPr>
              <a:t>prompt</a:t>
            </a:r>
            <a:endParaRPr lang="en-US" sz="1200" dirty="0"/>
          </a:p>
        </p:txBody>
      </p:sp>
      <p:sp>
        <p:nvSpPr>
          <p:cNvPr id="9" name="Shape 7"/>
          <p:cNvSpPr/>
          <p:nvPr/>
        </p:nvSpPr>
        <p:spPr>
          <a:xfrm>
            <a:off x="4114800" y="2724912"/>
            <a:ext cx="201168" cy="0"/>
          </a:xfrm>
          <a:prstGeom prst="line">
            <a:avLst/>
          </a:prstGeom>
          <a:noFill/>
          <a:ln w="19050">
            <a:solidFill>
              <a:srgbClr val="2E6B4F"/>
            </a:solidFill>
            <a:prstDash val="solid"/>
            <a:tailEnd type="triangle"/>
          </a:ln>
        </p:spPr>
      </p:sp>
      <p:sp>
        <p:nvSpPr>
          <p:cNvPr id="10" name="Shape 8"/>
          <p:cNvSpPr/>
          <p:nvPr/>
        </p:nvSpPr>
        <p:spPr>
          <a:xfrm>
            <a:off x="4352544" y="1965960"/>
            <a:ext cx="1627632" cy="1508760"/>
          </a:xfrm>
          <a:prstGeom prst="roundRect">
            <a:avLst>
              <a:gd name="adj" fmla="val 4848"/>
            </a:avLst>
          </a:prstGeom>
          <a:solidFill>
            <a:srgbClr val="EDF3EF"/>
          </a:solidFill>
          <a:ln w="9525">
            <a:solidFill>
              <a:srgbClr val="C9DAD0"/>
            </a:solidFill>
            <a:prstDash val="solid"/>
          </a:ln>
        </p:spPr>
      </p:sp>
      <p:sp>
        <p:nvSpPr>
          <p:cNvPr id="11" name="Text 9"/>
          <p:cNvSpPr/>
          <p:nvPr/>
        </p:nvSpPr>
        <p:spPr>
          <a:xfrm>
            <a:off x="4425696" y="2057400"/>
            <a:ext cx="1481328" cy="1325880"/>
          </a:xfrm>
          <a:prstGeom prst="rect">
            <a:avLst/>
          </a:prstGeom>
          <a:noFill/>
          <a:ln/>
        </p:spPr>
        <p:txBody>
          <a:bodyPr wrap="square" lIns="0" tIns="0" rIns="0" bIns="0" rtlCol="0" anchor="ctr"/>
          <a:lstStyle/>
          <a:p>
            <a:pPr algn="ctr" indent="0" marL="0">
              <a:buNone/>
            </a:pPr>
            <a:r>
              <a:rPr lang="en-US" sz="1200" b="1" dirty="0">
                <a:solidFill>
                  <a:srgbClr val="1C2620"/>
                </a:solidFill>
                <a:latin typeface="Calibri" pitchFamily="34" charset="0"/>
                <a:ea typeface="Calibri" pitchFamily="34" charset="-122"/>
                <a:cs typeface="Calibri" pitchFamily="34" charset="-120"/>
              </a:rPr>
              <a:t>Run every</a:t>
            </a:r>
            <a:endParaRPr lang="en-US" sz="1200" dirty="0"/>
          </a:p>
          <a:p>
            <a:pPr algn="ctr" indent="0" marL="0">
              <a:buNone/>
            </a:pPr>
            <a:r>
              <a:rPr lang="en-US" sz="1200" b="1" dirty="0">
                <a:solidFill>
                  <a:srgbClr val="1C2620"/>
                </a:solidFill>
                <a:latin typeface="Calibri" pitchFamily="34" charset="0"/>
                <a:ea typeface="Calibri" pitchFamily="34" charset="-122"/>
                <a:cs typeface="Calibri" pitchFamily="34" charset="-120"/>
              </a:rPr>
              <a:t>VLM</a:t>
            </a:r>
            <a:endParaRPr lang="en-US" sz="1200" dirty="0"/>
          </a:p>
        </p:txBody>
      </p:sp>
      <p:sp>
        <p:nvSpPr>
          <p:cNvPr id="12" name="Shape 10"/>
          <p:cNvSpPr/>
          <p:nvPr/>
        </p:nvSpPr>
        <p:spPr>
          <a:xfrm>
            <a:off x="6016752" y="2724912"/>
            <a:ext cx="201168" cy="0"/>
          </a:xfrm>
          <a:prstGeom prst="line">
            <a:avLst/>
          </a:prstGeom>
          <a:noFill/>
          <a:ln w="19050">
            <a:solidFill>
              <a:srgbClr val="2E6B4F"/>
            </a:solidFill>
            <a:prstDash val="solid"/>
            <a:tailEnd type="triangle"/>
          </a:ln>
        </p:spPr>
      </p:sp>
      <p:sp>
        <p:nvSpPr>
          <p:cNvPr id="13" name="Shape 11"/>
          <p:cNvSpPr/>
          <p:nvPr/>
        </p:nvSpPr>
        <p:spPr>
          <a:xfrm>
            <a:off x="6254496" y="1965960"/>
            <a:ext cx="1627632" cy="1508760"/>
          </a:xfrm>
          <a:prstGeom prst="roundRect">
            <a:avLst>
              <a:gd name="adj" fmla="val 4848"/>
            </a:avLst>
          </a:prstGeom>
          <a:solidFill>
            <a:srgbClr val="EDF3EF"/>
          </a:solidFill>
          <a:ln w="9525">
            <a:solidFill>
              <a:srgbClr val="C9DAD0"/>
            </a:solidFill>
            <a:prstDash val="solid"/>
          </a:ln>
        </p:spPr>
      </p:sp>
      <p:sp>
        <p:nvSpPr>
          <p:cNvPr id="14" name="Text 12"/>
          <p:cNvSpPr/>
          <p:nvPr/>
        </p:nvSpPr>
        <p:spPr>
          <a:xfrm>
            <a:off x="6327648" y="2057400"/>
            <a:ext cx="1481328" cy="1325880"/>
          </a:xfrm>
          <a:prstGeom prst="rect">
            <a:avLst/>
          </a:prstGeom>
          <a:noFill/>
          <a:ln/>
        </p:spPr>
        <p:txBody>
          <a:bodyPr wrap="square" lIns="0" tIns="0" rIns="0" bIns="0" rtlCol="0" anchor="ctr"/>
          <a:lstStyle/>
          <a:p>
            <a:pPr algn="ctr" indent="0" marL="0">
              <a:buNone/>
            </a:pPr>
            <a:r>
              <a:rPr lang="en-US" sz="1200" b="1" dirty="0">
                <a:solidFill>
                  <a:srgbClr val="1C2620"/>
                </a:solidFill>
                <a:latin typeface="Calibri" pitchFamily="34" charset="0"/>
                <a:ea typeface="Calibri" pitchFamily="34" charset="-122"/>
                <a:cs typeface="Calibri" pitchFamily="34" charset="-120"/>
              </a:rPr>
              <a:t>Collect</a:t>
            </a:r>
            <a:endParaRPr lang="en-US" sz="1200" dirty="0"/>
          </a:p>
          <a:p>
            <a:pPr algn="ctr" indent="0" marL="0">
              <a:buNone/>
            </a:pPr>
            <a:r>
              <a:rPr lang="en-US" sz="1200" b="1" dirty="0">
                <a:solidFill>
                  <a:srgbClr val="1C2620"/>
                </a:solidFill>
                <a:latin typeface="Calibri" pitchFamily="34" charset="0"/>
                <a:ea typeface="Calibri" pitchFamily="34" charset="-122"/>
                <a:cs typeface="Calibri" pitchFamily="34" charset="-120"/>
              </a:rPr>
              <a:t>outputs</a:t>
            </a:r>
            <a:endParaRPr lang="en-US" sz="1200" dirty="0"/>
          </a:p>
        </p:txBody>
      </p:sp>
      <p:sp>
        <p:nvSpPr>
          <p:cNvPr id="15" name="Shape 13"/>
          <p:cNvSpPr/>
          <p:nvPr/>
        </p:nvSpPr>
        <p:spPr>
          <a:xfrm>
            <a:off x="7918704" y="2724912"/>
            <a:ext cx="201168" cy="0"/>
          </a:xfrm>
          <a:prstGeom prst="line">
            <a:avLst/>
          </a:prstGeom>
          <a:noFill/>
          <a:ln w="19050">
            <a:solidFill>
              <a:srgbClr val="2E6B4F"/>
            </a:solidFill>
            <a:prstDash val="solid"/>
            <a:tailEnd type="triangle"/>
          </a:ln>
        </p:spPr>
      </p:sp>
      <p:sp>
        <p:nvSpPr>
          <p:cNvPr id="16" name="Shape 14"/>
          <p:cNvSpPr/>
          <p:nvPr/>
        </p:nvSpPr>
        <p:spPr>
          <a:xfrm>
            <a:off x="8156448" y="1965960"/>
            <a:ext cx="1627632" cy="1508760"/>
          </a:xfrm>
          <a:prstGeom prst="roundRect">
            <a:avLst>
              <a:gd name="adj" fmla="val 4848"/>
            </a:avLst>
          </a:prstGeom>
          <a:solidFill>
            <a:srgbClr val="EDF3EF"/>
          </a:solidFill>
          <a:ln w="9525">
            <a:solidFill>
              <a:srgbClr val="C9DAD0"/>
            </a:solidFill>
            <a:prstDash val="solid"/>
          </a:ln>
        </p:spPr>
      </p:sp>
      <p:sp>
        <p:nvSpPr>
          <p:cNvPr id="17" name="Text 15"/>
          <p:cNvSpPr/>
          <p:nvPr/>
        </p:nvSpPr>
        <p:spPr>
          <a:xfrm>
            <a:off x="8229600" y="2057400"/>
            <a:ext cx="1481328" cy="1325880"/>
          </a:xfrm>
          <a:prstGeom prst="rect">
            <a:avLst/>
          </a:prstGeom>
          <a:noFill/>
          <a:ln/>
        </p:spPr>
        <p:txBody>
          <a:bodyPr wrap="square" lIns="0" tIns="0" rIns="0" bIns="0" rtlCol="0" anchor="ctr"/>
          <a:lstStyle/>
          <a:p>
            <a:pPr algn="ctr" indent="0" marL="0">
              <a:buNone/>
            </a:pPr>
            <a:r>
              <a:rPr lang="en-US" sz="1200" b="1" dirty="0">
                <a:solidFill>
                  <a:srgbClr val="1C2620"/>
                </a:solidFill>
                <a:latin typeface="Calibri" pitchFamily="34" charset="0"/>
                <a:ea typeface="Calibri" pitchFamily="34" charset="-122"/>
                <a:cs typeface="Calibri" pitchFamily="34" charset="-120"/>
              </a:rPr>
              <a:t>Read them</a:t>
            </a:r>
            <a:endParaRPr lang="en-US" sz="1200" dirty="0"/>
          </a:p>
          <a:p>
            <a:pPr algn="ctr" indent="0" marL="0">
              <a:buNone/>
            </a:pPr>
            <a:r>
              <a:rPr lang="en-US" sz="1200" b="1" dirty="0">
                <a:solidFill>
                  <a:srgbClr val="1C2620"/>
                </a:solidFill>
                <a:latin typeface="Calibri" pitchFamily="34" charset="0"/>
                <a:ea typeface="Calibri" pitchFamily="34" charset="-122"/>
                <a:cs typeface="Calibri" pitchFamily="34" charset="-120"/>
              </a:rPr>
              <a:t>side by side</a:t>
            </a:r>
            <a:endParaRPr lang="en-US" sz="1200" dirty="0"/>
          </a:p>
        </p:txBody>
      </p:sp>
      <p:sp>
        <p:nvSpPr>
          <p:cNvPr id="18" name="Shape 16"/>
          <p:cNvSpPr/>
          <p:nvPr/>
        </p:nvSpPr>
        <p:spPr>
          <a:xfrm>
            <a:off x="9820656" y="2724912"/>
            <a:ext cx="201168" cy="0"/>
          </a:xfrm>
          <a:prstGeom prst="line">
            <a:avLst/>
          </a:prstGeom>
          <a:noFill/>
          <a:ln w="19050">
            <a:solidFill>
              <a:srgbClr val="2E6B4F"/>
            </a:solidFill>
            <a:prstDash val="solid"/>
            <a:tailEnd type="triangle"/>
          </a:ln>
        </p:spPr>
      </p:sp>
      <p:sp>
        <p:nvSpPr>
          <p:cNvPr id="19" name="Shape 17"/>
          <p:cNvSpPr/>
          <p:nvPr/>
        </p:nvSpPr>
        <p:spPr>
          <a:xfrm>
            <a:off x="10058400" y="1965960"/>
            <a:ext cx="1627632" cy="1508760"/>
          </a:xfrm>
          <a:prstGeom prst="roundRect">
            <a:avLst>
              <a:gd name="adj" fmla="val 4848"/>
            </a:avLst>
          </a:prstGeom>
          <a:solidFill>
            <a:srgbClr val="14342A"/>
          </a:solidFill>
          <a:ln/>
        </p:spPr>
      </p:sp>
      <p:sp>
        <p:nvSpPr>
          <p:cNvPr id="20" name="Text 18"/>
          <p:cNvSpPr/>
          <p:nvPr/>
        </p:nvSpPr>
        <p:spPr>
          <a:xfrm>
            <a:off x="10131552" y="2057400"/>
            <a:ext cx="1481328" cy="1325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Select the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best model</a:t>
            </a:r>
            <a:endParaRPr lang="en-US" sz="1200" dirty="0"/>
          </a:p>
        </p:txBody>
      </p:sp>
      <p:sp>
        <p:nvSpPr>
          <p:cNvPr id="21" name="Shape 19"/>
          <p:cNvSpPr/>
          <p:nvPr/>
        </p:nvSpPr>
        <p:spPr>
          <a:xfrm>
            <a:off x="548640" y="3931920"/>
            <a:ext cx="5394960" cy="1600200"/>
          </a:xfrm>
          <a:prstGeom prst="roundRect">
            <a:avLst>
              <a:gd name="adj" fmla="val 4571"/>
            </a:avLst>
          </a:prstGeom>
          <a:solidFill>
            <a:srgbClr val="EDF3EF"/>
          </a:solidFill>
          <a:ln w="9525">
            <a:solidFill>
              <a:srgbClr val="C9DAD0"/>
            </a:solidFill>
            <a:prstDash val="solid"/>
          </a:ln>
        </p:spPr>
      </p:sp>
      <p:sp>
        <p:nvSpPr>
          <p:cNvPr id="22" name="Text 20"/>
          <p:cNvSpPr/>
          <p:nvPr/>
        </p:nvSpPr>
        <p:spPr>
          <a:xfrm>
            <a:off x="868680" y="4114800"/>
            <a:ext cx="4754880" cy="310896"/>
          </a:xfrm>
          <a:prstGeom prst="rect">
            <a:avLst/>
          </a:prstGeom>
          <a:noFill/>
          <a:ln/>
        </p:spPr>
        <p:txBody>
          <a:bodyPr wrap="square" lIns="0" tIns="0" rIns="0" bIns="0" rtlCol="0" anchor="ctr"/>
          <a:lstStyle/>
          <a:p>
            <a:pPr indent="0" marL="0">
              <a:buNone/>
            </a:pPr>
            <a:r>
              <a:rPr lang="en-US" sz="1700" b="1" dirty="0">
                <a:solidFill>
                  <a:srgbClr val="14342A"/>
                </a:solidFill>
                <a:latin typeface="Cambria" pitchFamily="34" charset="0"/>
                <a:ea typeface="Cambria" pitchFamily="34" charset="-122"/>
                <a:cs typeface="Cambria" pitchFamily="34" charset="-120"/>
              </a:rPr>
              <a:t>One-shot benchmarking</a:t>
            </a:r>
            <a:endParaRPr lang="en-US" sz="1700" dirty="0"/>
          </a:p>
        </p:txBody>
      </p:sp>
      <p:sp>
        <p:nvSpPr>
          <p:cNvPr id="23" name="Text 21"/>
          <p:cNvSpPr/>
          <p:nvPr/>
        </p:nvSpPr>
        <p:spPr>
          <a:xfrm>
            <a:off x="868680" y="4498848"/>
            <a:ext cx="4800600" cy="868680"/>
          </a:xfrm>
          <a:prstGeom prst="rect">
            <a:avLst/>
          </a:prstGeom>
          <a:noFill/>
          <a:ln/>
        </p:spPr>
        <p:txBody>
          <a:bodyPr wrap="square" lIns="0" tIns="0" rIns="0" bIns="0" rtlCol="0" anchor="ctr"/>
          <a:lstStyle/>
          <a:p>
            <a:pPr indent="0" marL="0">
              <a:buNone/>
            </a:pPr>
            <a:r>
              <a:rPr lang="en-US" sz="1250" dirty="0">
                <a:solidFill>
                  <a:srgbClr val="1C2620"/>
                </a:solidFill>
                <a:latin typeface="Calibri" pitchFamily="34" charset="0"/>
                <a:ea typeface="Calibri" pitchFamily="34" charset="-122"/>
                <a:cs typeface="Calibri" pitchFamily="34" charset="-120"/>
              </a:rPr>
              <a:t>Every model sees each leaf once, with no examples and no hints — exactly how it would meet a new photograph.</a:t>
            </a:r>
            <a:endParaRPr lang="en-US" sz="1250" dirty="0"/>
          </a:p>
        </p:txBody>
      </p:sp>
      <p:sp>
        <p:nvSpPr>
          <p:cNvPr id="24" name="Shape 22"/>
          <p:cNvSpPr/>
          <p:nvPr/>
        </p:nvSpPr>
        <p:spPr>
          <a:xfrm>
            <a:off x="6217920" y="3931920"/>
            <a:ext cx="5394960" cy="1600200"/>
          </a:xfrm>
          <a:prstGeom prst="roundRect">
            <a:avLst>
              <a:gd name="adj" fmla="val 4571"/>
            </a:avLst>
          </a:prstGeom>
          <a:solidFill>
            <a:srgbClr val="EDF3EF"/>
          </a:solidFill>
          <a:ln w="9525">
            <a:solidFill>
              <a:srgbClr val="C9DAD0"/>
            </a:solidFill>
            <a:prstDash val="solid"/>
          </a:ln>
        </p:spPr>
      </p:sp>
      <p:sp>
        <p:nvSpPr>
          <p:cNvPr id="25" name="Text 23"/>
          <p:cNvSpPr/>
          <p:nvPr/>
        </p:nvSpPr>
        <p:spPr>
          <a:xfrm>
            <a:off x="6537960" y="4114800"/>
            <a:ext cx="4754880" cy="310896"/>
          </a:xfrm>
          <a:prstGeom prst="rect">
            <a:avLst/>
          </a:prstGeom>
          <a:noFill/>
          <a:ln/>
        </p:spPr>
        <p:txBody>
          <a:bodyPr wrap="square" lIns="0" tIns="0" rIns="0" bIns="0" rtlCol="0" anchor="ctr"/>
          <a:lstStyle/>
          <a:p>
            <a:pPr indent="0" marL="0">
              <a:buNone/>
            </a:pPr>
            <a:r>
              <a:rPr lang="en-US" sz="1700" b="1" dirty="0">
                <a:solidFill>
                  <a:srgbClr val="14342A"/>
                </a:solidFill>
                <a:latin typeface="Cambria" pitchFamily="34" charset="0"/>
                <a:ea typeface="Cambria" pitchFamily="34" charset="-122"/>
                <a:cs typeface="Cambria" pitchFamily="34" charset="-120"/>
              </a:rPr>
              <a:t>Qualitative comparison</a:t>
            </a:r>
            <a:endParaRPr lang="en-US" sz="1700" dirty="0"/>
          </a:p>
        </p:txBody>
      </p:sp>
      <p:sp>
        <p:nvSpPr>
          <p:cNvPr id="26" name="Text 24"/>
          <p:cNvSpPr/>
          <p:nvPr/>
        </p:nvSpPr>
        <p:spPr>
          <a:xfrm>
            <a:off x="6537960" y="4498848"/>
            <a:ext cx="4800600" cy="868680"/>
          </a:xfrm>
          <a:prstGeom prst="rect">
            <a:avLst/>
          </a:prstGeom>
          <a:noFill/>
          <a:ln/>
        </p:spPr>
        <p:txBody>
          <a:bodyPr wrap="square" lIns="0" tIns="0" rIns="0" bIns="0" rtlCol="0" anchor="ctr"/>
          <a:lstStyle/>
          <a:p>
            <a:pPr indent="0" marL="0">
              <a:buNone/>
            </a:pPr>
            <a:r>
              <a:rPr lang="en-US" sz="1250" dirty="0">
                <a:solidFill>
                  <a:srgbClr val="1C2620"/>
                </a:solidFill>
                <a:latin typeface="Calibri" pitchFamily="34" charset="0"/>
                <a:ea typeface="Calibri" pitchFamily="34" charset="-122"/>
                <a:cs typeface="Calibri" pitchFamily="34" charset="-120"/>
              </a:rPr>
              <a:t>We read the outputs. Is it describing this leaf, or reciting textbook facts? Does it hold a usable format?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Why Qwen2.5-VL</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It described the leaf in front of it, and kept doing so</a:t>
            </a:r>
            <a:endParaRPr lang="en-US" sz="1400" dirty="0"/>
          </a:p>
        </p:txBody>
      </p:sp>
      <p:sp>
        <p:nvSpPr>
          <p:cNvPr id="4" name="Shape 2"/>
          <p:cNvSpPr/>
          <p:nvPr/>
        </p:nvSpPr>
        <p:spPr>
          <a:xfrm>
            <a:off x="548640" y="1572768"/>
            <a:ext cx="5394960" cy="1115568"/>
          </a:xfrm>
          <a:prstGeom prst="roundRect">
            <a:avLst>
              <a:gd name="adj" fmla="val 6557"/>
            </a:avLst>
          </a:prstGeom>
          <a:solidFill>
            <a:srgbClr val="EDF3EF"/>
          </a:solidFill>
          <a:ln w="9525">
            <a:solidFill>
              <a:srgbClr val="C9DAD0"/>
            </a:solidFill>
            <a:prstDash val="solid"/>
          </a:ln>
        </p:spPr>
      </p:sp>
      <p:sp>
        <p:nvSpPr>
          <p:cNvPr id="5" name="Shape 3"/>
          <p:cNvSpPr/>
          <p:nvPr/>
        </p:nvSpPr>
        <p:spPr>
          <a:xfrm>
            <a:off x="841248" y="1792224"/>
            <a:ext cx="310896" cy="310896"/>
          </a:xfrm>
          <a:prstGeom prst="ellipse">
            <a:avLst/>
          </a:prstGeom>
          <a:solidFill>
            <a:srgbClr val="2E6B4F"/>
          </a:solidFill>
          <a:ln/>
        </p:spPr>
      </p:sp>
      <p:sp>
        <p:nvSpPr>
          <p:cNvPr id="6" name="Text 4"/>
          <p:cNvSpPr/>
          <p:nvPr/>
        </p:nvSpPr>
        <p:spPr>
          <a:xfrm>
            <a:off x="841248"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792224"/>
            <a:ext cx="44805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Visual grounding</a:t>
            </a:r>
            <a:endParaRPr lang="en-US" sz="1600" dirty="0"/>
          </a:p>
        </p:txBody>
      </p:sp>
      <p:sp>
        <p:nvSpPr>
          <p:cNvPr id="8" name="Text 6"/>
          <p:cNvSpPr/>
          <p:nvPr/>
        </p:nvSpPr>
        <p:spPr>
          <a:xfrm>
            <a:off x="1280160" y="2139696"/>
            <a:ext cx="4480560" cy="4572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Describes marks that are actually on this leaf, with positions.</a:t>
            </a:r>
            <a:endParaRPr lang="en-US" sz="1200" dirty="0"/>
          </a:p>
        </p:txBody>
      </p:sp>
      <p:sp>
        <p:nvSpPr>
          <p:cNvPr id="9" name="Shape 7"/>
          <p:cNvSpPr/>
          <p:nvPr/>
        </p:nvSpPr>
        <p:spPr>
          <a:xfrm>
            <a:off x="6217920" y="1572768"/>
            <a:ext cx="5394960" cy="1115568"/>
          </a:xfrm>
          <a:prstGeom prst="roundRect">
            <a:avLst>
              <a:gd name="adj" fmla="val 6557"/>
            </a:avLst>
          </a:prstGeom>
          <a:solidFill>
            <a:srgbClr val="EDF3EF"/>
          </a:solidFill>
          <a:ln w="9525">
            <a:solidFill>
              <a:srgbClr val="C9DAD0"/>
            </a:solidFill>
            <a:prstDash val="solid"/>
          </a:ln>
        </p:spPr>
      </p:sp>
      <p:sp>
        <p:nvSpPr>
          <p:cNvPr id="10" name="Shape 8"/>
          <p:cNvSpPr/>
          <p:nvPr/>
        </p:nvSpPr>
        <p:spPr>
          <a:xfrm>
            <a:off x="6510528" y="1792224"/>
            <a:ext cx="310896" cy="310896"/>
          </a:xfrm>
          <a:prstGeom prst="ellipse">
            <a:avLst/>
          </a:prstGeom>
          <a:solidFill>
            <a:srgbClr val="2E6B4F"/>
          </a:solidFill>
          <a:ln/>
        </p:spPr>
      </p:sp>
      <p:sp>
        <p:nvSpPr>
          <p:cNvPr id="11" name="Text 9"/>
          <p:cNvSpPr/>
          <p:nvPr/>
        </p:nvSpPr>
        <p:spPr>
          <a:xfrm>
            <a:off x="6510528"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49440" y="1792224"/>
            <a:ext cx="44805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Agricultural sense</a:t>
            </a:r>
            <a:endParaRPr lang="en-US" sz="1600" dirty="0"/>
          </a:p>
        </p:txBody>
      </p:sp>
      <p:sp>
        <p:nvSpPr>
          <p:cNvPr id="13" name="Text 11"/>
          <p:cNvSpPr/>
          <p:nvPr/>
        </p:nvSpPr>
        <p:spPr>
          <a:xfrm>
            <a:off x="6949440" y="2139696"/>
            <a:ext cx="4480560" cy="4572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Recognises lesions, chlorosis and leaf curling without coaching.</a:t>
            </a:r>
            <a:endParaRPr lang="en-US" sz="1200" dirty="0"/>
          </a:p>
        </p:txBody>
      </p:sp>
      <p:sp>
        <p:nvSpPr>
          <p:cNvPr id="14" name="Shape 12"/>
          <p:cNvSpPr/>
          <p:nvPr/>
        </p:nvSpPr>
        <p:spPr>
          <a:xfrm>
            <a:off x="548640" y="2871216"/>
            <a:ext cx="5394960" cy="1115568"/>
          </a:xfrm>
          <a:prstGeom prst="roundRect">
            <a:avLst>
              <a:gd name="adj" fmla="val 6557"/>
            </a:avLst>
          </a:prstGeom>
          <a:solidFill>
            <a:srgbClr val="EDF3EF"/>
          </a:solidFill>
          <a:ln w="9525">
            <a:solidFill>
              <a:srgbClr val="C9DAD0"/>
            </a:solidFill>
            <a:prstDash val="solid"/>
          </a:ln>
        </p:spPr>
      </p:sp>
      <p:sp>
        <p:nvSpPr>
          <p:cNvPr id="15" name="Shape 13"/>
          <p:cNvSpPr/>
          <p:nvPr/>
        </p:nvSpPr>
        <p:spPr>
          <a:xfrm>
            <a:off x="841248" y="3090672"/>
            <a:ext cx="310896" cy="310896"/>
          </a:xfrm>
          <a:prstGeom prst="ellipse">
            <a:avLst/>
          </a:prstGeom>
          <a:solidFill>
            <a:srgbClr val="2E6B4F"/>
          </a:solidFill>
          <a:ln/>
        </p:spPr>
      </p:sp>
      <p:sp>
        <p:nvSpPr>
          <p:cNvPr id="16" name="Text 14"/>
          <p:cNvSpPr/>
          <p:nvPr/>
        </p:nvSpPr>
        <p:spPr>
          <a:xfrm>
            <a:off x="841248" y="3090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80160" y="3090672"/>
            <a:ext cx="44805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Consistency</a:t>
            </a:r>
            <a:endParaRPr lang="en-US" sz="1600" dirty="0"/>
          </a:p>
        </p:txBody>
      </p:sp>
      <p:sp>
        <p:nvSpPr>
          <p:cNvPr id="18" name="Text 16"/>
          <p:cNvSpPr/>
          <p:nvPr/>
        </p:nvSpPr>
        <p:spPr>
          <a:xfrm>
            <a:off x="1280160" y="3438144"/>
            <a:ext cx="4480560" cy="4572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Same prompt, same shape of answer, image after image.</a:t>
            </a:r>
            <a:endParaRPr lang="en-US" sz="1200" dirty="0"/>
          </a:p>
        </p:txBody>
      </p:sp>
      <p:sp>
        <p:nvSpPr>
          <p:cNvPr id="19" name="Shape 17"/>
          <p:cNvSpPr/>
          <p:nvPr/>
        </p:nvSpPr>
        <p:spPr>
          <a:xfrm>
            <a:off x="6217920" y="2871216"/>
            <a:ext cx="5394960" cy="1115568"/>
          </a:xfrm>
          <a:prstGeom prst="roundRect">
            <a:avLst>
              <a:gd name="adj" fmla="val 6557"/>
            </a:avLst>
          </a:prstGeom>
          <a:solidFill>
            <a:srgbClr val="EDF3EF"/>
          </a:solidFill>
          <a:ln w="9525">
            <a:solidFill>
              <a:srgbClr val="C9DAD0"/>
            </a:solidFill>
            <a:prstDash val="solid"/>
          </a:ln>
        </p:spPr>
      </p:sp>
      <p:sp>
        <p:nvSpPr>
          <p:cNvPr id="20" name="Shape 18"/>
          <p:cNvSpPr/>
          <p:nvPr/>
        </p:nvSpPr>
        <p:spPr>
          <a:xfrm>
            <a:off x="6510528" y="3090672"/>
            <a:ext cx="310896" cy="310896"/>
          </a:xfrm>
          <a:prstGeom prst="ellipse">
            <a:avLst/>
          </a:prstGeom>
          <a:solidFill>
            <a:srgbClr val="2E6B4F"/>
          </a:solidFill>
          <a:ln/>
        </p:spPr>
      </p:sp>
      <p:sp>
        <p:nvSpPr>
          <p:cNvPr id="21" name="Text 19"/>
          <p:cNvSpPr/>
          <p:nvPr/>
        </p:nvSpPr>
        <p:spPr>
          <a:xfrm>
            <a:off x="6510528" y="3090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49440" y="3090672"/>
            <a:ext cx="4480560" cy="292608"/>
          </a:xfrm>
          <a:prstGeom prst="rect">
            <a:avLst/>
          </a:prstGeom>
          <a:noFill/>
          <a:ln/>
        </p:spPr>
        <p:txBody>
          <a:bodyPr wrap="square" lIns="0" tIns="0" rIns="0" bIns="0" rtlCol="0" anchor="ctr"/>
          <a:lstStyle/>
          <a:p>
            <a:pPr indent="0" marL="0">
              <a:buNone/>
            </a:pPr>
            <a:r>
              <a:rPr lang="en-US" sz="1600" b="1" dirty="0">
                <a:solidFill>
                  <a:srgbClr val="14342A"/>
                </a:solidFill>
                <a:latin typeface="Cambria" pitchFamily="34" charset="0"/>
                <a:ea typeface="Cambria" pitchFamily="34" charset="-122"/>
                <a:cs typeface="Cambria" pitchFamily="34" charset="-120"/>
              </a:rPr>
              <a:t>Stability</a:t>
            </a:r>
            <a:endParaRPr lang="en-US" sz="1600" dirty="0"/>
          </a:p>
        </p:txBody>
      </p:sp>
      <p:sp>
        <p:nvSpPr>
          <p:cNvPr id="23" name="Text 21"/>
          <p:cNvSpPr/>
          <p:nvPr/>
        </p:nvSpPr>
        <p:spPr>
          <a:xfrm>
            <a:off x="6949440" y="3438144"/>
            <a:ext cx="4480560" cy="457200"/>
          </a:xfrm>
          <a:prstGeom prst="rect">
            <a:avLst/>
          </a:prstGeom>
          <a:noFill/>
          <a:ln/>
        </p:spPr>
        <p:txBody>
          <a:bodyPr wrap="square" lIns="0" tIns="0" rIns="0" bIns="0" rtlCol="0" anchor="ctr"/>
          <a:lstStyle/>
          <a:p>
            <a:pPr indent="0" marL="0">
              <a:buNone/>
            </a:pPr>
            <a:r>
              <a:rPr lang="en-US" sz="1200" dirty="0">
                <a:solidFill>
                  <a:srgbClr val="1C2620"/>
                </a:solidFill>
                <a:latin typeface="Calibri" pitchFamily="34" charset="0"/>
                <a:ea typeface="Calibri" pitchFamily="34" charset="-122"/>
                <a:cs typeface="Calibri" pitchFamily="34" charset="-120"/>
              </a:rPr>
              <a:t>Holds the output format through fine-tuning — several models did not.</a:t>
            </a:r>
            <a:endParaRPr lang="en-US" sz="1200" dirty="0"/>
          </a:p>
        </p:txBody>
      </p:sp>
      <p:sp>
        <p:nvSpPr>
          <p:cNvPr id="24" name="Shape 22"/>
          <p:cNvSpPr/>
          <p:nvPr/>
        </p:nvSpPr>
        <p:spPr>
          <a:xfrm>
            <a:off x="548640" y="4315968"/>
            <a:ext cx="11064240" cy="1371600"/>
          </a:xfrm>
          <a:prstGeom prst="roundRect">
            <a:avLst>
              <a:gd name="adj" fmla="val 5333"/>
            </a:avLst>
          </a:prstGeom>
          <a:solidFill>
            <a:srgbClr val="14342A"/>
          </a:solidFill>
          <a:ln/>
        </p:spPr>
      </p:sp>
      <p:sp>
        <p:nvSpPr>
          <p:cNvPr id="25" name="Text 23"/>
          <p:cNvSpPr/>
          <p:nvPr/>
        </p:nvSpPr>
        <p:spPr>
          <a:xfrm>
            <a:off x="868680" y="4480560"/>
            <a:ext cx="45720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ruled a model out</a:t>
            </a:r>
            <a:endParaRPr lang="en-US" sz="1600" dirty="0"/>
          </a:p>
        </p:txBody>
      </p:sp>
      <p:sp>
        <p:nvSpPr>
          <p:cNvPr id="26" name="Text 24"/>
          <p:cNvSpPr/>
          <p:nvPr/>
        </p:nvSpPr>
        <p:spPr>
          <a:xfrm>
            <a:off x="868680" y="4846320"/>
            <a:ext cx="10424160" cy="731520"/>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BLIP-2 produced text, but after fine-tuning it never kept our field structure — so not one of its 200 test outputs could be read back automatically. Qwen held the format every time.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Our workflow</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From a folder of leaf photographs to a fine-tuned model</a:t>
            </a:r>
            <a:endParaRPr lang="en-US" sz="1400" dirty="0"/>
          </a:p>
        </p:txBody>
      </p:sp>
      <p:sp>
        <p:nvSpPr>
          <p:cNvPr id="4" name="Shape 2"/>
          <p:cNvSpPr/>
          <p:nvPr/>
        </p:nvSpPr>
        <p:spPr>
          <a:xfrm>
            <a:off x="548640" y="1481328"/>
            <a:ext cx="5257800" cy="4160520"/>
          </a:xfrm>
          <a:prstGeom prst="roundRect">
            <a:avLst>
              <a:gd name="adj" fmla="val 1758"/>
            </a:avLst>
          </a:prstGeom>
          <a:solidFill>
            <a:srgbClr val="EDF3EF"/>
          </a:solidFill>
          <a:ln w="9525">
            <a:solidFill>
              <a:srgbClr val="C9DAD0"/>
            </a:solidFill>
            <a:prstDash val="solid"/>
          </a:ln>
        </p:spPr>
      </p:sp>
      <p:sp>
        <p:nvSpPr>
          <p:cNvPr id="5" name="Text 3"/>
          <p:cNvSpPr/>
          <p:nvPr/>
        </p:nvSpPr>
        <p:spPr>
          <a:xfrm>
            <a:off x="868680" y="1645920"/>
            <a:ext cx="4663440" cy="256032"/>
          </a:xfrm>
          <a:prstGeom prst="rect">
            <a:avLst/>
          </a:prstGeom>
          <a:noFill/>
          <a:ln/>
        </p:spPr>
        <p:txBody>
          <a:bodyPr wrap="square" lIns="0" tIns="0" rIns="0" bIns="0" rtlCol="0" anchor="ctr"/>
          <a:lstStyle/>
          <a:p>
            <a:pPr indent="0" marL="0">
              <a:buNone/>
            </a:pPr>
            <a:r>
              <a:rPr lang="en-US" sz="1100" b="1" spc="100" kern="0" dirty="0">
                <a:solidFill>
                  <a:srgbClr val="2E6B4F"/>
                </a:solidFill>
                <a:latin typeface="Calibri" pitchFamily="34" charset="0"/>
                <a:ea typeface="Calibri" pitchFamily="34" charset="-122"/>
                <a:cs typeface="Calibri" pitchFamily="34" charset="-120"/>
              </a:rPr>
              <a:t>PHASE 1  ·  PROVING THE PIPELINE</a:t>
            </a:r>
            <a:endParaRPr lang="en-US" sz="1100" dirty="0"/>
          </a:p>
        </p:txBody>
      </p:sp>
      <p:sp>
        <p:nvSpPr>
          <p:cNvPr id="6" name="Shape 4"/>
          <p:cNvSpPr/>
          <p:nvPr/>
        </p:nvSpPr>
        <p:spPr>
          <a:xfrm>
            <a:off x="868680" y="2048256"/>
            <a:ext cx="4617720" cy="475488"/>
          </a:xfrm>
          <a:prstGeom prst="roundRect">
            <a:avLst>
              <a:gd name="adj" fmla="val 11538"/>
            </a:avLst>
          </a:prstGeom>
          <a:solidFill>
            <a:srgbClr val="FFFFFF"/>
          </a:solidFill>
          <a:ln w="9525">
            <a:solidFill>
              <a:srgbClr val="C9DAD0"/>
            </a:solidFill>
            <a:prstDash val="solid"/>
          </a:ln>
        </p:spPr>
      </p:sp>
      <p:sp>
        <p:nvSpPr>
          <p:cNvPr id="7" name="Text 5"/>
          <p:cNvSpPr/>
          <p:nvPr/>
        </p:nvSpPr>
        <p:spPr>
          <a:xfrm>
            <a:off x="1051560" y="2048256"/>
            <a:ext cx="4297680" cy="475488"/>
          </a:xfrm>
          <a:prstGeom prst="rect">
            <a:avLst/>
          </a:prstGeom>
          <a:noFill/>
          <a:ln/>
        </p:spPr>
        <p:txBody>
          <a:bodyPr wrap="square" lIns="0" tIns="0" rIns="0" bIns="0" rtlCol="0" anchor="ctr"/>
          <a:lstStyle/>
          <a:p>
            <a:pPr indent="0" marL="0">
              <a:buNone/>
            </a:pPr>
            <a:r>
              <a:rPr lang="en-US" sz="1300" dirty="0">
                <a:solidFill>
                  <a:srgbClr val="1C2620"/>
                </a:solidFill>
                <a:latin typeface="Calibri" pitchFamily="34" charset="0"/>
                <a:ea typeface="Calibri" pitchFamily="34" charset="-122"/>
                <a:cs typeface="Calibri" pitchFamily="34" charset="-120"/>
              </a:rPr>
              <a:t>Tomato dataset</a:t>
            </a:r>
            <a:endParaRPr lang="en-US" sz="1300" dirty="0"/>
          </a:p>
        </p:txBody>
      </p:sp>
      <p:sp>
        <p:nvSpPr>
          <p:cNvPr id="8" name="Shape 6"/>
          <p:cNvSpPr/>
          <p:nvPr/>
        </p:nvSpPr>
        <p:spPr>
          <a:xfrm>
            <a:off x="3172968" y="2532888"/>
            <a:ext cx="0" cy="164592"/>
          </a:xfrm>
          <a:prstGeom prst="line">
            <a:avLst/>
          </a:prstGeom>
          <a:noFill/>
          <a:ln w="19050">
            <a:solidFill>
              <a:srgbClr val="2E6B4F"/>
            </a:solidFill>
            <a:prstDash val="solid"/>
            <a:tailEnd type="triangle"/>
          </a:ln>
        </p:spPr>
      </p:sp>
      <p:sp>
        <p:nvSpPr>
          <p:cNvPr id="9" name="Shape 7"/>
          <p:cNvSpPr/>
          <p:nvPr/>
        </p:nvSpPr>
        <p:spPr>
          <a:xfrm>
            <a:off x="868680" y="2706624"/>
            <a:ext cx="4617720" cy="475488"/>
          </a:xfrm>
          <a:prstGeom prst="roundRect">
            <a:avLst>
              <a:gd name="adj" fmla="val 11538"/>
            </a:avLst>
          </a:prstGeom>
          <a:solidFill>
            <a:srgbClr val="FFFFFF"/>
          </a:solidFill>
          <a:ln w="9525">
            <a:solidFill>
              <a:srgbClr val="C9DAD0"/>
            </a:solidFill>
            <a:prstDash val="solid"/>
          </a:ln>
        </p:spPr>
      </p:sp>
      <p:sp>
        <p:nvSpPr>
          <p:cNvPr id="10" name="Text 8"/>
          <p:cNvSpPr/>
          <p:nvPr/>
        </p:nvSpPr>
        <p:spPr>
          <a:xfrm>
            <a:off x="1051560" y="2706624"/>
            <a:ext cx="4297680" cy="475488"/>
          </a:xfrm>
          <a:prstGeom prst="rect">
            <a:avLst/>
          </a:prstGeom>
          <a:noFill/>
          <a:ln/>
        </p:spPr>
        <p:txBody>
          <a:bodyPr wrap="square" lIns="0" tIns="0" rIns="0" bIns="0" rtlCol="0" anchor="ctr"/>
          <a:lstStyle/>
          <a:p>
            <a:pPr indent="0" marL="0">
              <a:buNone/>
            </a:pPr>
            <a:r>
              <a:rPr lang="en-US" sz="1300" dirty="0">
                <a:solidFill>
                  <a:srgbClr val="1C2620"/>
                </a:solidFill>
                <a:latin typeface="Calibri" pitchFamily="34" charset="0"/>
                <a:ea typeface="Calibri" pitchFamily="34" charset="-122"/>
                <a:cs typeface="Calibri" pitchFamily="34" charset="-120"/>
              </a:rPr>
              <a:t>Prompt engineering</a:t>
            </a:r>
            <a:endParaRPr lang="en-US" sz="1300" dirty="0"/>
          </a:p>
        </p:txBody>
      </p:sp>
      <p:sp>
        <p:nvSpPr>
          <p:cNvPr id="11" name="Shape 9"/>
          <p:cNvSpPr/>
          <p:nvPr/>
        </p:nvSpPr>
        <p:spPr>
          <a:xfrm>
            <a:off x="3172968" y="3191256"/>
            <a:ext cx="0" cy="164592"/>
          </a:xfrm>
          <a:prstGeom prst="line">
            <a:avLst/>
          </a:prstGeom>
          <a:noFill/>
          <a:ln w="19050">
            <a:solidFill>
              <a:srgbClr val="2E6B4F"/>
            </a:solidFill>
            <a:prstDash val="solid"/>
            <a:tailEnd type="triangle"/>
          </a:ln>
        </p:spPr>
      </p:sp>
      <p:sp>
        <p:nvSpPr>
          <p:cNvPr id="12" name="Shape 10"/>
          <p:cNvSpPr/>
          <p:nvPr/>
        </p:nvSpPr>
        <p:spPr>
          <a:xfrm>
            <a:off x="868680" y="3364992"/>
            <a:ext cx="4617720" cy="475488"/>
          </a:xfrm>
          <a:prstGeom prst="roundRect">
            <a:avLst>
              <a:gd name="adj" fmla="val 11538"/>
            </a:avLst>
          </a:prstGeom>
          <a:solidFill>
            <a:srgbClr val="FFFFFF"/>
          </a:solidFill>
          <a:ln w="9525">
            <a:solidFill>
              <a:srgbClr val="C9DAD0"/>
            </a:solidFill>
            <a:prstDash val="solid"/>
          </a:ln>
        </p:spPr>
      </p:sp>
      <p:sp>
        <p:nvSpPr>
          <p:cNvPr id="13" name="Text 11"/>
          <p:cNvSpPr/>
          <p:nvPr/>
        </p:nvSpPr>
        <p:spPr>
          <a:xfrm>
            <a:off x="1051560" y="3364992"/>
            <a:ext cx="4297680" cy="475488"/>
          </a:xfrm>
          <a:prstGeom prst="rect">
            <a:avLst/>
          </a:prstGeom>
          <a:noFill/>
          <a:ln/>
        </p:spPr>
        <p:txBody>
          <a:bodyPr wrap="square" lIns="0" tIns="0" rIns="0" bIns="0" rtlCol="0" anchor="ctr"/>
          <a:lstStyle/>
          <a:p>
            <a:pPr indent="0" marL="0">
              <a:buNone/>
            </a:pPr>
            <a:r>
              <a:rPr lang="en-US" sz="1300" dirty="0">
                <a:solidFill>
                  <a:srgbClr val="1C2620"/>
                </a:solidFill>
                <a:latin typeface="Calibri" pitchFamily="34" charset="0"/>
                <a:ea typeface="Calibri" pitchFamily="34" charset="-122"/>
                <a:cs typeface="Calibri" pitchFamily="34" charset="-120"/>
              </a:rPr>
              <a:t>Captions built from labels</a:t>
            </a:r>
            <a:endParaRPr lang="en-US" sz="1300" dirty="0"/>
          </a:p>
        </p:txBody>
      </p:sp>
      <p:sp>
        <p:nvSpPr>
          <p:cNvPr id="14" name="Shape 12"/>
          <p:cNvSpPr/>
          <p:nvPr/>
        </p:nvSpPr>
        <p:spPr>
          <a:xfrm>
            <a:off x="3172968" y="3849624"/>
            <a:ext cx="0" cy="164592"/>
          </a:xfrm>
          <a:prstGeom prst="line">
            <a:avLst/>
          </a:prstGeom>
          <a:noFill/>
          <a:ln w="19050">
            <a:solidFill>
              <a:srgbClr val="2E6B4F"/>
            </a:solidFill>
            <a:prstDash val="solid"/>
            <a:tailEnd type="triangle"/>
          </a:ln>
        </p:spPr>
      </p:sp>
      <p:sp>
        <p:nvSpPr>
          <p:cNvPr id="15" name="Shape 13"/>
          <p:cNvSpPr/>
          <p:nvPr/>
        </p:nvSpPr>
        <p:spPr>
          <a:xfrm>
            <a:off x="868680" y="4023360"/>
            <a:ext cx="4617720" cy="475488"/>
          </a:xfrm>
          <a:prstGeom prst="roundRect">
            <a:avLst>
              <a:gd name="adj" fmla="val 11538"/>
            </a:avLst>
          </a:prstGeom>
          <a:solidFill>
            <a:srgbClr val="FFFFFF"/>
          </a:solidFill>
          <a:ln w="9525">
            <a:solidFill>
              <a:srgbClr val="C9DAD0"/>
            </a:solidFill>
            <a:prstDash val="solid"/>
          </a:ln>
        </p:spPr>
      </p:sp>
      <p:sp>
        <p:nvSpPr>
          <p:cNvPr id="16" name="Text 14"/>
          <p:cNvSpPr/>
          <p:nvPr/>
        </p:nvSpPr>
        <p:spPr>
          <a:xfrm>
            <a:off x="1051560" y="4023360"/>
            <a:ext cx="4297680" cy="475488"/>
          </a:xfrm>
          <a:prstGeom prst="rect">
            <a:avLst/>
          </a:prstGeom>
          <a:noFill/>
          <a:ln/>
        </p:spPr>
        <p:txBody>
          <a:bodyPr wrap="square" lIns="0" tIns="0" rIns="0" bIns="0" rtlCol="0" anchor="ctr"/>
          <a:lstStyle/>
          <a:p>
            <a:pPr indent="0" marL="0">
              <a:buNone/>
            </a:pPr>
            <a:r>
              <a:rPr lang="en-US" sz="1300" dirty="0">
                <a:solidFill>
                  <a:srgbClr val="1C2620"/>
                </a:solidFill>
                <a:latin typeface="Calibri" pitchFamily="34" charset="0"/>
                <a:ea typeface="Calibri" pitchFamily="34" charset="-122"/>
                <a:cs typeface="Calibri" pitchFamily="34" charset="-120"/>
              </a:rPr>
              <a:t>LoRA fine-tuning</a:t>
            </a:r>
            <a:endParaRPr lang="en-US" sz="1300" dirty="0"/>
          </a:p>
        </p:txBody>
      </p:sp>
      <p:sp>
        <p:nvSpPr>
          <p:cNvPr id="17" name="Shape 15"/>
          <p:cNvSpPr/>
          <p:nvPr/>
        </p:nvSpPr>
        <p:spPr>
          <a:xfrm>
            <a:off x="3172968" y="4507992"/>
            <a:ext cx="0" cy="164592"/>
          </a:xfrm>
          <a:prstGeom prst="line">
            <a:avLst/>
          </a:prstGeom>
          <a:noFill/>
          <a:ln w="19050">
            <a:solidFill>
              <a:srgbClr val="2E6B4F"/>
            </a:solidFill>
            <a:prstDash val="solid"/>
            <a:tailEnd type="triangle"/>
          </a:ln>
        </p:spPr>
      </p:sp>
      <p:sp>
        <p:nvSpPr>
          <p:cNvPr id="18" name="Shape 16"/>
          <p:cNvSpPr/>
          <p:nvPr/>
        </p:nvSpPr>
        <p:spPr>
          <a:xfrm>
            <a:off x="868680" y="4681728"/>
            <a:ext cx="4617720" cy="475488"/>
          </a:xfrm>
          <a:prstGeom prst="roundRect">
            <a:avLst>
              <a:gd name="adj" fmla="val 11538"/>
            </a:avLst>
          </a:prstGeom>
          <a:solidFill>
            <a:srgbClr val="FFFFFF"/>
          </a:solidFill>
          <a:ln w="9525">
            <a:solidFill>
              <a:srgbClr val="C9DAD0"/>
            </a:solidFill>
            <a:prstDash val="solid"/>
          </a:ln>
        </p:spPr>
      </p:sp>
      <p:sp>
        <p:nvSpPr>
          <p:cNvPr id="19" name="Text 17"/>
          <p:cNvSpPr/>
          <p:nvPr/>
        </p:nvSpPr>
        <p:spPr>
          <a:xfrm>
            <a:off x="1051560" y="4681728"/>
            <a:ext cx="4297680" cy="475488"/>
          </a:xfrm>
          <a:prstGeom prst="rect">
            <a:avLst/>
          </a:prstGeom>
          <a:noFill/>
          <a:ln/>
        </p:spPr>
        <p:txBody>
          <a:bodyPr wrap="square" lIns="0" tIns="0" rIns="0" bIns="0" rtlCol="0" anchor="ctr"/>
          <a:lstStyle/>
          <a:p>
            <a:pPr indent="0" marL="0">
              <a:buNone/>
            </a:pPr>
            <a:r>
              <a:rPr lang="en-US" sz="1300" dirty="0">
                <a:solidFill>
                  <a:srgbClr val="1C2620"/>
                </a:solidFill>
                <a:latin typeface="Calibri" pitchFamily="34" charset="0"/>
                <a:ea typeface="Calibri" pitchFamily="34" charset="-122"/>
                <a:cs typeface="Calibri" pitchFamily="34" charset="-120"/>
              </a:rPr>
              <a:t>Working demo app</a:t>
            </a:r>
            <a:endParaRPr lang="en-US" sz="1300" dirty="0"/>
          </a:p>
        </p:txBody>
      </p:sp>
      <p:sp>
        <p:nvSpPr>
          <p:cNvPr id="20" name="Shape 18"/>
          <p:cNvSpPr/>
          <p:nvPr/>
        </p:nvSpPr>
        <p:spPr>
          <a:xfrm>
            <a:off x="6355080" y="1481328"/>
            <a:ext cx="5257800" cy="4160520"/>
          </a:xfrm>
          <a:prstGeom prst="roundRect">
            <a:avLst>
              <a:gd name="adj" fmla="val 1758"/>
            </a:avLst>
          </a:prstGeom>
          <a:solidFill>
            <a:srgbClr val="14342A"/>
          </a:solidFill>
          <a:ln/>
        </p:spPr>
      </p:sp>
      <p:sp>
        <p:nvSpPr>
          <p:cNvPr id="21" name="Text 19"/>
          <p:cNvSpPr/>
          <p:nvPr/>
        </p:nvSpPr>
        <p:spPr>
          <a:xfrm>
            <a:off x="6675120" y="1645920"/>
            <a:ext cx="4663440" cy="256032"/>
          </a:xfrm>
          <a:prstGeom prst="rect">
            <a:avLst/>
          </a:prstGeom>
          <a:noFill/>
          <a:ln/>
        </p:spPr>
        <p:txBody>
          <a:bodyPr wrap="square" lIns="0" tIns="0" rIns="0" bIns="0" rtlCol="0" anchor="ctr"/>
          <a:lstStyle/>
          <a:p>
            <a:pPr indent="0" marL="0">
              <a:buNone/>
            </a:pPr>
            <a:r>
              <a:rPr lang="en-US" sz="1100" b="1" spc="100" kern="0" dirty="0">
                <a:solidFill>
                  <a:srgbClr val="8FB3A0"/>
                </a:solidFill>
                <a:latin typeface="Calibri" pitchFamily="34" charset="0"/>
                <a:ea typeface="Calibri" pitchFamily="34" charset="-122"/>
                <a:cs typeface="Calibri" pitchFamily="34" charset="-120"/>
              </a:rPr>
              <a:t>PHASE 2  ·  REAL SUPERVISION</a:t>
            </a:r>
            <a:endParaRPr lang="en-US" sz="1100" dirty="0"/>
          </a:p>
        </p:txBody>
      </p:sp>
      <p:sp>
        <p:nvSpPr>
          <p:cNvPr id="22" name="Shape 20"/>
          <p:cNvSpPr/>
          <p:nvPr/>
        </p:nvSpPr>
        <p:spPr>
          <a:xfrm>
            <a:off x="6675120" y="2048256"/>
            <a:ext cx="4617720" cy="475488"/>
          </a:xfrm>
          <a:prstGeom prst="roundRect">
            <a:avLst>
              <a:gd name="adj" fmla="val 11538"/>
            </a:avLst>
          </a:prstGeom>
          <a:solidFill>
            <a:srgbClr val="1D4536"/>
          </a:solidFill>
          <a:ln/>
        </p:spPr>
      </p:sp>
      <p:sp>
        <p:nvSpPr>
          <p:cNvPr id="23" name="Text 21"/>
          <p:cNvSpPr/>
          <p:nvPr/>
        </p:nvSpPr>
        <p:spPr>
          <a:xfrm>
            <a:off x="6858000" y="2048256"/>
            <a:ext cx="429768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Humans describe every leaf</a:t>
            </a:r>
            <a:endParaRPr lang="en-US" sz="1300" dirty="0"/>
          </a:p>
        </p:txBody>
      </p:sp>
      <p:sp>
        <p:nvSpPr>
          <p:cNvPr id="24" name="Shape 22"/>
          <p:cNvSpPr/>
          <p:nvPr/>
        </p:nvSpPr>
        <p:spPr>
          <a:xfrm>
            <a:off x="8979408" y="2532888"/>
            <a:ext cx="0" cy="164592"/>
          </a:xfrm>
          <a:prstGeom prst="line">
            <a:avLst/>
          </a:prstGeom>
          <a:noFill/>
          <a:ln w="19050">
            <a:solidFill>
              <a:srgbClr val="2E6B4F"/>
            </a:solidFill>
            <a:prstDash val="solid"/>
            <a:tailEnd type="triangle"/>
          </a:ln>
        </p:spPr>
      </p:sp>
      <p:sp>
        <p:nvSpPr>
          <p:cNvPr id="25" name="Shape 23"/>
          <p:cNvSpPr/>
          <p:nvPr/>
        </p:nvSpPr>
        <p:spPr>
          <a:xfrm>
            <a:off x="6675120" y="2706624"/>
            <a:ext cx="4617720" cy="475488"/>
          </a:xfrm>
          <a:prstGeom prst="roundRect">
            <a:avLst>
              <a:gd name="adj" fmla="val 11538"/>
            </a:avLst>
          </a:prstGeom>
          <a:solidFill>
            <a:srgbClr val="1D4536"/>
          </a:solidFill>
          <a:ln/>
        </p:spPr>
      </p:sp>
      <p:sp>
        <p:nvSpPr>
          <p:cNvPr id="26" name="Text 24"/>
          <p:cNvSpPr/>
          <p:nvPr/>
        </p:nvSpPr>
        <p:spPr>
          <a:xfrm>
            <a:off x="6858000" y="2706624"/>
            <a:ext cx="429768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Mentor reviews every caption</a:t>
            </a:r>
            <a:endParaRPr lang="en-US" sz="1300" dirty="0"/>
          </a:p>
        </p:txBody>
      </p:sp>
      <p:sp>
        <p:nvSpPr>
          <p:cNvPr id="27" name="Shape 25"/>
          <p:cNvSpPr/>
          <p:nvPr/>
        </p:nvSpPr>
        <p:spPr>
          <a:xfrm>
            <a:off x="8979408" y="3191256"/>
            <a:ext cx="0" cy="164592"/>
          </a:xfrm>
          <a:prstGeom prst="line">
            <a:avLst/>
          </a:prstGeom>
          <a:noFill/>
          <a:ln w="19050">
            <a:solidFill>
              <a:srgbClr val="2E6B4F"/>
            </a:solidFill>
            <a:prstDash val="solid"/>
            <a:tailEnd type="triangle"/>
          </a:ln>
        </p:spPr>
      </p:sp>
      <p:sp>
        <p:nvSpPr>
          <p:cNvPr id="28" name="Shape 26"/>
          <p:cNvSpPr/>
          <p:nvPr/>
        </p:nvSpPr>
        <p:spPr>
          <a:xfrm>
            <a:off x="6675120" y="3364992"/>
            <a:ext cx="4617720" cy="475488"/>
          </a:xfrm>
          <a:prstGeom prst="roundRect">
            <a:avLst>
              <a:gd name="adj" fmla="val 11538"/>
            </a:avLst>
          </a:prstGeom>
          <a:solidFill>
            <a:srgbClr val="1D4536"/>
          </a:solidFill>
          <a:ln/>
        </p:spPr>
      </p:sp>
      <p:sp>
        <p:nvSpPr>
          <p:cNvPr id="29" name="Text 27"/>
          <p:cNvSpPr/>
          <p:nvPr/>
        </p:nvSpPr>
        <p:spPr>
          <a:xfrm>
            <a:off x="6858000" y="3364992"/>
            <a:ext cx="429768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150 validated image-caption pairs</a:t>
            </a:r>
            <a:endParaRPr lang="en-US" sz="1300" dirty="0"/>
          </a:p>
        </p:txBody>
      </p:sp>
      <p:sp>
        <p:nvSpPr>
          <p:cNvPr id="30" name="Shape 28"/>
          <p:cNvSpPr/>
          <p:nvPr/>
        </p:nvSpPr>
        <p:spPr>
          <a:xfrm>
            <a:off x="8979408" y="3849624"/>
            <a:ext cx="0" cy="164592"/>
          </a:xfrm>
          <a:prstGeom prst="line">
            <a:avLst/>
          </a:prstGeom>
          <a:noFill/>
          <a:ln w="19050">
            <a:solidFill>
              <a:srgbClr val="2E6B4F"/>
            </a:solidFill>
            <a:prstDash val="solid"/>
            <a:tailEnd type="triangle"/>
          </a:ln>
        </p:spPr>
      </p:sp>
      <p:sp>
        <p:nvSpPr>
          <p:cNvPr id="31" name="Shape 29"/>
          <p:cNvSpPr/>
          <p:nvPr/>
        </p:nvSpPr>
        <p:spPr>
          <a:xfrm>
            <a:off x="6675120" y="4023360"/>
            <a:ext cx="4617720" cy="475488"/>
          </a:xfrm>
          <a:prstGeom prst="roundRect">
            <a:avLst>
              <a:gd name="adj" fmla="val 11538"/>
            </a:avLst>
          </a:prstGeom>
          <a:solidFill>
            <a:srgbClr val="1D4536"/>
          </a:solidFill>
          <a:ln/>
        </p:spPr>
      </p:sp>
      <p:sp>
        <p:nvSpPr>
          <p:cNvPr id="32" name="Text 30"/>
          <p:cNvSpPr/>
          <p:nvPr/>
        </p:nvSpPr>
        <p:spPr>
          <a:xfrm>
            <a:off x="6858000" y="4023360"/>
            <a:ext cx="429768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Flashcard learning</a:t>
            </a:r>
            <a:endParaRPr lang="en-US" sz="1300" dirty="0"/>
          </a:p>
        </p:txBody>
      </p:sp>
      <p:sp>
        <p:nvSpPr>
          <p:cNvPr id="33" name="Shape 31"/>
          <p:cNvSpPr/>
          <p:nvPr/>
        </p:nvSpPr>
        <p:spPr>
          <a:xfrm>
            <a:off x="8979408" y="4507992"/>
            <a:ext cx="0" cy="164592"/>
          </a:xfrm>
          <a:prstGeom prst="line">
            <a:avLst/>
          </a:prstGeom>
          <a:noFill/>
          <a:ln w="19050">
            <a:solidFill>
              <a:srgbClr val="2E6B4F"/>
            </a:solidFill>
            <a:prstDash val="solid"/>
            <a:tailEnd type="triangle"/>
          </a:ln>
        </p:spPr>
      </p:sp>
      <p:sp>
        <p:nvSpPr>
          <p:cNvPr id="34" name="Shape 32"/>
          <p:cNvSpPr/>
          <p:nvPr/>
        </p:nvSpPr>
        <p:spPr>
          <a:xfrm>
            <a:off x="6675120" y="4681728"/>
            <a:ext cx="4617720" cy="475488"/>
          </a:xfrm>
          <a:prstGeom prst="roundRect">
            <a:avLst>
              <a:gd name="adj" fmla="val 11538"/>
            </a:avLst>
          </a:prstGeom>
          <a:solidFill>
            <a:srgbClr val="1D4536"/>
          </a:solidFill>
          <a:ln/>
        </p:spPr>
      </p:sp>
      <p:sp>
        <p:nvSpPr>
          <p:cNvPr id="35" name="Text 33"/>
          <p:cNvSpPr/>
          <p:nvPr/>
        </p:nvSpPr>
        <p:spPr>
          <a:xfrm>
            <a:off x="6858000" y="4681728"/>
            <a:ext cx="429768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LoRA fine-tuning → inference → evaluation</a:t>
            </a:r>
            <a:endParaRPr lang="en-US" sz="1300" dirty="0"/>
          </a:p>
        </p:txBody>
      </p:sp>
      <p:sp>
        <p:nvSpPr>
          <p:cNvPr id="36" name="Text 34"/>
          <p:cNvSpPr/>
          <p:nvPr/>
        </p:nvSpPr>
        <p:spPr>
          <a:xfrm>
            <a:off x="548640" y="5806440"/>
            <a:ext cx="11064240" cy="320040"/>
          </a:xfrm>
          <a:prstGeom prst="rect">
            <a:avLst/>
          </a:prstGeom>
          <a:noFill/>
          <a:ln/>
        </p:spPr>
        <p:txBody>
          <a:bodyPr wrap="square" lIns="0" tIns="0" rIns="0" bIns="0" rtlCol="0" anchor="ctr"/>
          <a:lstStyle/>
          <a:p>
            <a:pPr indent="0" marL="0">
              <a:buNone/>
            </a:pPr>
            <a:r>
              <a:rPr lang="en-US" sz="1400" b="1" dirty="0">
                <a:solidFill>
                  <a:srgbClr val="14342A"/>
                </a:solidFill>
                <a:latin typeface="Calibri" pitchFamily="34" charset="0"/>
                <a:ea typeface="Calibri" pitchFamily="34" charset="-122"/>
                <a:cs typeface="Calibri" pitchFamily="34" charset="-120"/>
              </a:rPr>
              <a:t>The validated captions are now our only supervision data.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Flashcard learning</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One leaf, five correct answers — a real example from our dataset</a:t>
            </a:r>
            <a:endParaRPr lang="en-US" sz="1400" dirty="0"/>
          </a:p>
        </p:txBody>
      </p:sp>
      <p:pic>
        <p:nvPicPr>
          <p:cNvPr id="4" name="Image 0" descr="C:\Users\Admin\Desktop\VLM\newpipe\1stJuly\Dataset\early_blight\4.JPG">    </p:cNvPr>
          <p:cNvPicPr>
            <a:picLocks noChangeAspect="1"/>
          </p:cNvPicPr>
          <p:nvPr/>
        </p:nvPicPr>
        <p:blipFill>
          <a:blip r:embed="rId1"/>
          <a:stretch>
            <a:fillRect/>
          </a:stretch>
        </p:blipFill>
        <p:spPr>
          <a:xfrm>
            <a:off x="548640" y="1600200"/>
            <a:ext cx="3017520" cy="3017520"/>
          </a:xfrm>
          <a:prstGeom prst="rect">
            <a:avLst/>
          </a:prstGeom>
        </p:spPr>
      </p:pic>
      <p:sp>
        <p:nvSpPr>
          <p:cNvPr id="5" name="Text 2"/>
          <p:cNvSpPr/>
          <p:nvPr/>
        </p:nvSpPr>
        <p:spPr>
          <a:xfrm>
            <a:off x="548640" y="4681728"/>
            <a:ext cx="3017520" cy="274320"/>
          </a:xfrm>
          <a:prstGeom prst="rect">
            <a:avLst/>
          </a:prstGeom>
          <a:noFill/>
          <a:ln/>
        </p:spPr>
        <p:txBody>
          <a:bodyPr wrap="square" lIns="0" tIns="0" rIns="0" bIns="0" rtlCol="0" anchor="ctr"/>
          <a:lstStyle/>
          <a:p>
            <a:pPr algn="ctr" indent="0" marL="0">
              <a:buNone/>
            </a:pPr>
            <a:r>
              <a:rPr lang="en-US" sz="1100" dirty="0">
                <a:solidFill>
                  <a:srgbClr val="5C6B62"/>
                </a:solidFill>
                <a:latin typeface="Calibri" pitchFamily="34" charset="0"/>
                <a:ea typeface="Calibri" pitchFamily="34" charset="-122"/>
                <a:cs typeface="Calibri" pitchFamily="34" charset="-120"/>
              </a:rPr>
              <a:t>Tomato · Early Blight · image 4</a:t>
            </a:r>
            <a:endParaRPr lang="en-US" sz="1100" dirty="0"/>
          </a:p>
        </p:txBody>
      </p:sp>
      <p:sp>
        <p:nvSpPr>
          <p:cNvPr id="6" name="Shape 3"/>
          <p:cNvSpPr/>
          <p:nvPr/>
        </p:nvSpPr>
        <p:spPr>
          <a:xfrm>
            <a:off x="3977640" y="1600200"/>
            <a:ext cx="7635240" cy="548640"/>
          </a:xfrm>
          <a:prstGeom prst="roundRect">
            <a:avLst>
              <a:gd name="adj" fmla="val 13333"/>
            </a:avLst>
          </a:prstGeom>
          <a:solidFill>
            <a:srgbClr val="FFFFFF"/>
          </a:solidFill>
          <a:ln w="9525">
            <a:solidFill>
              <a:srgbClr val="C9DAD0"/>
            </a:solidFill>
            <a:prstDash val="solid"/>
          </a:ln>
        </p:spPr>
      </p:sp>
      <p:sp>
        <p:nvSpPr>
          <p:cNvPr id="7" name="Shape 4"/>
          <p:cNvSpPr/>
          <p:nvPr/>
        </p:nvSpPr>
        <p:spPr>
          <a:xfrm>
            <a:off x="4160520" y="1728216"/>
            <a:ext cx="292608" cy="292608"/>
          </a:xfrm>
          <a:prstGeom prst="ellipse">
            <a:avLst/>
          </a:prstGeom>
          <a:solidFill>
            <a:srgbClr val="2E6B4F"/>
          </a:solidFill>
          <a:ln/>
        </p:spPr>
      </p:sp>
      <p:sp>
        <p:nvSpPr>
          <p:cNvPr id="8" name="Text 5"/>
          <p:cNvSpPr/>
          <p:nvPr/>
        </p:nvSpPr>
        <p:spPr>
          <a:xfrm>
            <a:off x="4160520" y="17282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4590288" y="1600200"/>
            <a:ext cx="6858000" cy="548640"/>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Two prominent brown patches stand out against the dark green background…</a:t>
            </a:r>
            <a:endParaRPr lang="en-US" sz="1150" dirty="0"/>
          </a:p>
        </p:txBody>
      </p:sp>
      <p:sp>
        <p:nvSpPr>
          <p:cNvPr id="10" name="Shape 7"/>
          <p:cNvSpPr/>
          <p:nvPr/>
        </p:nvSpPr>
        <p:spPr>
          <a:xfrm>
            <a:off x="3639312" y="1874520"/>
            <a:ext cx="274320" cy="0"/>
          </a:xfrm>
          <a:prstGeom prst="line">
            <a:avLst/>
          </a:prstGeom>
          <a:noFill/>
          <a:ln w="19050">
            <a:solidFill>
              <a:srgbClr val="2E6B4F"/>
            </a:solidFill>
            <a:prstDash val="solid"/>
            <a:tailEnd type="triangle"/>
          </a:ln>
        </p:spPr>
      </p:sp>
      <p:sp>
        <p:nvSpPr>
          <p:cNvPr id="11" name="Shape 8"/>
          <p:cNvSpPr/>
          <p:nvPr/>
        </p:nvSpPr>
        <p:spPr>
          <a:xfrm>
            <a:off x="3977640" y="2258568"/>
            <a:ext cx="7635240" cy="548640"/>
          </a:xfrm>
          <a:prstGeom prst="roundRect">
            <a:avLst>
              <a:gd name="adj" fmla="val 13333"/>
            </a:avLst>
          </a:prstGeom>
          <a:solidFill>
            <a:srgbClr val="FFFFFF"/>
          </a:solidFill>
          <a:ln w="9525">
            <a:solidFill>
              <a:srgbClr val="C9DAD0"/>
            </a:solidFill>
            <a:prstDash val="solid"/>
          </a:ln>
        </p:spPr>
      </p:sp>
      <p:sp>
        <p:nvSpPr>
          <p:cNvPr id="12" name="Shape 9"/>
          <p:cNvSpPr/>
          <p:nvPr/>
        </p:nvSpPr>
        <p:spPr>
          <a:xfrm>
            <a:off x="4160520" y="2386584"/>
            <a:ext cx="292608" cy="292608"/>
          </a:xfrm>
          <a:prstGeom prst="ellipse">
            <a:avLst/>
          </a:prstGeom>
          <a:solidFill>
            <a:srgbClr val="2E6B4F"/>
          </a:solidFill>
          <a:ln/>
        </p:spPr>
      </p:sp>
      <p:sp>
        <p:nvSpPr>
          <p:cNvPr id="13" name="Text 10"/>
          <p:cNvSpPr/>
          <p:nvPr/>
        </p:nvSpPr>
        <p:spPr>
          <a:xfrm>
            <a:off x="4160520" y="23865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4590288" y="2258568"/>
            <a:ext cx="6858000" cy="548640"/>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The leaf surface contains a mix of green tissue and several darker damaged regions…</a:t>
            </a:r>
            <a:endParaRPr lang="en-US" sz="1150" dirty="0"/>
          </a:p>
        </p:txBody>
      </p:sp>
      <p:sp>
        <p:nvSpPr>
          <p:cNvPr id="15" name="Shape 12"/>
          <p:cNvSpPr/>
          <p:nvPr/>
        </p:nvSpPr>
        <p:spPr>
          <a:xfrm>
            <a:off x="3639312" y="2532888"/>
            <a:ext cx="274320" cy="0"/>
          </a:xfrm>
          <a:prstGeom prst="line">
            <a:avLst/>
          </a:prstGeom>
          <a:noFill/>
          <a:ln w="19050">
            <a:solidFill>
              <a:srgbClr val="2E6B4F"/>
            </a:solidFill>
            <a:prstDash val="solid"/>
            <a:tailEnd type="triangle"/>
          </a:ln>
        </p:spPr>
      </p:sp>
      <p:sp>
        <p:nvSpPr>
          <p:cNvPr id="16" name="Shape 13"/>
          <p:cNvSpPr/>
          <p:nvPr/>
        </p:nvSpPr>
        <p:spPr>
          <a:xfrm>
            <a:off x="3977640" y="2916936"/>
            <a:ext cx="7635240" cy="548640"/>
          </a:xfrm>
          <a:prstGeom prst="roundRect">
            <a:avLst>
              <a:gd name="adj" fmla="val 13333"/>
            </a:avLst>
          </a:prstGeom>
          <a:solidFill>
            <a:srgbClr val="FFFFFF"/>
          </a:solidFill>
          <a:ln w="9525">
            <a:solidFill>
              <a:srgbClr val="C9DAD0"/>
            </a:solidFill>
            <a:prstDash val="solid"/>
          </a:ln>
        </p:spPr>
      </p:sp>
      <p:sp>
        <p:nvSpPr>
          <p:cNvPr id="17" name="Shape 14"/>
          <p:cNvSpPr/>
          <p:nvPr/>
        </p:nvSpPr>
        <p:spPr>
          <a:xfrm>
            <a:off x="4160520" y="3044952"/>
            <a:ext cx="292608" cy="292608"/>
          </a:xfrm>
          <a:prstGeom prst="ellipse">
            <a:avLst/>
          </a:prstGeom>
          <a:solidFill>
            <a:srgbClr val="2E6B4F"/>
          </a:solidFill>
          <a:ln/>
        </p:spPr>
      </p:sp>
      <p:sp>
        <p:nvSpPr>
          <p:cNvPr id="18" name="Text 15"/>
          <p:cNvSpPr/>
          <p:nvPr/>
        </p:nvSpPr>
        <p:spPr>
          <a:xfrm>
            <a:off x="4160520" y="30449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4590288" y="2916936"/>
            <a:ext cx="6858000" cy="548640"/>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The discoloration is distributed across separate locations rather than one continuous area…</a:t>
            </a:r>
            <a:endParaRPr lang="en-US" sz="1150" dirty="0"/>
          </a:p>
        </p:txBody>
      </p:sp>
      <p:sp>
        <p:nvSpPr>
          <p:cNvPr id="20" name="Shape 17"/>
          <p:cNvSpPr/>
          <p:nvPr/>
        </p:nvSpPr>
        <p:spPr>
          <a:xfrm>
            <a:off x="3639312" y="3191256"/>
            <a:ext cx="274320" cy="0"/>
          </a:xfrm>
          <a:prstGeom prst="line">
            <a:avLst/>
          </a:prstGeom>
          <a:noFill/>
          <a:ln w="19050">
            <a:solidFill>
              <a:srgbClr val="2E6B4F"/>
            </a:solidFill>
            <a:prstDash val="solid"/>
            <a:tailEnd type="triangle"/>
          </a:ln>
        </p:spPr>
      </p:sp>
      <p:sp>
        <p:nvSpPr>
          <p:cNvPr id="21" name="Shape 18"/>
          <p:cNvSpPr/>
          <p:nvPr/>
        </p:nvSpPr>
        <p:spPr>
          <a:xfrm>
            <a:off x="3977640" y="3575304"/>
            <a:ext cx="7635240" cy="548640"/>
          </a:xfrm>
          <a:prstGeom prst="roundRect">
            <a:avLst>
              <a:gd name="adj" fmla="val 13333"/>
            </a:avLst>
          </a:prstGeom>
          <a:solidFill>
            <a:srgbClr val="FFFFFF"/>
          </a:solidFill>
          <a:ln w="9525">
            <a:solidFill>
              <a:srgbClr val="C9DAD0"/>
            </a:solidFill>
            <a:prstDash val="solid"/>
          </a:ln>
        </p:spPr>
      </p:sp>
      <p:sp>
        <p:nvSpPr>
          <p:cNvPr id="22" name="Shape 19"/>
          <p:cNvSpPr/>
          <p:nvPr/>
        </p:nvSpPr>
        <p:spPr>
          <a:xfrm>
            <a:off x="4160520" y="3703320"/>
            <a:ext cx="292608" cy="292608"/>
          </a:xfrm>
          <a:prstGeom prst="ellipse">
            <a:avLst/>
          </a:prstGeom>
          <a:solidFill>
            <a:srgbClr val="2E6B4F"/>
          </a:solidFill>
          <a:ln/>
        </p:spPr>
      </p:sp>
      <p:sp>
        <p:nvSpPr>
          <p:cNvPr id="23" name="Text 20"/>
          <p:cNvSpPr/>
          <p:nvPr/>
        </p:nvSpPr>
        <p:spPr>
          <a:xfrm>
            <a:off x="4160520" y="37033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p:nvPr/>
        </p:nvSpPr>
        <p:spPr>
          <a:xfrm>
            <a:off x="4590288" y="3575304"/>
            <a:ext cx="6858000" cy="548640"/>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Dark green leaf with multiple isolated lesions. Largest mark located on the right side…</a:t>
            </a:r>
            <a:endParaRPr lang="en-US" sz="1150" dirty="0"/>
          </a:p>
        </p:txBody>
      </p:sp>
      <p:sp>
        <p:nvSpPr>
          <p:cNvPr id="25" name="Shape 22"/>
          <p:cNvSpPr/>
          <p:nvPr/>
        </p:nvSpPr>
        <p:spPr>
          <a:xfrm>
            <a:off x="3639312" y="3849624"/>
            <a:ext cx="274320" cy="0"/>
          </a:xfrm>
          <a:prstGeom prst="line">
            <a:avLst/>
          </a:prstGeom>
          <a:noFill/>
          <a:ln w="19050">
            <a:solidFill>
              <a:srgbClr val="2E6B4F"/>
            </a:solidFill>
            <a:prstDash val="solid"/>
            <a:tailEnd type="triangle"/>
          </a:ln>
        </p:spPr>
      </p:sp>
      <p:sp>
        <p:nvSpPr>
          <p:cNvPr id="26" name="Shape 23"/>
          <p:cNvSpPr/>
          <p:nvPr/>
        </p:nvSpPr>
        <p:spPr>
          <a:xfrm>
            <a:off x="3977640" y="4233672"/>
            <a:ext cx="7635240" cy="548640"/>
          </a:xfrm>
          <a:prstGeom prst="roundRect">
            <a:avLst>
              <a:gd name="adj" fmla="val 13333"/>
            </a:avLst>
          </a:prstGeom>
          <a:solidFill>
            <a:srgbClr val="FFFFFF"/>
          </a:solidFill>
          <a:ln w="9525">
            <a:solidFill>
              <a:srgbClr val="C9DAD0"/>
            </a:solidFill>
            <a:prstDash val="solid"/>
          </a:ln>
        </p:spPr>
      </p:sp>
      <p:sp>
        <p:nvSpPr>
          <p:cNvPr id="27" name="Shape 24"/>
          <p:cNvSpPr/>
          <p:nvPr/>
        </p:nvSpPr>
        <p:spPr>
          <a:xfrm>
            <a:off x="4160520" y="4361688"/>
            <a:ext cx="292608" cy="292608"/>
          </a:xfrm>
          <a:prstGeom prst="ellipse">
            <a:avLst/>
          </a:prstGeom>
          <a:solidFill>
            <a:srgbClr val="2E6B4F"/>
          </a:solidFill>
          <a:ln/>
        </p:spPr>
      </p:sp>
      <p:sp>
        <p:nvSpPr>
          <p:cNvPr id="28" name="Text 25"/>
          <p:cNvSpPr/>
          <p:nvPr/>
        </p:nvSpPr>
        <p:spPr>
          <a:xfrm>
            <a:off x="4160520" y="43616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6"/>
          <p:cNvSpPr/>
          <p:nvPr/>
        </p:nvSpPr>
        <p:spPr>
          <a:xfrm>
            <a:off x="4590288" y="4233672"/>
            <a:ext cx="6858000" cy="548640"/>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Several damaged sections interrupt an otherwise dark green leaf surface…</a:t>
            </a:r>
            <a:endParaRPr lang="en-US" sz="1150" dirty="0"/>
          </a:p>
        </p:txBody>
      </p:sp>
      <p:sp>
        <p:nvSpPr>
          <p:cNvPr id="30" name="Shape 27"/>
          <p:cNvSpPr/>
          <p:nvPr/>
        </p:nvSpPr>
        <p:spPr>
          <a:xfrm>
            <a:off x="3639312" y="4507992"/>
            <a:ext cx="274320" cy="0"/>
          </a:xfrm>
          <a:prstGeom prst="line">
            <a:avLst/>
          </a:prstGeom>
          <a:noFill/>
          <a:ln w="19050">
            <a:solidFill>
              <a:srgbClr val="2E6B4F"/>
            </a:solidFill>
            <a:prstDash val="solid"/>
            <a:tailEnd type="triangle"/>
          </a:ln>
        </p:spPr>
      </p:sp>
      <p:sp>
        <p:nvSpPr>
          <p:cNvPr id="31" name="Shape 28"/>
          <p:cNvSpPr/>
          <p:nvPr/>
        </p:nvSpPr>
        <p:spPr>
          <a:xfrm>
            <a:off x="548640" y="5074920"/>
            <a:ext cx="11064240" cy="777240"/>
          </a:xfrm>
          <a:prstGeom prst="roundRect">
            <a:avLst>
              <a:gd name="adj" fmla="val 9412"/>
            </a:avLst>
          </a:prstGeom>
          <a:solidFill>
            <a:srgbClr val="14342A"/>
          </a:solidFill>
          <a:ln/>
        </p:spPr>
      </p:sp>
      <p:sp>
        <p:nvSpPr>
          <p:cNvPr id="32" name="Text 29"/>
          <p:cNvSpPr/>
          <p:nvPr/>
        </p:nvSpPr>
        <p:spPr>
          <a:xfrm>
            <a:off x="868680" y="5074920"/>
            <a:ext cx="104241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Five different sentences, all true. The model cannot memorise one — so it learns the leaf.</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Fine-tuning without retraining</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We add to the model instead of rewriting it</a:t>
            </a:r>
            <a:endParaRPr lang="en-US" sz="1400" dirty="0"/>
          </a:p>
        </p:txBody>
      </p:sp>
      <p:sp>
        <p:nvSpPr>
          <p:cNvPr id="4" name="Shape 2"/>
          <p:cNvSpPr/>
          <p:nvPr/>
        </p:nvSpPr>
        <p:spPr>
          <a:xfrm>
            <a:off x="548640" y="1600200"/>
            <a:ext cx="5669280" cy="3200400"/>
          </a:xfrm>
          <a:prstGeom prst="roundRect">
            <a:avLst>
              <a:gd name="adj" fmla="val 2286"/>
            </a:avLst>
          </a:prstGeom>
          <a:solidFill>
            <a:srgbClr val="14342A"/>
          </a:solidFill>
          <a:ln/>
        </p:spPr>
      </p:sp>
      <p:sp>
        <p:nvSpPr>
          <p:cNvPr id="5" name="Text 3"/>
          <p:cNvSpPr/>
          <p:nvPr/>
        </p:nvSpPr>
        <p:spPr>
          <a:xfrm>
            <a:off x="868680" y="1783080"/>
            <a:ext cx="502920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Qwen2.5-VL  ·  frozen</a:t>
            </a:r>
            <a:endParaRPr lang="en-US" sz="1800" dirty="0"/>
          </a:p>
        </p:txBody>
      </p:sp>
      <p:sp>
        <p:nvSpPr>
          <p:cNvPr id="6" name="Text 4"/>
          <p:cNvSpPr/>
          <p:nvPr/>
        </p:nvSpPr>
        <p:spPr>
          <a:xfrm>
            <a:off x="868680" y="2212848"/>
            <a:ext cx="5029200" cy="777240"/>
          </a:xfrm>
          <a:prstGeom prst="rect">
            <a:avLst/>
          </a:prstGeom>
          <a:noFill/>
          <a:ln/>
        </p:spPr>
        <p:txBody>
          <a:bodyPr wrap="square" lIns="0" tIns="0" rIns="0" bIns="0" rtlCol="0" anchor="ctr"/>
          <a:lstStyle/>
          <a:p>
            <a:pPr indent="0" marL="0">
              <a:buNone/>
            </a:pPr>
            <a:r>
              <a:rPr lang="en-US" sz="1250" dirty="0">
                <a:solidFill>
                  <a:srgbClr val="A9C6B5"/>
                </a:solidFill>
                <a:latin typeface="Calibri" pitchFamily="34" charset="0"/>
                <a:ea typeface="Calibri" pitchFamily="34" charset="-122"/>
                <a:cs typeface="Calibri" pitchFamily="34" charset="-120"/>
              </a:rPr>
              <a:t>Everything it already knows — what a leaf is, what “brown” means, how to build a sentence. We change none of it.</a:t>
            </a:r>
            <a:endParaRPr lang="en-US" sz="1250" dirty="0"/>
          </a:p>
        </p:txBody>
      </p:sp>
      <p:sp>
        <p:nvSpPr>
          <p:cNvPr id="7" name="Shape 5"/>
          <p:cNvSpPr/>
          <p:nvPr/>
        </p:nvSpPr>
        <p:spPr>
          <a:xfrm>
            <a:off x="1143000" y="3246120"/>
            <a:ext cx="1371600" cy="1051560"/>
          </a:xfrm>
          <a:prstGeom prst="roundRect">
            <a:avLst>
              <a:gd name="adj" fmla="val 5217"/>
            </a:avLst>
          </a:prstGeom>
          <a:solidFill>
            <a:srgbClr val="EDF3EF"/>
          </a:solidFill>
          <a:ln/>
        </p:spPr>
      </p:sp>
      <p:sp>
        <p:nvSpPr>
          <p:cNvPr id="8" name="Text 6"/>
          <p:cNvSpPr/>
          <p:nvPr/>
        </p:nvSpPr>
        <p:spPr>
          <a:xfrm>
            <a:off x="1143000" y="3246120"/>
            <a:ext cx="1371600" cy="1051560"/>
          </a:xfrm>
          <a:prstGeom prst="rect">
            <a:avLst/>
          </a:prstGeom>
          <a:noFill/>
          <a:ln/>
        </p:spPr>
        <p:txBody>
          <a:bodyPr wrap="square" lIns="0" tIns="0" rIns="0" bIns="0" rtlCol="0" anchor="ctr"/>
          <a:lstStyle/>
          <a:p>
            <a:pPr algn="ctr" indent="0" marL="0">
              <a:buNone/>
            </a:pPr>
            <a:r>
              <a:rPr lang="en-US" sz="1200" b="1" dirty="0">
                <a:solidFill>
                  <a:srgbClr val="14342A"/>
                </a:solidFill>
                <a:latin typeface="Calibri" pitchFamily="34" charset="0"/>
                <a:ea typeface="Calibri" pitchFamily="34" charset="-122"/>
                <a:cs typeface="Calibri" pitchFamily="34" charset="-120"/>
              </a:rPr>
              <a:t>LoRA</a:t>
            </a:r>
            <a:endParaRPr lang="en-US" sz="1200" dirty="0"/>
          </a:p>
          <a:p>
            <a:pPr algn="ctr" indent="0" marL="0">
              <a:buNone/>
            </a:pPr>
            <a:r>
              <a:rPr lang="en-US" sz="1200" b="1" dirty="0">
                <a:solidFill>
                  <a:srgbClr val="14342A"/>
                </a:solidFill>
                <a:latin typeface="Calibri" pitchFamily="34" charset="0"/>
                <a:ea typeface="Calibri" pitchFamily="34" charset="-122"/>
                <a:cs typeface="Calibri" pitchFamily="34" charset="-120"/>
              </a:rPr>
              <a:t>adapter</a:t>
            </a:r>
            <a:endParaRPr lang="en-US" sz="1200" dirty="0"/>
          </a:p>
        </p:txBody>
      </p:sp>
      <p:sp>
        <p:nvSpPr>
          <p:cNvPr id="9" name="Shape 7"/>
          <p:cNvSpPr/>
          <p:nvPr/>
        </p:nvSpPr>
        <p:spPr>
          <a:xfrm>
            <a:off x="2834640" y="3246120"/>
            <a:ext cx="1371600" cy="1051560"/>
          </a:xfrm>
          <a:prstGeom prst="roundRect">
            <a:avLst>
              <a:gd name="adj" fmla="val 5217"/>
            </a:avLst>
          </a:prstGeom>
          <a:solidFill>
            <a:srgbClr val="EDF3EF"/>
          </a:solidFill>
          <a:ln/>
        </p:spPr>
      </p:sp>
      <p:sp>
        <p:nvSpPr>
          <p:cNvPr id="10" name="Text 8"/>
          <p:cNvSpPr/>
          <p:nvPr/>
        </p:nvSpPr>
        <p:spPr>
          <a:xfrm>
            <a:off x="2834640" y="3246120"/>
            <a:ext cx="1371600" cy="1051560"/>
          </a:xfrm>
          <a:prstGeom prst="rect">
            <a:avLst/>
          </a:prstGeom>
          <a:noFill/>
          <a:ln/>
        </p:spPr>
        <p:txBody>
          <a:bodyPr wrap="square" lIns="0" tIns="0" rIns="0" bIns="0" rtlCol="0" anchor="ctr"/>
          <a:lstStyle/>
          <a:p>
            <a:pPr algn="ctr" indent="0" marL="0">
              <a:buNone/>
            </a:pPr>
            <a:r>
              <a:rPr lang="en-US" sz="1200" b="1" dirty="0">
                <a:solidFill>
                  <a:srgbClr val="14342A"/>
                </a:solidFill>
                <a:latin typeface="Calibri" pitchFamily="34" charset="0"/>
                <a:ea typeface="Calibri" pitchFamily="34" charset="-122"/>
                <a:cs typeface="Calibri" pitchFamily="34" charset="-120"/>
              </a:rPr>
              <a:t>LoRA</a:t>
            </a:r>
            <a:endParaRPr lang="en-US" sz="1200" dirty="0"/>
          </a:p>
          <a:p>
            <a:pPr algn="ctr" indent="0" marL="0">
              <a:buNone/>
            </a:pPr>
            <a:r>
              <a:rPr lang="en-US" sz="1200" b="1" dirty="0">
                <a:solidFill>
                  <a:srgbClr val="14342A"/>
                </a:solidFill>
                <a:latin typeface="Calibri" pitchFamily="34" charset="0"/>
                <a:ea typeface="Calibri" pitchFamily="34" charset="-122"/>
                <a:cs typeface="Calibri" pitchFamily="34" charset="-120"/>
              </a:rPr>
              <a:t>adapter</a:t>
            </a:r>
            <a:endParaRPr lang="en-US" sz="1200" dirty="0"/>
          </a:p>
        </p:txBody>
      </p:sp>
      <p:sp>
        <p:nvSpPr>
          <p:cNvPr id="11" name="Shape 9"/>
          <p:cNvSpPr/>
          <p:nvPr/>
        </p:nvSpPr>
        <p:spPr>
          <a:xfrm>
            <a:off x="4526280" y="3246120"/>
            <a:ext cx="1371600" cy="1051560"/>
          </a:xfrm>
          <a:prstGeom prst="roundRect">
            <a:avLst>
              <a:gd name="adj" fmla="val 5217"/>
            </a:avLst>
          </a:prstGeom>
          <a:solidFill>
            <a:srgbClr val="EDF3EF"/>
          </a:solidFill>
          <a:ln/>
        </p:spPr>
      </p:sp>
      <p:sp>
        <p:nvSpPr>
          <p:cNvPr id="12" name="Text 10"/>
          <p:cNvSpPr/>
          <p:nvPr/>
        </p:nvSpPr>
        <p:spPr>
          <a:xfrm>
            <a:off x="4526280" y="3246120"/>
            <a:ext cx="1371600" cy="1051560"/>
          </a:xfrm>
          <a:prstGeom prst="rect">
            <a:avLst/>
          </a:prstGeom>
          <a:noFill/>
          <a:ln/>
        </p:spPr>
        <p:txBody>
          <a:bodyPr wrap="square" lIns="0" tIns="0" rIns="0" bIns="0" rtlCol="0" anchor="ctr"/>
          <a:lstStyle/>
          <a:p>
            <a:pPr algn="ctr" indent="0" marL="0">
              <a:buNone/>
            </a:pPr>
            <a:r>
              <a:rPr lang="en-US" sz="1200" b="1" dirty="0">
                <a:solidFill>
                  <a:srgbClr val="14342A"/>
                </a:solidFill>
                <a:latin typeface="Calibri" pitchFamily="34" charset="0"/>
                <a:ea typeface="Calibri" pitchFamily="34" charset="-122"/>
                <a:cs typeface="Calibri" pitchFamily="34" charset="-120"/>
              </a:rPr>
              <a:t>LoRA</a:t>
            </a:r>
            <a:endParaRPr lang="en-US" sz="1200" dirty="0"/>
          </a:p>
          <a:p>
            <a:pPr algn="ctr" indent="0" marL="0">
              <a:buNone/>
            </a:pPr>
            <a:r>
              <a:rPr lang="en-US" sz="1200" b="1" dirty="0">
                <a:solidFill>
                  <a:srgbClr val="14342A"/>
                </a:solidFill>
                <a:latin typeface="Calibri" pitchFamily="34" charset="0"/>
                <a:ea typeface="Calibri" pitchFamily="34" charset="-122"/>
                <a:cs typeface="Calibri" pitchFamily="34" charset="-120"/>
              </a:rPr>
              <a:t>adapter</a:t>
            </a:r>
            <a:endParaRPr lang="en-US" sz="1200" dirty="0"/>
          </a:p>
        </p:txBody>
      </p:sp>
      <p:sp>
        <p:nvSpPr>
          <p:cNvPr id="13" name="Text 11"/>
          <p:cNvSpPr/>
          <p:nvPr/>
        </p:nvSpPr>
        <p:spPr>
          <a:xfrm>
            <a:off x="868680" y="4407408"/>
            <a:ext cx="5029200" cy="274320"/>
          </a:xfrm>
          <a:prstGeom prst="rect">
            <a:avLst/>
          </a:prstGeom>
          <a:noFill/>
          <a:ln/>
        </p:spPr>
        <p:txBody>
          <a:bodyPr wrap="square" lIns="0" tIns="0" rIns="0" bIns="0" rtlCol="0" anchor="ctr"/>
          <a:lstStyle/>
          <a:p>
            <a:pPr algn="ctr" indent="0" marL="0">
              <a:buNone/>
            </a:pPr>
            <a:r>
              <a:rPr lang="en-US" sz="1100" i="1" dirty="0">
                <a:solidFill>
                  <a:srgbClr val="8FB3A0"/>
                </a:solidFill>
                <a:latin typeface="Calibri" pitchFamily="34" charset="0"/>
                <a:ea typeface="Calibri" pitchFamily="34" charset="-122"/>
                <a:cs typeface="Calibri" pitchFamily="34" charset="-120"/>
              </a:rPr>
              <a:t>small new weights, slotted in</a:t>
            </a:r>
            <a:endParaRPr lang="en-US" sz="1100" dirty="0"/>
          </a:p>
        </p:txBody>
      </p:sp>
      <p:sp>
        <p:nvSpPr>
          <p:cNvPr id="14" name="Shape 12"/>
          <p:cNvSpPr/>
          <p:nvPr/>
        </p:nvSpPr>
        <p:spPr>
          <a:xfrm>
            <a:off x="6537960" y="1600200"/>
            <a:ext cx="5074920" cy="694944"/>
          </a:xfrm>
          <a:prstGeom prst="roundRect">
            <a:avLst>
              <a:gd name="adj" fmla="val 10526"/>
            </a:avLst>
          </a:prstGeom>
          <a:solidFill>
            <a:srgbClr val="FFFFFF"/>
          </a:solidFill>
          <a:ln w="9525">
            <a:solidFill>
              <a:srgbClr val="C9DAD0"/>
            </a:solidFill>
            <a:prstDash val="solid"/>
          </a:ln>
        </p:spPr>
      </p:sp>
      <p:sp>
        <p:nvSpPr>
          <p:cNvPr id="15" name="Text 13"/>
          <p:cNvSpPr/>
          <p:nvPr/>
        </p:nvSpPr>
        <p:spPr>
          <a:xfrm>
            <a:off x="6812280" y="1600200"/>
            <a:ext cx="2103120" cy="694944"/>
          </a:xfrm>
          <a:prstGeom prst="rect">
            <a:avLst/>
          </a:prstGeom>
          <a:noFill/>
          <a:ln/>
        </p:spPr>
        <p:txBody>
          <a:bodyPr wrap="square" lIns="0" tIns="0" rIns="0" bIns="0" rtlCol="0" anchor="ctr"/>
          <a:lstStyle/>
          <a:p>
            <a:pPr indent="0" marL="0">
              <a:buNone/>
            </a:pPr>
            <a:r>
              <a:rPr lang="en-US" sz="2000" b="1" dirty="0">
                <a:solidFill>
                  <a:srgbClr val="2E6B4F"/>
                </a:solidFill>
                <a:latin typeface="Cambria" pitchFamily="34" charset="0"/>
                <a:ea typeface="Cambria" pitchFamily="34" charset="-122"/>
                <a:cs typeface="Cambria" pitchFamily="34" charset="-120"/>
              </a:rPr>
              <a:t>0.484%</a:t>
            </a:r>
            <a:endParaRPr lang="en-US" sz="2000" dirty="0"/>
          </a:p>
        </p:txBody>
      </p:sp>
      <p:sp>
        <p:nvSpPr>
          <p:cNvPr id="16" name="Text 14"/>
          <p:cNvSpPr/>
          <p:nvPr/>
        </p:nvSpPr>
        <p:spPr>
          <a:xfrm>
            <a:off x="8915400" y="1600200"/>
            <a:ext cx="2514600" cy="694944"/>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of the model's weights are trained</a:t>
            </a:r>
            <a:endParaRPr lang="en-US" sz="1150" dirty="0"/>
          </a:p>
        </p:txBody>
      </p:sp>
      <p:sp>
        <p:nvSpPr>
          <p:cNvPr id="17" name="Shape 15"/>
          <p:cNvSpPr/>
          <p:nvPr/>
        </p:nvSpPr>
        <p:spPr>
          <a:xfrm>
            <a:off x="6537960" y="2423160"/>
            <a:ext cx="5074920" cy="694944"/>
          </a:xfrm>
          <a:prstGeom prst="roundRect">
            <a:avLst>
              <a:gd name="adj" fmla="val 10526"/>
            </a:avLst>
          </a:prstGeom>
          <a:solidFill>
            <a:srgbClr val="FFFFFF"/>
          </a:solidFill>
          <a:ln w="9525">
            <a:solidFill>
              <a:srgbClr val="C9DAD0"/>
            </a:solidFill>
            <a:prstDash val="solid"/>
          </a:ln>
        </p:spPr>
      </p:sp>
      <p:sp>
        <p:nvSpPr>
          <p:cNvPr id="18" name="Text 16"/>
          <p:cNvSpPr/>
          <p:nvPr/>
        </p:nvSpPr>
        <p:spPr>
          <a:xfrm>
            <a:off x="6812280" y="2423160"/>
            <a:ext cx="2103120" cy="694944"/>
          </a:xfrm>
          <a:prstGeom prst="rect">
            <a:avLst/>
          </a:prstGeom>
          <a:noFill/>
          <a:ln/>
        </p:spPr>
        <p:txBody>
          <a:bodyPr wrap="square" lIns="0" tIns="0" rIns="0" bIns="0" rtlCol="0" anchor="ctr"/>
          <a:lstStyle/>
          <a:p>
            <a:pPr indent="0" marL="0">
              <a:buNone/>
            </a:pPr>
            <a:r>
              <a:rPr lang="en-US" sz="2000" b="1" dirty="0">
                <a:solidFill>
                  <a:srgbClr val="2E6B4F"/>
                </a:solidFill>
                <a:latin typeface="Cambria" pitchFamily="34" charset="0"/>
                <a:ea typeface="Cambria" pitchFamily="34" charset="-122"/>
                <a:cs typeface="Cambria" pitchFamily="34" charset="-120"/>
              </a:rPr>
              <a:t>173 MB</a:t>
            </a:r>
            <a:endParaRPr lang="en-US" sz="2000" dirty="0"/>
          </a:p>
        </p:txBody>
      </p:sp>
      <p:sp>
        <p:nvSpPr>
          <p:cNvPr id="19" name="Text 17"/>
          <p:cNvSpPr/>
          <p:nvPr/>
        </p:nvSpPr>
        <p:spPr>
          <a:xfrm>
            <a:off x="8915400" y="2423160"/>
            <a:ext cx="2514600" cy="694944"/>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the entire saved result</a:t>
            </a:r>
            <a:endParaRPr lang="en-US" sz="1150" dirty="0"/>
          </a:p>
        </p:txBody>
      </p:sp>
      <p:sp>
        <p:nvSpPr>
          <p:cNvPr id="20" name="Shape 18"/>
          <p:cNvSpPr/>
          <p:nvPr/>
        </p:nvSpPr>
        <p:spPr>
          <a:xfrm>
            <a:off x="6537960" y="3246120"/>
            <a:ext cx="5074920" cy="694944"/>
          </a:xfrm>
          <a:prstGeom prst="roundRect">
            <a:avLst>
              <a:gd name="adj" fmla="val 10526"/>
            </a:avLst>
          </a:prstGeom>
          <a:solidFill>
            <a:srgbClr val="FFFFFF"/>
          </a:solidFill>
          <a:ln w="9525">
            <a:solidFill>
              <a:srgbClr val="C9DAD0"/>
            </a:solidFill>
            <a:prstDash val="solid"/>
          </a:ln>
        </p:spPr>
      </p:sp>
      <p:sp>
        <p:nvSpPr>
          <p:cNvPr id="21" name="Text 19"/>
          <p:cNvSpPr/>
          <p:nvPr/>
        </p:nvSpPr>
        <p:spPr>
          <a:xfrm>
            <a:off x="6812280" y="3246120"/>
            <a:ext cx="2103120" cy="694944"/>
          </a:xfrm>
          <a:prstGeom prst="rect">
            <a:avLst/>
          </a:prstGeom>
          <a:noFill/>
          <a:ln/>
        </p:spPr>
        <p:txBody>
          <a:bodyPr wrap="square" lIns="0" tIns="0" rIns="0" bIns="0" rtlCol="0" anchor="ctr"/>
          <a:lstStyle/>
          <a:p>
            <a:pPr indent="0" marL="0">
              <a:buNone/>
            </a:pPr>
            <a:r>
              <a:rPr lang="en-US" sz="2000" b="1" dirty="0">
                <a:solidFill>
                  <a:srgbClr val="2E6B4F"/>
                </a:solidFill>
                <a:latin typeface="Cambria" pitchFamily="34" charset="0"/>
                <a:ea typeface="Cambria" pitchFamily="34" charset="-122"/>
                <a:cs typeface="Cambria" pitchFamily="34" charset="-120"/>
              </a:rPr>
              <a:t>~20 min</a:t>
            </a:r>
            <a:endParaRPr lang="en-US" sz="2000" dirty="0"/>
          </a:p>
        </p:txBody>
      </p:sp>
      <p:sp>
        <p:nvSpPr>
          <p:cNvPr id="22" name="Text 20"/>
          <p:cNvSpPr/>
          <p:nvPr/>
        </p:nvSpPr>
        <p:spPr>
          <a:xfrm>
            <a:off x="8915400" y="3246120"/>
            <a:ext cx="2514600" cy="694944"/>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one full fine-tuning run</a:t>
            </a:r>
            <a:endParaRPr lang="en-US" sz="1150" dirty="0"/>
          </a:p>
        </p:txBody>
      </p:sp>
      <p:sp>
        <p:nvSpPr>
          <p:cNvPr id="23" name="Shape 21"/>
          <p:cNvSpPr/>
          <p:nvPr/>
        </p:nvSpPr>
        <p:spPr>
          <a:xfrm>
            <a:off x="6537960" y="4069080"/>
            <a:ext cx="5074920" cy="694944"/>
          </a:xfrm>
          <a:prstGeom prst="roundRect">
            <a:avLst>
              <a:gd name="adj" fmla="val 10526"/>
            </a:avLst>
          </a:prstGeom>
          <a:solidFill>
            <a:srgbClr val="FFFFFF"/>
          </a:solidFill>
          <a:ln w="9525">
            <a:solidFill>
              <a:srgbClr val="C9DAD0"/>
            </a:solidFill>
            <a:prstDash val="solid"/>
          </a:ln>
        </p:spPr>
      </p:sp>
      <p:sp>
        <p:nvSpPr>
          <p:cNvPr id="24" name="Text 22"/>
          <p:cNvSpPr/>
          <p:nvPr/>
        </p:nvSpPr>
        <p:spPr>
          <a:xfrm>
            <a:off x="6812280" y="4069080"/>
            <a:ext cx="2103120" cy="694944"/>
          </a:xfrm>
          <a:prstGeom prst="rect">
            <a:avLst/>
          </a:prstGeom>
          <a:noFill/>
          <a:ln/>
        </p:spPr>
        <p:txBody>
          <a:bodyPr wrap="square" lIns="0" tIns="0" rIns="0" bIns="0" rtlCol="0" anchor="ctr"/>
          <a:lstStyle/>
          <a:p>
            <a:pPr indent="0" marL="0">
              <a:buNone/>
            </a:pPr>
            <a:r>
              <a:rPr lang="en-US" sz="2000" b="1" dirty="0">
                <a:solidFill>
                  <a:srgbClr val="2E6B4F"/>
                </a:solidFill>
                <a:latin typeface="Cambria" pitchFamily="34" charset="0"/>
                <a:ea typeface="Cambria" pitchFamily="34" charset="-122"/>
                <a:cs typeface="Cambria" pitchFamily="34" charset="-120"/>
              </a:rPr>
              <a:t>19.4 / 24 GB</a:t>
            </a:r>
            <a:endParaRPr lang="en-US" sz="2000" dirty="0"/>
          </a:p>
        </p:txBody>
      </p:sp>
      <p:sp>
        <p:nvSpPr>
          <p:cNvPr id="25" name="Text 23"/>
          <p:cNvSpPr/>
          <p:nvPr/>
        </p:nvSpPr>
        <p:spPr>
          <a:xfrm>
            <a:off x="8915400" y="4069080"/>
            <a:ext cx="2514600" cy="694944"/>
          </a:xfrm>
          <a:prstGeom prst="rect">
            <a:avLst/>
          </a:prstGeom>
          <a:noFill/>
          <a:ln/>
        </p:spPr>
        <p:txBody>
          <a:bodyPr wrap="square" lIns="0" tIns="0" rIns="0" bIns="0" rtlCol="0" anchor="ctr"/>
          <a:lstStyle/>
          <a:p>
            <a:pPr indent="0" marL="0">
              <a:buNone/>
            </a:pPr>
            <a:r>
              <a:rPr lang="en-US" sz="1150" dirty="0">
                <a:solidFill>
                  <a:srgbClr val="1C2620"/>
                </a:solidFill>
                <a:latin typeface="Calibri" pitchFamily="34" charset="0"/>
                <a:ea typeface="Calibri" pitchFamily="34" charset="-122"/>
                <a:cs typeface="Calibri" pitchFamily="34" charset="-120"/>
              </a:rPr>
              <a:t>peak memory on our workstation</a:t>
            </a:r>
            <a:endParaRPr lang="en-US" sz="1150" dirty="0"/>
          </a:p>
        </p:txBody>
      </p:sp>
      <p:sp>
        <p:nvSpPr>
          <p:cNvPr id="26" name="Text 24"/>
          <p:cNvSpPr/>
          <p:nvPr/>
        </p:nvSpPr>
        <p:spPr>
          <a:xfrm>
            <a:off x="548640" y="5138928"/>
            <a:ext cx="11064240" cy="365760"/>
          </a:xfrm>
          <a:prstGeom prst="rect">
            <a:avLst/>
          </a:prstGeom>
          <a:noFill/>
          <a:ln/>
        </p:spPr>
        <p:txBody>
          <a:bodyPr wrap="square" lIns="0" tIns="0" rIns="0" bIns="0" rtlCol="0" anchor="ctr"/>
          <a:lstStyle/>
          <a:p>
            <a:pPr indent="0" marL="0">
              <a:buNone/>
            </a:pPr>
            <a:r>
              <a:rPr lang="en-US" sz="1400" b="1" dirty="0">
                <a:solidFill>
                  <a:srgbClr val="14342A"/>
                </a:solidFill>
                <a:latin typeface="Calibri" pitchFamily="34" charset="0"/>
                <a:ea typeface="Calibri" pitchFamily="34" charset="-122"/>
                <a:cs typeface="Calibri" pitchFamily="34" charset="-120"/>
              </a:rPr>
              <a:t>The textbook stays untouched. We only add sticky notes in the right margins.</a:t>
            </a:r>
            <a:endParaRPr lang="en-US" sz="1400" dirty="0"/>
          </a:p>
        </p:txBody>
      </p:sp>
      <p:sp>
        <p:nvSpPr>
          <p:cNvPr id="27" name="Text 25"/>
          <p:cNvSpPr/>
          <p:nvPr/>
        </p:nvSpPr>
        <p:spPr>
          <a:xfrm>
            <a:off x="548640" y="5504688"/>
            <a:ext cx="11064240" cy="365760"/>
          </a:xfrm>
          <a:prstGeom prst="rect">
            <a:avLst/>
          </a:prstGeom>
          <a:noFill/>
          <a:ln/>
        </p:spPr>
        <p:txBody>
          <a:bodyPr wrap="square" lIns="0" tIns="0" rIns="0" bIns="0" rtlCol="0" anchor="ctr"/>
          <a:lstStyle/>
          <a:p>
            <a:pPr indent="0" marL="0">
              <a:buNone/>
            </a:pPr>
            <a:r>
              <a:rPr lang="en-US" sz="1250" dirty="0">
                <a:solidFill>
                  <a:srgbClr val="5C6B62"/>
                </a:solidFill>
                <a:latin typeface="Calibri" pitchFamily="34" charset="0"/>
                <a:ea typeface="Calibri" pitchFamily="34" charset="-122"/>
                <a:cs typeface="Calibri" pitchFamily="34" charset="-120"/>
              </a:rPr>
              <a:t>Peel the adapters off and the original model is exactly as it was — so one base model can serve many crops.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The system, running</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Upload a leaf → the model reads it → a structured diagnosis comes back</a:t>
            </a:r>
            <a:endParaRPr lang="en-US" sz="1400" dirty="0"/>
          </a:p>
        </p:txBody>
      </p:sp>
      <p:pic>
        <p:nvPicPr>
          <p:cNvPr id="4" name="Image 0" descr="C:\Users\Admin\Desktop\VLM\newpipe\assets\screenshots\shot_diagnosis.png">    </p:cNvPr>
          <p:cNvPicPr>
            <a:picLocks noChangeAspect="1"/>
          </p:cNvPicPr>
          <p:nvPr/>
        </p:nvPicPr>
        <p:blipFill>
          <a:blip r:embed="rId1"/>
          <a:stretch>
            <a:fillRect/>
          </a:stretch>
        </p:blipFill>
        <p:spPr>
          <a:xfrm>
            <a:off x="548640" y="1572768"/>
            <a:ext cx="7772400" cy="3026664"/>
          </a:xfrm>
          <a:prstGeom prst="rect">
            <a:avLst/>
          </a:prstGeom>
        </p:spPr>
      </p:pic>
      <p:pic>
        <p:nvPicPr>
          <p:cNvPr id="5" name="Image 1" descr="C:\Users\Admin\Desktop\VLM\newpipe\assets\screenshots\shot_metrics.png">    </p:cNvPr>
          <p:cNvPicPr>
            <a:picLocks noChangeAspect="1"/>
          </p:cNvPicPr>
          <p:nvPr/>
        </p:nvPicPr>
        <p:blipFill>
          <a:blip r:embed="rId2"/>
          <a:stretch>
            <a:fillRect/>
          </a:stretch>
        </p:blipFill>
        <p:spPr>
          <a:xfrm>
            <a:off x="8549640" y="1572768"/>
            <a:ext cx="1417320" cy="3218688"/>
          </a:xfrm>
          <a:prstGeom prst="rect">
            <a:avLst/>
          </a:prstGeom>
        </p:spPr>
      </p:pic>
      <p:pic>
        <p:nvPicPr>
          <p:cNvPr id="6" name="Image 2" descr="C:\Users\Admin\Desktop\VLM\newpipe\assets\screenshots\shot_log.png">    </p:cNvPr>
          <p:cNvPicPr>
            <a:picLocks noChangeAspect="1"/>
          </p:cNvPicPr>
          <p:nvPr/>
        </p:nvPicPr>
        <p:blipFill>
          <a:blip r:embed="rId3"/>
          <a:stretch>
            <a:fillRect/>
          </a:stretch>
        </p:blipFill>
        <p:spPr>
          <a:xfrm>
            <a:off x="10195560" y="1572768"/>
            <a:ext cx="1417320" cy="786384"/>
          </a:xfrm>
          <a:prstGeom prst="rect">
            <a:avLst/>
          </a:prstGeom>
        </p:spPr>
      </p:pic>
      <p:sp>
        <p:nvSpPr>
          <p:cNvPr id="7" name="Text 2"/>
          <p:cNvSpPr/>
          <p:nvPr/>
        </p:nvSpPr>
        <p:spPr>
          <a:xfrm>
            <a:off x="8549640" y="4846320"/>
            <a:ext cx="1417320" cy="237744"/>
          </a:xfrm>
          <a:prstGeom prst="rect">
            <a:avLst/>
          </a:prstGeom>
          <a:noFill/>
          <a:ln/>
        </p:spPr>
        <p:txBody>
          <a:bodyPr wrap="square" lIns="0" tIns="0" rIns="0" bIns="0" rtlCol="0" anchor="ctr"/>
          <a:lstStyle/>
          <a:p>
            <a:pPr algn="ctr" indent="0" marL="0">
              <a:buNone/>
            </a:pPr>
            <a:r>
              <a:rPr lang="en-US" sz="950" dirty="0">
                <a:solidFill>
                  <a:srgbClr val="5C6B62"/>
                </a:solidFill>
                <a:latin typeface="Calibri" pitchFamily="34" charset="0"/>
                <a:ea typeface="Calibri" pitchFamily="34" charset="-122"/>
                <a:cs typeface="Calibri" pitchFamily="34" charset="-120"/>
              </a:rPr>
              <a:t>Live app</a:t>
            </a:r>
            <a:endParaRPr lang="en-US" sz="950" dirty="0"/>
          </a:p>
        </p:txBody>
      </p:sp>
      <p:sp>
        <p:nvSpPr>
          <p:cNvPr id="8" name="Text 3"/>
          <p:cNvSpPr/>
          <p:nvPr/>
        </p:nvSpPr>
        <p:spPr>
          <a:xfrm>
            <a:off x="10195560" y="2414016"/>
            <a:ext cx="1417320" cy="457200"/>
          </a:xfrm>
          <a:prstGeom prst="rect">
            <a:avLst/>
          </a:prstGeom>
          <a:noFill/>
          <a:ln/>
        </p:spPr>
        <p:txBody>
          <a:bodyPr wrap="square" lIns="0" tIns="0" rIns="0" bIns="0" rtlCol="0" anchor="ctr"/>
          <a:lstStyle/>
          <a:p>
            <a:pPr algn="ctr" indent="0" marL="0">
              <a:buNone/>
            </a:pPr>
            <a:r>
              <a:rPr lang="en-US" sz="950" dirty="0">
                <a:solidFill>
                  <a:srgbClr val="5C6B62"/>
                </a:solidFill>
                <a:latin typeface="Calibri" pitchFamily="34" charset="0"/>
                <a:ea typeface="Calibri" pitchFamily="34" charset="-122"/>
                <a:cs typeface="Calibri" pitchFamily="34" charset="-120"/>
              </a:rPr>
              <a:t>Every prediction logged</a:t>
            </a:r>
            <a:endParaRPr lang="en-US" sz="950" dirty="0"/>
          </a:p>
        </p:txBody>
      </p:sp>
      <p:sp>
        <p:nvSpPr>
          <p:cNvPr id="9" name="Shape 4"/>
          <p:cNvSpPr/>
          <p:nvPr/>
        </p:nvSpPr>
        <p:spPr>
          <a:xfrm>
            <a:off x="548640" y="5074920"/>
            <a:ext cx="2011680" cy="640080"/>
          </a:xfrm>
          <a:prstGeom prst="roundRect">
            <a:avLst>
              <a:gd name="adj" fmla="val 11429"/>
            </a:avLst>
          </a:prstGeom>
          <a:solidFill>
            <a:srgbClr val="FFFFFF"/>
          </a:solidFill>
          <a:ln w="9525">
            <a:solidFill>
              <a:srgbClr val="C9DAD0"/>
            </a:solidFill>
            <a:prstDash val="solid"/>
          </a:ln>
        </p:spPr>
      </p:sp>
      <p:sp>
        <p:nvSpPr>
          <p:cNvPr id="10" name="Text 5"/>
          <p:cNvSpPr/>
          <p:nvPr/>
        </p:nvSpPr>
        <p:spPr>
          <a:xfrm>
            <a:off x="621792" y="5074920"/>
            <a:ext cx="1865376" cy="640080"/>
          </a:xfrm>
          <a:prstGeom prst="rect">
            <a:avLst/>
          </a:prstGeom>
          <a:noFill/>
          <a:ln/>
        </p:spPr>
        <p:txBody>
          <a:bodyPr wrap="square" lIns="0" tIns="0" rIns="0" bIns="0" rtlCol="0" anchor="ctr"/>
          <a:lstStyle/>
          <a:p>
            <a:pPr algn="ctr" indent="0" marL="0">
              <a:buNone/>
            </a:pPr>
            <a:r>
              <a:rPr lang="en-US" sz="1100" b="1" dirty="0">
                <a:solidFill>
                  <a:srgbClr val="1C2620"/>
                </a:solidFill>
                <a:latin typeface="Calibri" pitchFamily="34" charset="0"/>
                <a:ea typeface="Calibri" pitchFamily="34" charset="-122"/>
                <a:cs typeface="Calibri" pitchFamily="34" charset="-120"/>
              </a:rPr>
              <a:t>Upload leaf</a:t>
            </a:r>
            <a:endParaRPr lang="en-US" sz="1100" dirty="0"/>
          </a:p>
        </p:txBody>
      </p:sp>
      <p:sp>
        <p:nvSpPr>
          <p:cNvPr id="11" name="Shape 6"/>
          <p:cNvSpPr/>
          <p:nvPr/>
        </p:nvSpPr>
        <p:spPr>
          <a:xfrm>
            <a:off x="2596896" y="5394960"/>
            <a:ext cx="182880" cy="0"/>
          </a:xfrm>
          <a:prstGeom prst="line">
            <a:avLst/>
          </a:prstGeom>
          <a:noFill/>
          <a:ln w="19050">
            <a:solidFill>
              <a:srgbClr val="2E6B4F"/>
            </a:solidFill>
            <a:prstDash val="solid"/>
            <a:tailEnd type="triangle"/>
          </a:ln>
        </p:spPr>
      </p:sp>
      <p:sp>
        <p:nvSpPr>
          <p:cNvPr id="12" name="Shape 7"/>
          <p:cNvSpPr/>
          <p:nvPr/>
        </p:nvSpPr>
        <p:spPr>
          <a:xfrm>
            <a:off x="2816352" y="5074920"/>
            <a:ext cx="2011680" cy="640080"/>
          </a:xfrm>
          <a:prstGeom prst="roundRect">
            <a:avLst>
              <a:gd name="adj" fmla="val 11429"/>
            </a:avLst>
          </a:prstGeom>
          <a:solidFill>
            <a:srgbClr val="FFFFFF"/>
          </a:solidFill>
          <a:ln w="9525">
            <a:solidFill>
              <a:srgbClr val="C9DAD0"/>
            </a:solidFill>
            <a:prstDash val="solid"/>
          </a:ln>
        </p:spPr>
      </p:sp>
      <p:sp>
        <p:nvSpPr>
          <p:cNvPr id="13" name="Text 8"/>
          <p:cNvSpPr/>
          <p:nvPr/>
        </p:nvSpPr>
        <p:spPr>
          <a:xfrm>
            <a:off x="2889504" y="5074920"/>
            <a:ext cx="1865376" cy="640080"/>
          </a:xfrm>
          <a:prstGeom prst="rect">
            <a:avLst/>
          </a:prstGeom>
          <a:noFill/>
          <a:ln/>
        </p:spPr>
        <p:txBody>
          <a:bodyPr wrap="square" lIns="0" tIns="0" rIns="0" bIns="0" rtlCol="0" anchor="ctr"/>
          <a:lstStyle/>
          <a:p>
            <a:pPr algn="ctr" indent="0" marL="0">
              <a:buNone/>
            </a:pPr>
            <a:r>
              <a:rPr lang="en-US" sz="1100" b="1" dirty="0">
                <a:solidFill>
                  <a:srgbClr val="1C2620"/>
                </a:solidFill>
                <a:latin typeface="Calibri" pitchFamily="34" charset="0"/>
                <a:ea typeface="Calibri" pitchFamily="34" charset="-122"/>
                <a:cs typeface="Calibri" pitchFamily="34" charset="-120"/>
              </a:rPr>
              <a:t>Not-a-leaf check</a:t>
            </a:r>
            <a:endParaRPr lang="en-US" sz="1100" dirty="0"/>
          </a:p>
        </p:txBody>
      </p:sp>
      <p:sp>
        <p:nvSpPr>
          <p:cNvPr id="14" name="Shape 9"/>
          <p:cNvSpPr/>
          <p:nvPr/>
        </p:nvSpPr>
        <p:spPr>
          <a:xfrm>
            <a:off x="4864608" y="5394960"/>
            <a:ext cx="182880" cy="0"/>
          </a:xfrm>
          <a:prstGeom prst="line">
            <a:avLst/>
          </a:prstGeom>
          <a:noFill/>
          <a:ln w="19050">
            <a:solidFill>
              <a:srgbClr val="2E6B4F"/>
            </a:solidFill>
            <a:prstDash val="solid"/>
            <a:tailEnd type="triangle"/>
          </a:ln>
        </p:spPr>
      </p:sp>
      <p:sp>
        <p:nvSpPr>
          <p:cNvPr id="15" name="Shape 10"/>
          <p:cNvSpPr/>
          <p:nvPr/>
        </p:nvSpPr>
        <p:spPr>
          <a:xfrm>
            <a:off x="5084064" y="5074920"/>
            <a:ext cx="2011680" cy="640080"/>
          </a:xfrm>
          <a:prstGeom prst="roundRect">
            <a:avLst>
              <a:gd name="adj" fmla="val 11429"/>
            </a:avLst>
          </a:prstGeom>
          <a:solidFill>
            <a:srgbClr val="FFFFFF"/>
          </a:solidFill>
          <a:ln w="9525">
            <a:solidFill>
              <a:srgbClr val="C9DAD0"/>
            </a:solidFill>
            <a:prstDash val="solid"/>
          </a:ln>
        </p:spPr>
      </p:sp>
      <p:sp>
        <p:nvSpPr>
          <p:cNvPr id="16" name="Text 11"/>
          <p:cNvSpPr/>
          <p:nvPr/>
        </p:nvSpPr>
        <p:spPr>
          <a:xfrm>
            <a:off x="5157216" y="5074920"/>
            <a:ext cx="1865376" cy="640080"/>
          </a:xfrm>
          <a:prstGeom prst="rect">
            <a:avLst/>
          </a:prstGeom>
          <a:noFill/>
          <a:ln/>
        </p:spPr>
        <p:txBody>
          <a:bodyPr wrap="square" lIns="0" tIns="0" rIns="0" bIns="0" rtlCol="0" anchor="ctr"/>
          <a:lstStyle/>
          <a:p>
            <a:pPr algn="ctr" indent="0" marL="0">
              <a:buNone/>
            </a:pPr>
            <a:r>
              <a:rPr lang="en-US" sz="1100" b="1" dirty="0">
                <a:solidFill>
                  <a:srgbClr val="1C2620"/>
                </a:solidFill>
                <a:latin typeface="Calibri" pitchFamily="34" charset="0"/>
                <a:ea typeface="Calibri" pitchFamily="34" charset="-122"/>
                <a:cs typeface="Calibri" pitchFamily="34" charset="-120"/>
              </a:rPr>
              <a:t>Model reads image</a:t>
            </a:r>
            <a:endParaRPr lang="en-US" sz="1100" dirty="0"/>
          </a:p>
        </p:txBody>
      </p:sp>
      <p:sp>
        <p:nvSpPr>
          <p:cNvPr id="17" name="Shape 12"/>
          <p:cNvSpPr/>
          <p:nvPr/>
        </p:nvSpPr>
        <p:spPr>
          <a:xfrm>
            <a:off x="7132320" y="5394960"/>
            <a:ext cx="182880" cy="0"/>
          </a:xfrm>
          <a:prstGeom prst="line">
            <a:avLst/>
          </a:prstGeom>
          <a:noFill/>
          <a:ln w="19050">
            <a:solidFill>
              <a:srgbClr val="2E6B4F"/>
            </a:solidFill>
            <a:prstDash val="solid"/>
            <a:tailEnd type="triangle"/>
          </a:ln>
        </p:spPr>
      </p:sp>
      <p:sp>
        <p:nvSpPr>
          <p:cNvPr id="18" name="Shape 13"/>
          <p:cNvSpPr/>
          <p:nvPr/>
        </p:nvSpPr>
        <p:spPr>
          <a:xfrm>
            <a:off x="7351776" y="5074920"/>
            <a:ext cx="2011680" cy="640080"/>
          </a:xfrm>
          <a:prstGeom prst="roundRect">
            <a:avLst>
              <a:gd name="adj" fmla="val 11429"/>
            </a:avLst>
          </a:prstGeom>
          <a:solidFill>
            <a:srgbClr val="FFFFFF"/>
          </a:solidFill>
          <a:ln w="9525">
            <a:solidFill>
              <a:srgbClr val="C9DAD0"/>
            </a:solidFill>
            <a:prstDash val="solid"/>
          </a:ln>
        </p:spPr>
      </p:sp>
      <p:sp>
        <p:nvSpPr>
          <p:cNvPr id="19" name="Text 14"/>
          <p:cNvSpPr/>
          <p:nvPr/>
        </p:nvSpPr>
        <p:spPr>
          <a:xfrm>
            <a:off x="7424928" y="5074920"/>
            <a:ext cx="1865376" cy="640080"/>
          </a:xfrm>
          <a:prstGeom prst="rect">
            <a:avLst/>
          </a:prstGeom>
          <a:noFill/>
          <a:ln/>
        </p:spPr>
        <p:txBody>
          <a:bodyPr wrap="square" lIns="0" tIns="0" rIns="0" bIns="0" rtlCol="0" anchor="ctr"/>
          <a:lstStyle/>
          <a:p>
            <a:pPr algn="ctr" indent="0" marL="0">
              <a:buNone/>
            </a:pPr>
            <a:r>
              <a:rPr lang="en-US" sz="1100" b="1" dirty="0">
                <a:solidFill>
                  <a:srgbClr val="1C2620"/>
                </a:solidFill>
                <a:latin typeface="Calibri" pitchFamily="34" charset="0"/>
                <a:ea typeface="Calibri" pitchFamily="34" charset="-122"/>
                <a:cs typeface="Calibri" pitchFamily="34" charset="-120"/>
              </a:rPr>
              <a:t>Structured diagnosis</a:t>
            </a:r>
            <a:endParaRPr lang="en-US" sz="1100" dirty="0"/>
          </a:p>
        </p:txBody>
      </p:sp>
      <p:sp>
        <p:nvSpPr>
          <p:cNvPr id="20" name="Shape 15"/>
          <p:cNvSpPr/>
          <p:nvPr/>
        </p:nvSpPr>
        <p:spPr>
          <a:xfrm>
            <a:off x="9400032" y="5394960"/>
            <a:ext cx="182880" cy="0"/>
          </a:xfrm>
          <a:prstGeom prst="line">
            <a:avLst/>
          </a:prstGeom>
          <a:noFill/>
          <a:ln w="19050">
            <a:solidFill>
              <a:srgbClr val="2E6B4F"/>
            </a:solidFill>
            <a:prstDash val="solid"/>
            <a:tailEnd type="triangle"/>
          </a:ln>
        </p:spPr>
      </p:sp>
      <p:sp>
        <p:nvSpPr>
          <p:cNvPr id="21" name="Shape 16"/>
          <p:cNvSpPr/>
          <p:nvPr/>
        </p:nvSpPr>
        <p:spPr>
          <a:xfrm>
            <a:off x="9619488" y="5074920"/>
            <a:ext cx="2011680" cy="640080"/>
          </a:xfrm>
          <a:prstGeom prst="roundRect">
            <a:avLst>
              <a:gd name="adj" fmla="val 11429"/>
            </a:avLst>
          </a:prstGeom>
          <a:solidFill>
            <a:srgbClr val="FFFFFF"/>
          </a:solidFill>
          <a:ln w="9525">
            <a:solidFill>
              <a:srgbClr val="C9DAD0"/>
            </a:solidFill>
            <a:prstDash val="solid"/>
          </a:ln>
        </p:spPr>
      </p:sp>
      <p:sp>
        <p:nvSpPr>
          <p:cNvPr id="22" name="Text 17"/>
          <p:cNvSpPr/>
          <p:nvPr/>
        </p:nvSpPr>
        <p:spPr>
          <a:xfrm>
            <a:off x="9692640" y="5074920"/>
            <a:ext cx="1865376" cy="640080"/>
          </a:xfrm>
          <a:prstGeom prst="rect">
            <a:avLst/>
          </a:prstGeom>
          <a:noFill/>
          <a:ln/>
        </p:spPr>
        <p:txBody>
          <a:bodyPr wrap="square" lIns="0" tIns="0" rIns="0" bIns="0" rtlCol="0" anchor="ctr"/>
          <a:lstStyle/>
          <a:p>
            <a:pPr algn="ctr" indent="0" marL="0">
              <a:buNone/>
            </a:pPr>
            <a:r>
              <a:rPr lang="en-US" sz="1100" b="1" dirty="0">
                <a:solidFill>
                  <a:srgbClr val="1C2620"/>
                </a:solidFill>
                <a:latin typeface="Calibri" pitchFamily="34" charset="0"/>
                <a:ea typeface="Calibri" pitchFamily="34" charset="-122"/>
                <a:cs typeface="Calibri" pitchFamily="34" charset="-120"/>
              </a:rPr>
              <a:t>Logged to disk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algn="l" indent="0" marL="0">
              <a:buNone/>
            </a:pPr>
            <a:r>
              <a:rPr lang="en-US" sz="3200" b="1" dirty="0">
                <a:solidFill>
                  <a:srgbClr val="14342A"/>
                </a:solidFill>
                <a:latin typeface="Cambria" pitchFamily="34" charset="0"/>
                <a:ea typeface="Cambria" pitchFamily="34" charset="-122"/>
                <a:cs typeface="Cambria" pitchFamily="34" charset="-120"/>
              </a:rPr>
              <a:t>Before and after</a:t>
            </a:r>
            <a:endParaRPr lang="en-US" sz="3200" dirty="0"/>
          </a:p>
        </p:txBody>
      </p:sp>
      <p:sp>
        <p:nvSpPr>
          <p:cNvPr id="3" name="Text 1"/>
          <p:cNvSpPr/>
          <p:nvPr/>
        </p:nvSpPr>
        <p:spPr>
          <a:xfrm>
            <a:off x="548640" y="969264"/>
            <a:ext cx="11064240" cy="310896"/>
          </a:xfrm>
          <a:prstGeom prst="rect">
            <a:avLst/>
          </a:prstGeom>
          <a:noFill/>
          <a:ln/>
        </p:spPr>
        <p:txBody>
          <a:bodyPr wrap="square" lIns="0" tIns="0" rIns="0" bIns="0" rtlCol="0" anchor="ctr"/>
          <a:lstStyle/>
          <a:p>
            <a:pPr algn="l" indent="0" marL="0">
              <a:buNone/>
            </a:pPr>
            <a:r>
              <a:rPr lang="en-US" sz="1400" dirty="0">
                <a:solidFill>
                  <a:srgbClr val="5C6B62"/>
                </a:solidFill>
                <a:latin typeface="Calibri" pitchFamily="34" charset="0"/>
                <a:ea typeface="Calibri" pitchFamily="34" charset="-122"/>
                <a:cs typeface="Calibri" pitchFamily="34" charset="-120"/>
              </a:rPr>
              <a:t>The same kind of leaf, described by the same model — untuned, then fine-tuned</a:t>
            </a:r>
            <a:endParaRPr lang="en-US" sz="1400" dirty="0"/>
          </a:p>
        </p:txBody>
      </p:sp>
      <p:sp>
        <p:nvSpPr>
          <p:cNvPr id="4" name="Shape 2"/>
          <p:cNvSpPr/>
          <p:nvPr/>
        </p:nvSpPr>
        <p:spPr>
          <a:xfrm>
            <a:off x="548640" y="1554480"/>
            <a:ext cx="5394960" cy="3703320"/>
          </a:xfrm>
          <a:prstGeom prst="roundRect">
            <a:avLst>
              <a:gd name="adj" fmla="val 1975"/>
            </a:avLst>
          </a:prstGeom>
          <a:solidFill>
            <a:srgbClr val="FFFFFF"/>
          </a:solidFill>
          <a:ln w="9525">
            <a:solidFill>
              <a:srgbClr val="C9DAD0"/>
            </a:solidFill>
            <a:prstDash val="solid"/>
          </a:ln>
        </p:spPr>
      </p:sp>
      <p:sp>
        <p:nvSpPr>
          <p:cNvPr id="5" name="Text 3"/>
          <p:cNvSpPr/>
          <p:nvPr/>
        </p:nvSpPr>
        <p:spPr>
          <a:xfrm>
            <a:off x="868680" y="1755648"/>
            <a:ext cx="4754880" cy="292608"/>
          </a:xfrm>
          <a:prstGeom prst="rect">
            <a:avLst/>
          </a:prstGeom>
          <a:noFill/>
          <a:ln/>
        </p:spPr>
        <p:txBody>
          <a:bodyPr wrap="square" lIns="0" tIns="0" rIns="0" bIns="0" rtlCol="0" anchor="ctr"/>
          <a:lstStyle/>
          <a:p>
            <a:pPr indent="0" marL="0">
              <a:buNone/>
            </a:pPr>
            <a:r>
              <a:rPr lang="en-US" sz="1100" b="1" spc="100" kern="0" dirty="0">
                <a:solidFill>
                  <a:srgbClr val="5C6B62"/>
                </a:solidFill>
                <a:latin typeface="Calibri" pitchFamily="34" charset="0"/>
                <a:ea typeface="Calibri" pitchFamily="34" charset="-122"/>
                <a:cs typeface="Calibri" pitchFamily="34" charset="-120"/>
              </a:rPr>
              <a:t>BASE Qwen2.5-VL</a:t>
            </a:r>
            <a:endParaRPr lang="en-US" sz="1100" dirty="0"/>
          </a:p>
        </p:txBody>
      </p:sp>
      <p:sp>
        <p:nvSpPr>
          <p:cNvPr id="6" name="Text 4"/>
          <p:cNvSpPr/>
          <p:nvPr/>
        </p:nvSpPr>
        <p:spPr>
          <a:xfrm>
            <a:off x="868680" y="2148840"/>
            <a:ext cx="4800600" cy="2011680"/>
          </a:xfrm>
          <a:prstGeom prst="rect">
            <a:avLst/>
          </a:prstGeom>
          <a:noFill/>
          <a:ln/>
        </p:spPr>
        <p:txBody>
          <a:bodyPr wrap="square" lIns="0" tIns="0" rIns="0" bIns="0" rtlCol="0" anchor="ctr"/>
          <a:lstStyle/>
          <a:p>
            <a:pPr indent="0" marL="0">
              <a:buNone/>
            </a:pPr>
            <a:r>
              <a:rPr lang="en-US" sz="1150" i="1" dirty="0">
                <a:solidFill>
                  <a:srgbClr val="1C2620"/>
                </a:solidFill>
                <a:latin typeface="Calibri" pitchFamily="34" charset="0"/>
                <a:ea typeface="Calibri" pitchFamily="34" charset="-122"/>
                <a:cs typeface="Calibri" pitchFamily="34" charset="-120"/>
              </a:rPr>
              <a:t>“The tomato leaf in the image appears to have some signs of disease or damage. There are dark, irregularly shaped spots… which could indicate various issues such as fungal infections, bacterial diseases, or physical damage from pests or environmental stressors… it would be advisable to consult with a horticulturist or plant pathologist for a”</a:t>
            </a:r>
            <a:endParaRPr lang="en-US" sz="1150" dirty="0"/>
          </a:p>
        </p:txBody>
      </p:sp>
      <p:sp>
        <p:nvSpPr>
          <p:cNvPr id="7" name="Text 5"/>
          <p:cNvSpPr/>
          <p:nvPr/>
        </p:nvSpPr>
        <p:spPr>
          <a:xfrm>
            <a:off x="868680" y="4315968"/>
            <a:ext cx="4800600" cy="274320"/>
          </a:xfrm>
          <a:prstGeom prst="rect">
            <a:avLst/>
          </a:prstGeom>
          <a:noFill/>
          <a:ln/>
        </p:spPr>
        <p:txBody>
          <a:bodyPr wrap="square" lIns="0" tIns="0" rIns="0" bIns="0" rtlCol="0" anchor="ctr"/>
          <a:lstStyle/>
          <a:p>
            <a:pPr indent="0" marL="0">
              <a:buNone/>
            </a:pPr>
            <a:r>
              <a:rPr lang="en-US" sz="1100" dirty="0">
                <a:solidFill>
                  <a:srgbClr val="5C6B62"/>
                </a:solidFill>
                <a:latin typeface="Calibri" pitchFamily="34" charset="0"/>
                <a:ea typeface="Calibri" pitchFamily="34" charset="-122"/>
                <a:cs typeface="Calibri" pitchFamily="34" charset="-120"/>
              </a:rPr>
              <a:t>—  Hedges across three possibilities</a:t>
            </a:r>
            <a:endParaRPr lang="en-US" sz="1100" dirty="0"/>
          </a:p>
        </p:txBody>
      </p:sp>
      <p:sp>
        <p:nvSpPr>
          <p:cNvPr id="8" name="Text 6"/>
          <p:cNvSpPr/>
          <p:nvPr/>
        </p:nvSpPr>
        <p:spPr>
          <a:xfrm>
            <a:off x="868680" y="4608576"/>
            <a:ext cx="4800600" cy="274320"/>
          </a:xfrm>
          <a:prstGeom prst="rect">
            <a:avLst/>
          </a:prstGeom>
          <a:noFill/>
          <a:ln/>
        </p:spPr>
        <p:txBody>
          <a:bodyPr wrap="square" lIns="0" tIns="0" rIns="0" bIns="0" rtlCol="0" anchor="ctr"/>
          <a:lstStyle/>
          <a:p>
            <a:pPr indent="0" marL="0">
              <a:buNone/>
            </a:pPr>
            <a:r>
              <a:rPr lang="en-US" sz="1100" dirty="0">
                <a:solidFill>
                  <a:srgbClr val="5C6B62"/>
                </a:solidFill>
                <a:latin typeface="Calibri" pitchFamily="34" charset="0"/>
                <a:ea typeface="Calibri" pitchFamily="34" charset="-122"/>
                <a:cs typeface="Calibri" pitchFamily="34" charset="-120"/>
              </a:rPr>
              <a:t>—  Gives advice nobody asked for</a:t>
            </a:r>
            <a:endParaRPr lang="en-US" sz="1100" dirty="0"/>
          </a:p>
        </p:txBody>
      </p:sp>
      <p:sp>
        <p:nvSpPr>
          <p:cNvPr id="9" name="Text 7"/>
          <p:cNvSpPr/>
          <p:nvPr/>
        </p:nvSpPr>
        <p:spPr>
          <a:xfrm>
            <a:off x="868680" y="4901184"/>
            <a:ext cx="4800600" cy="274320"/>
          </a:xfrm>
          <a:prstGeom prst="rect">
            <a:avLst/>
          </a:prstGeom>
          <a:noFill/>
          <a:ln/>
        </p:spPr>
        <p:txBody>
          <a:bodyPr wrap="square" lIns="0" tIns="0" rIns="0" bIns="0" rtlCol="0" anchor="ctr"/>
          <a:lstStyle/>
          <a:p>
            <a:pPr indent="0" marL="0">
              <a:buNone/>
            </a:pPr>
            <a:r>
              <a:rPr lang="en-US" sz="1100" dirty="0">
                <a:solidFill>
                  <a:srgbClr val="5C6B62"/>
                </a:solidFill>
                <a:latin typeface="Calibri" pitchFamily="34" charset="0"/>
                <a:ea typeface="Calibri" pitchFamily="34" charset="-122"/>
                <a:cs typeface="Calibri" pitchFamily="34" charset="-120"/>
              </a:rPr>
              <a:t>—  Runs past the length limit mid-sentence</a:t>
            </a:r>
            <a:endParaRPr lang="en-US" sz="1100" dirty="0"/>
          </a:p>
        </p:txBody>
      </p:sp>
      <p:sp>
        <p:nvSpPr>
          <p:cNvPr id="10" name="Shape 8"/>
          <p:cNvSpPr/>
          <p:nvPr/>
        </p:nvSpPr>
        <p:spPr>
          <a:xfrm>
            <a:off x="6217920" y="1554480"/>
            <a:ext cx="5394960" cy="3703320"/>
          </a:xfrm>
          <a:prstGeom prst="roundRect">
            <a:avLst>
              <a:gd name="adj" fmla="val 1975"/>
            </a:avLst>
          </a:prstGeom>
          <a:solidFill>
            <a:srgbClr val="14342A"/>
          </a:solidFill>
          <a:ln/>
        </p:spPr>
      </p:sp>
      <p:sp>
        <p:nvSpPr>
          <p:cNvPr id="11" name="Text 9"/>
          <p:cNvSpPr/>
          <p:nvPr/>
        </p:nvSpPr>
        <p:spPr>
          <a:xfrm>
            <a:off x="6537960" y="1755648"/>
            <a:ext cx="4754880" cy="292608"/>
          </a:xfrm>
          <a:prstGeom prst="rect">
            <a:avLst/>
          </a:prstGeom>
          <a:noFill/>
          <a:ln/>
        </p:spPr>
        <p:txBody>
          <a:bodyPr wrap="square" lIns="0" tIns="0" rIns="0" bIns="0" rtlCol="0" anchor="ctr"/>
          <a:lstStyle/>
          <a:p>
            <a:pPr indent="0" marL="0">
              <a:buNone/>
            </a:pPr>
            <a:r>
              <a:rPr lang="en-US" sz="1100" b="1" spc="100" kern="0" dirty="0">
                <a:solidFill>
                  <a:srgbClr val="8FB3A0"/>
                </a:solidFill>
                <a:latin typeface="Calibri" pitchFamily="34" charset="0"/>
                <a:ea typeface="Calibri" pitchFamily="34" charset="-122"/>
                <a:cs typeface="Calibri" pitchFamily="34" charset="-120"/>
              </a:rPr>
              <a:t>AFTER FINE-TUNING</a:t>
            </a:r>
            <a:endParaRPr lang="en-US" sz="1100" dirty="0"/>
          </a:p>
        </p:txBody>
      </p:sp>
      <p:sp>
        <p:nvSpPr>
          <p:cNvPr id="12" name="Text 10"/>
          <p:cNvSpPr/>
          <p:nvPr/>
        </p:nvSpPr>
        <p:spPr>
          <a:xfrm>
            <a:off x="6537960" y="2148840"/>
            <a:ext cx="4800600" cy="137160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“Plant: Tomato. Condition: Target Spot. Severity: Moderate. Circular brown spots with concentric lighter zones and chlorotic halos are scattered on this leaf surface.”</a:t>
            </a:r>
            <a:endParaRPr lang="en-US" sz="1250" dirty="0"/>
          </a:p>
        </p:txBody>
      </p:sp>
      <p:sp>
        <p:nvSpPr>
          <p:cNvPr id="13" name="Text 11"/>
          <p:cNvSpPr/>
          <p:nvPr/>
        </p:nvSpPr>
        <p:spPr>
          <a:xfrm>
            <a:off x="6537960" y="4315968"/>
            <a:ext cx="4800600" cy="274320"/>
          </a:xfrm>
          <a:prstGeom prst="rect">
            <a:avLst/>
          </a:prstGeom>
          <a:noFill/>
          <a:ln/>
        </p:spPr>
        <p:txBody>
          <a:bodyPr wrap="square" lIns="0" tIns="0" rIns="0" bIns="0" rtlCol="0" anchor="ctr"/>
          <a:lstStyle/>
          <a:p>
            <a:pPr indent="0" marL="0">
              <a:buNone/>
            </a:pPr>
            <a:r>
              <a:rPr lang="en-US" sz="1100" dirty="0">
                <a:solidFill>
                  <a:srgbClr val="A9C6B5"/>
                </a:solidFill>
                <a:latin typeface="Calibri" pitchFamily="34" charset="0"/>
                <a:ea typeface="Calibri" pitchFamily="34" charset="-122"/>
                <a:cs typeface="Calibri" pitchFamily="34" charset="-120"/>
              </a:rPr>
              <a:t>—  Names what it sees</a:t>
            </a:r>
            <a:endParaRPr lang="en-US" sz="1100" dirty="0"/>
          </a:p>
        </p:txBody>
      </p:sp>
      <p:sp>
        <p:nvSpPr>
          <p:cNvPr id="14" name="Text 12"/>
          <p:cNvSpPr/>
          <p:nvPr/>
        </p:nvSpPr>
        <p:spPr>
          <a:xfrm>
            <a:off x="6537960" y="4608576"/>
            <a:ext cx="4800600" cy="274320"/>
          </a:xfrm>
          <a:prstGeom prst="rect">
            <a:avLst/>
          </a:prstGeom>
          <a:noFill/>
          <a:ln/>
        </p:spPr>
        <p:txBody>
          <a:bodyPr wrap="square" lIns="0" tIns="0" rIns="0" bIns="0" rtlCol="0" anchor="ctr"/>
          <a:lstStyle/>
          <a:p>
            <a:pPr indent="0" marL="0">
              <a:buNone/>
            </a:pPr>
            <a:r>
              <a:rPr lang="en-US" sz="1100" dirty="0">
                <a:solidFill>
                  <a:srgbClr val="A9C6B5"/>
                </a:solidFill>
                <a:latin typeface="Calibri" pitchFamily="34" charset="0"/>
                <a:ea typeface="Calibri" pitchFamily="34" charset="-122"/>
                <a:cs typeface="Calibri" pitchFamily="34" charset="-120"/>
              </a:rPr>
              <a:t>—  Same shape every time</a:t>
            </a:r>
            <a:endParaRPr lang="en-US" sz="1100" dirty="0"/>
          </a:p>
        </p:txBody>
      </p:sp>
      <p:sp>
        <p:nvSpPr>
          <p:cNvPr id="15" name="Text 13"/>
          <p:cNvSpPr/>
          <p:nvPr/>
        </p:nvSpPr>
        <p:spPr>
          <a:xfrm>
            <a:off x="6537960" y="4901184"/>
            <a:ext cx="4800600" cy="274320"/>
          </a:xfrm>
          <a:prstGeom prst="rect">
            <a:avLst/>
          </a:prstGeom>
          <a:noFill/>
          <a:ln/>
        </p:spPr>
        <p:txBody>
          <a:bodyPr wrap="square" lIns="0" tIns="0" rIns="0" bIns="0" rtlCol="0" anchor="ctr"/>
          <a:lstStyle/>
          <a:p>
            <a:pPr indent="0" marL="0">
              <a:buNone/>
            </a:pPr>
            <a:r>
              <a:rPr lang="en-US" sz="1100" dirty="0">
                <a:solidFill>
                  <a:srgbClr val="A9C6B5"/>
                </a:solidFill>
                <a:latin typeface="Calibri" pitchFamily="34" charset="0"/>
                <a:ea typeface="Calibri" pitchFamily="34" charset="-122"/>
                <a:cs typeface="Calibri" pitchFamily="34" charset="-120"/>
              </a:rPr>
              <a:t>—  Short enough to read at a glance</a:t>
            </a:r>
            <a:endParaRPr lang="en-US" sz="1100" dirty="0"/>
          </a:p>
        </p:txBody>
      </p:sp>
      <p:sp>
        <p:nvSpPr>
          <p:cNvPr id="16" name="Text 14"/>
          <p:cNvSpPr/>
          <p:nvPr/>
        </p:nvSpPr>
        <p:spPr>
          <a:xfrm>
            <a:off x="548640" y="5486400"/>
            <a:ext cx="11064240" cy="365760"/>
          </a:xfrm>
          <a:prstGeom prst="rect">
            <a:avLst/>
          </a:prstGeom>
          <a:noFill/>
          <a:ln/>
        </p:spPr>
        <p:txBody>
          <a:bodyPr wrap="square" lIns="0" tIns="0" rIns="0" bIns="0" rtlCol="0" anchor="ctr"/>
          <a:lstStyle/>
          <a:p>
            <a:pPr indent="0" marL="0">
              <a:buNone/>
            </a:pPr>
            <a:r>
              <a:rPr lang="en-US" sz="1350" b="1" dirty="0">
                <a:solidFill>
                  <a:srgbClr val="14342A"/>
                </a:solidFill>
                <a:latin typeface="Calibri" pitchFamily="34" charset="0"/>
                <a:ea typeface="Calibri" pitchFamily="34" charset="-122"/>
                <a:cs typeface="Calibri" pitchFamily="34" charset="-120"/>
              </a:rPr>
              <a:t>Both outputs are real, from our own runs. Same model — the difference is what we taught it to say.</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42A"/>
        </a:solidFill>
      </p:bgPr>
    </p:bg>
    <p:spTree>
      <p:nvGrpSpPr>
        <p:cNvPr id="1" name=""/>
        <p:cNvGrpSpPr/>
        <p:nvPr/>
      </p:nvGrpSpPr>
      <p:grpSpPr>
        <a:xfrm>
          <a:off x="0" y="0"/>
          <a:ext cx="0" cy="0"/>
          <a:chOff x="0" y="0"/>
          <a:chExt cx="0" cy="0"/>
        </a:xfrm>
      </p:grpSpPr>
      <p:sp>
        <p:nvSpPr>
          <p:cNvPr id="2" name="Text 0"/>
          <p:cNvSpPr/>
          <p:nvPr/>
        </p:nvSpPr>
        <p:spPr>
          <a:xfrm>
            <a:off x="822960" y="685800"/>
            <a:ext cx="49377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Where we are</a:t>
            </a:r>
            <a:endParaRPr lang="en-US" sz="2600" dirty="0"/>
          </a:p>
        </p:txBody>
      </p:sp>
      <p:sp>
        <p:nvSpPr>
          <p:cNvPr id="3" name="Text 1"/>
          <p:cNvSpPr/>
          <p:nvPr/>
        </p:nvSpPr>
        <p:spPr>
          <a:xfrm>
            <a:off x="822960" y="1298448"/>
            <a:ext cx="512064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6 tomato classes  ·  30 images  ·  150 validated captions</a:t>
            </a:r>
            <a:endParaRPr lang="en-US" sz="1300" dirty="0"/>
          </a:p>
        </p:txBody>
      </p:sp>
      <p:sp>
        <p:nvSpPr>
          <p:cNvPr id="4" name="Text 2"/>
          <p:cNvSpPr/>
          <p:nvPr/>
        </p:nvSpPr>
        <p:spPr>
          <a:xfrm>
            <a:off x="822960" y="1682496"/>
            <a:ext cx="512064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Pipeline built, verified, and reproducible end to end</a:t>
            </a:r>
            <a:endParaRPr lang="en-US" sz="1300" dirty="0"/>
          </a:p>
        </p:txBody>
      </p:sp>
      <p:sp>
        <p:nvSpPr>
          <p:cNvPr id="5" name="Text 3"/>
          <p:cNvSpPr/>
          <p:nvPr/>
        </p:nvSpPr>
        <p:spPr>
          <a:xfrm>
            <a:off x="822960" y="2066544"/>
            <a:ext cx="512064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Fine-tuning ready to run on our own workstation</a:t>
            </a:r>
            <a:endParaRPr lang="en-US" sz="1300" dirty="0"/>
          </a:p>
        </p:txBody>
      </p:sp>
      <p:sp>
        <p:nvSpPr>
          <p:cNvPr id="6" name="Text 4"/>
          <p:cNvSpPr/>
          <p:nvPr/>
        </p:nvSpPr>
        <p:spPr>
          <a:xfrm>
            <a:off x="6400800" y="685800"/>
            <a:ext cx="49377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comes next</a:t>
            </a:r>
            <a:endParaRPr lang="en-US" sz="2600" dirty="0"/>
          </a:p>
        </p:txBody>
      </p:sp>
      <p:sp>
        <p:nvSpPr>
          <p:cNvPr id="7" name="Text 5"/>
          <p:cNvSpPr/>
          <p:nvPr/>
        </p:nvSpPr>
        <p:spPr>
          <a:xfrm>
            <a:off x="6400800" y="1298448"/>
            <a:ext cx="493776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More validated images</a:t>
            </a:r>
            <a:endParaRPr lang="en-US" sz="1300" dirty="0"/>
          </a:p>
        </p:txBody>
      </p:sp>
      <p:sp>
        <p:nvSpPr>
          <p:cNvPr id="8" name="Text 6"/>
          <p:cNvSpPr/>
          <p:nvPr/>
        </p:nvSpPr>
        <p:spPr>
          <a:xfrm>
            <a:off x="6400800" y="1682496"/>
            <a:ext cx="493776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More crops beyond tomato</a:t>
            </a:r>
            <a:endParaRPr lang="en-US" sz="1300" dirty="0"/>
          </a:p>
        </p:txBody>
      </p:sp>
      <p:sp>
        <p:nvSpPr>
          <p:cNvPr id="9" name="Text 7"/>
          <p:cNvSpPr/>
          <p:nvPr/>
        </p:nvSpPr>
        <p:spPr>
          <a:xfrm>
            <a:off x="6400800" y="2066544"/>
            <a:ext cx="493776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Newer and larger VLMs</a:t>
            </a:r>
            <a:endParaRPr lang="en-US" sz="1300" dirty="0"/>
          </a:p>
        </p:txBody>
      </p:sp>
      <p:sp>
        <p:nvSpPr>
          <p:cNvPr id="10" name="Text 8"/>
          <p:cNvSpPr/>
          <p:nvPr/>
        </p:nvSpPr>
        <p:spPr>
          <a:xfrm>
            <a:off x="6400800" y="2450592"/>
            <a:ext cx="493776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A wider benchmark</a:t>
            </a:r>
            <a:endParaRPr lang="en-US" sz="1300" dirty="0"/>
          </a:p>
        </p:txBody>
      </p:sp>
      <p:sp>
        <p:nvSpPr>
          <p:cNvPr id="11" name="Text 9"/>
          <p:cNvSpPr/>
          <p:nvPr/>
        </p:nvSpPr>
        <p:spPr>
          <a:xfrm>
            <a:off x="6400800" y="2834640"/>
            <a:ext cx="493776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Disease diagnosis, not only description</a:t>
            </a:r>
            <a:endParaRPr lang="en-US" sz="1300" dirty="0"/>
          </a:p>
        </p:txBody>
      </p:sp>
      <p:sp>
        <p:nvSpPr>
          <p:cNvPr id="12" name="Text 10"/>
          <p:cNvSpPr/>
          <p:nvPr/>
        </p:nvSpPr>
        <p:spPr>
          <a:xfrm>
            <a:off x="6400800" y="3218688"/>
            <a:ext cx="4937760" cy="347472"/>
          </a:xfrm>
          <a:prstGeom prst="rect">
            <a:avLst/>
          </a:prstGeom>
          <a:noFill/>
          <a:ln/>
        </p:spPr>
        <p:txBody>
          <a:bodyPr wrap="square" lIns="0" tIns="0" rIns="0" bIns="0" rtlCol="0" anchor="ctr"/>
          <a:lstStyle/>
          <a:p>
            <a:pPr indent="0" marL="0">
              <a:buNone/>
            </a:pPr>
            <a:r>
              <a:rPr lang="en-US" sz="1300" dirty="0">
                <a:solidFill>
                  <a:srgbClr val="A9C6B5"/>
                </a:solidFill>
                <a:latin typeface="Calibri" pitchFamily="34" charset="0"/>
                <a:ea typeface="Calibri" pitchFamily="34" charset="-122"/>
                <a:cs typeface="Calibri" pitchFamily="34" charset="-120"/>
              </a:rPr>
              <a:t>—  Explaining why the model said it</a:t>
            </a:r>
            <a:endParaRPr lang="en-US" sz="1300" dirty="0"/>
          </a:p>
        </p:txBody>
      </p:sp>
      <p:sp>
        <p:nvSpPr>
          <p:cNvPr id="13" name="Shape 11"/>
          <p:cNvSpPr/>
          <p:nvPr/>
        </p:nvSpPr>
        <p:spPr>
          <a:xfrm>
            <a:off x="868680" y="3977640"/>
            <a:ext cx="10424160" cy="0"/>
          </a:xfrm>
          <a:prstGeom prst="line">
            <a:avLst/>
          </a:prstGeom>
          <a:noFill/>
          <a:ln w="12700">
            <a:solidFill>
              <a:srgbClr val="3A5C4A"/>
            </a:solidFill>
            <a:prstDash val="solid"/>
          </a:ln>
        </p:spPr>
      </p:sp>
      <p:sp>
        <p:nvSpPr>
          <p:cNvPr id="14" name="Text 12"/>
          <p:cNvSpPr/>
          <p:nvPr/>
        </p:nvSpPr>
        <p:spPr>
          <a:xfrm>
            <a:off x="822960" y="4343400"/>
            <a:ext cx="1051560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15" name="Text 13"/>
          <p:cNvSpPr/>
          <p:nvPr/>
        </p:nvSpPr>
        <p:spPr>
          <a:xfrm>
            <a:off x="822960" y="5074920"/>
            <a:ext cx="10515600" cy="365760"/>
          </a:xfrm>
          <a:prstGeom prst="rect">
            <a:avLst/>
          </a:prstGeom>
          <a:noFill/>
          <a:ln/>
        </p:spPr>
        <p:txBody>
          <a:bodyPr wrap="square" lIns="0" tIns="0" rIns="0" bIns="0" rtlCol="0" anchor="ctr"/>
          <a:lstStyle/>
          <a:p>
            <a:pPr indent="0" marL="0">
              <a:buNone/>
            </a:pPr>
            <a:r>
              <a:rPr lang="en-US" sz="1500" dirty="0">
                <a:solidFill>
                  <a:srgbClr val="8FB3A0"/>
                </a:solidFill>
                <a:latin typeface="Calibri" pitchFamily="34" charset="0"/>
                <a:ea typeface="Calibri" pitchFamily="34" charset="-122"/>
                <a:cs typeface="Calibri" pitchFamily="34" charset="-120"/>
              </a:rPr>
              <a:t>Questions welcome — including the ones we have not answered yet.</a:t>
            </a:r>
            <a:endParaRPr lang="en-US" sz="1500" dirty="0"/>
          </a:p>
        </p:txBody>
      </p:sp>
      <p:sp>
        <p:nvSpPr>
          <p:cNvPr id="16" name="Text 14"/>
          <p:cNvSpPr/>
          <p:nvPr/>
        </p:nvSpPr>
        <p:spPr>
          <a:xfrm>
            <a:off x="822960" y="5806440"/>
            <a:ext cx="10515600" cy="320040"/>
          </a:xfrm>
          <a:prstGeom prst="rect">
            <a:avLst/>
          </a:prstGeom>
          <a:noFill/>
          <a:ln/>
        </p:spPr>
        <p:txBody>
          <a:bodyPr wrap="square" lIns="0" tIns="0" rIns="0" bIns="0" rtlCol="0" anchor="ctr"/>
          <a:lstStyle/>
          <a:p>
            <a:pPr indent="0" marL="0">
              <a:buNone/>
            </a:pPr>
            <a:r>
              <a:rPr lang="en-US" sz="1200" dirty="0">
                <a:solidFill>
                  <a:srgbClr val="5F8570"/>
                </a:solidFill>
                <a:latin typeface="Calibri" pitchFamily="34" charset="0"/>
                <a:ea typeface="Calibri" pitchFamily="34" charset="-122"/>
                <a:cs typeface="Calibri" pitchFamily="34" charset="-120"/>
              </a:rPr>
              <a:t>Harish  ·  Aakash  ·  Kamaksha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Vision-Language Model for Tomato Leaf Disease</dc:title>
  <dc:subject>PptxGenJS Presentation</dc:subject>
  <dc:creator>Harish · Aakash · Kamaksha</dc:creator>
  <cp:lastModifiedBy>Harish · Aakash · Kamaksha</cp:lastModifiedBy>
  <cp:revision>1</cp:revision>
  <dcterms:created xsi:type="dcterms:W3CDTF">2026-08-05T08:09:22Z</dcterms:created>
  <dcterms:modified xsi:type="dcterms:W3CDTF">2026-08-05T08:09:22Z</dcterms:modified>
</cp:coreProperties>
</file>