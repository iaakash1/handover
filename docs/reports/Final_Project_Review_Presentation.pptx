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2D75"/>
                </a:solidFill>
              </a:rPr>
              <a:t>Internal test images per class (649)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test images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dPt>
            <c:idx val="5"/>
            <c:spPr>
              <a:solidFill>
                <a:srgbClr val="FD7E00"/>
              </a:solidFill>
            </c:spPr>
          </c:dPt>
          <c:cat>
            <c:strRef>
              <c:f>Sheet1!$A$2:$A$12</c:f>
              <c:strCache>
                <c:ptCount val="11"/>
                <c:pt idx="0">
                  <c:v>White Fly</c:v>
                </c:pt>
                <c:pt idx="1">
                  <c:v>Target Leaf Spot</c:v>
                </c:pt>
                <c:pt idx="2">
                  <c:v>Mealy Bugs</c:v>
                </c:pt>
                <c:pt idx="3">
                  <c:v>Leaf Miner</c:v>
                </c:pt>
                <c:pt idx="4">
                  <c:v>Leaf Curl</c:v>
                </c:pt>
                <c:pt idx="5">
                  <c:v>Late Blight</c:v>
                </c:pt>
                <c:pt idx="6">
                  <c:v>Healthy Leaf</c:v>
                </c:pt>
                <c:pt idx="7">
                  <c:v>Healthy Fruit</c:v>
                </c:pt>
                <c:pt idx="8">
                  <c:v>Fruit Borer</c:v>
                </c:pt>
                <c:pt idx="9">
                  <c:v>Early Blight Fruit</c:v>
                </c:pt>
                <c:pt idx="10">
                  <c:v>Aphid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48</c:v>
                </c:pt>
                <c:pt idx="1">
                  <c:v>33</c:v>
                </c:pt>
                <c:pt idx="2">
                  <c:v>40</c:v>
                </c:pt>
                <c:pt idx="3">
                  <c:v>95</c:v>
                </c:pt>
                <c:pt idx="4">
                  <c:v>52</c:v>
                </c:pt>
                <c:pt idx="5">
                  <c:v>195</c:v>
                </c:pt>
                <c:pt idx="6">
                  <c:v>39</c:v>
                </c:pt>
                <c:pt idx="7">
                  <c:v>9</c:v>
                </c:pt>
                <c:pt idx="8">
                  <c:v>43</c:v>
                </c:pt>
                <c:pt idx="9">
                  <c:v>27</c:v>
                </c:pt>
                <c:pt idx="10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50">
                  <a:solidFill>
                    <a:srgbClr val="1F1F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1F1F1F"/>
                </a:solidFill>
                <a:latin typeface="Arial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40.0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Arial"/>
              </a:defRPr>
            </a:pPr>
          </a:p>
        </c:txPr>
        <c:crossAx val="2068027336"/>
        <c:crosses val="autoZero"/>
        <c:majorUnit val="60.0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2D75"/>
                </a:solidFill>
              </a:rPr>
              <a:t>Per-class F1 on the internal test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F1 (%)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dPt>
            <c:idx val="9"/>
            <c:spPr>
              <a:solidFill>
                <a:srgbClr val="FD7E00"/>
              </a:solidFill>
            </c:spPr>
          </c:dPt>
          <c:dPt>
            <c:idx val="6"/>
            <c:spPr>
              <a:solidFill>
                <a:srgbClr val="FD7E00"/>
              </a:solidFill>
            </c:spPr>
          </c:dPt>
          <c:dPt>
            <c:idx val="4"/>
            <c:spPr>
              <a:solidFill>
                <a:srgbClr val="FD7E00"/>
              </a:solidFill>
            </c:spPr>
          </c:dPt>
          <c:cat>
            <c:strRef>
              <c:f>Sheet1!$A$2:$A$12</c:f>
              <c:strCache>
                <c:ptCount val="11"/>
                <c:pt idx="0">
                  <c:v>Aphid</c:v>
                </c:pt>
                <c:pt idx="1">
                  <c:v>Early Blight Fruit</c:v>
                </c:pt>
                <c:pt idx="2">
                  <c:v>Fruit Borer</c:v>
                </c:pt>
                <c:pt idx="3">
                  <c:v>Healthy Fruit</c:v>
                </c:pt>
                <c:pt idx="4">
                  <c:v>Healthy Leaf</c:v>
                </c:pt>
                <c:pt idx="5">
                  <c:v>Late Blight</c:v>
                </c:pt>
                <c:pt idx="6">
                  <c:v>Leaf Curl</c:v>
                </c:pt>
                <c:pt idx="7">
                  <c:v>Leaf Miner</c:v>
                </c:pt>
                <c:pt idx="8">
                  <c:v>Mealy Bugs</c:v>
                </c:pt>
                <c:pt idx="9">
                  <c:v>Target Leaf Spot</c:v>
                </c:pt>
                <c:pt idx="10">
                  <c:v>White Fly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95.65</c:v>
                </c:pt>
                <c:pt idx="1">
                  <c:v>98.18</c:v>
                </c:pt>
                <c:pt idx="2">
                  <c:v>100.0</c:v>
                </c:pt>
                <c:pt idx="3">
                  <c:v>100.0</c:v>
                </c:pt>
                <c:pt idx="4">
                  <c:v>88.0</c:v>
                </c:pt>
                <c:pt idx="5">
                  <c:v>90.91</c:v>
                </c:pt>
                <c:pt idx="6">
                  <c:v>87.27</c:v>
                </c:pt>
                <c:pt idx="7">
                  <c:v>93.4</c:v>
                </c:pt>
                <c:pt idx="8">
                  <c:v>98.77</c:v>
                </c:pt>
                <c:pt idx="9">
                  <c:v>81.48</c:v>
                </c:pt>
                <c:pt idx="10">
                  <c:v>97.87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1F1F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Arial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Arial"/>
              </a:defRPr>
            </a:pPr>
          </a:p>
        </c:txPr>
        <c:crossAx val="2068027336"/>
        <c:crosses val="autoZero"/>
        <c:majorUnit val="20.0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2D75"/>
                </a:solidFill>
              </a:rPr>
              <a:t>Per-class F1 (%) — 10 shared classes (Healthy Fruit absent externally)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test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Aphid</c:v>
                </c:pt>
                <c:pt idx="1">
                  <c:v>Early Blight Fruit</c:v>
                </c:pt>
                <c:pt idx="2">
                  <c:v>Fruit Borer</c:v>
                </c:pt>
                <c:pt idx="3">
                  <c:v>Healthy Leaf</c:v>
                </c:pt>
                <c:pt idx="4">
                  <c:v>Late Blight</c:v>
                </c:pt>
                <c:pt idx="5">
                  <c:v>Leaf Curl</c:v>
                </c:pt>
                <c:pt idx="6">
                  <c:v>Leaf Miner</c:v>
                </c:pt>
                <c:pt idx="7">
                  <c:v>Mealy Bugs</c:v>
                </c:pt>
                <c:pt idx="8">
                  <c:v>Target Leaf Spot</c:v>
                </c:pt>
                <c:pt idx="9">
                  <c:v>White Fly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95.65</c:v>
                </c:pt>
                <c:pt idx="1">
                  <c:v>98.18</c:v>
                </c:pt>
                <c:pt idx="2">
                  <c:v>100.0</c:v>
                </c:pt>
                <c:pt idx="3">
                  <c:v>88.0</c:v>
                </c:pt>
                <c:pt idx="4">
                  <c:v>90.91</c:v>
                </c:pt>
                <c:pt idx="5">
                  <c:v>87.27</c:v>
                </c:pt>
                <c:pt idx="6">
                  <c:v>93.4</c:v>
                </c:pt>
                <c:pt idx="7">
                  <c:v>98.77</c:v>
                </c:pt>
                <c:pt idx="8">
                  <c:v>81.48</c:v>
                </c:pt>
                <c:pt idx="9">
                  <c:v>97.87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benchmark</c:v>
                </c:pt>
              </c:strCache>
            </c:strRef>
          </c:tx>
          <c:spPr>
            <a:solidFill>
              <a:srgbClr val="FD7E00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Aphid</c:v>
                </c:pt>
                <c:pt idx="1">
                  <c:v>Early Blight Fruit</c:v>
                </c:pt>
                <c:pt idx="2">
                  <c:v>Fruit Borer</c:v>
                </c:pt>
                <c:pt idx="3">
                  <c:v>Healthy Leaf</c:v>
                </c:pt>
                <c:pt idx="4">
                  <c:v>Late Blight</c:v>
                </c:pt>
                <c:pt idx="5">
                  <c:v>Leaf Curl</c:v>
                </c:pt>
                <c:pt idx="6">
                  <c:v>Leaf Miner</c:v>
                </c:pt>
                <c:pt idx="7">
                  <c:v>Mealy Bugs</c:v>
                </c:pt>
                <c:pt idx="8">
                  <c:v>Target Leaf Spot</c:v>
                </c:pt>
                <c:pt idx="9">
                  <c:v>White Fly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81.48</c:v>
                </c:pt>
                <c:pt idx="1">
                  <c:v>78.79</c:v>
                </c:pt>
                <c:pt idx="2">
                  <c:v>74.42</c:v>
                </c:pt>
                <c:pt idx="3">
                  <c:v>75.0</c:v>
                </c:pt>
                <c:pt idx="4">
                  <c:v>14.29</c:v>
                </c:pt>
                <c:pt idx="5">
                  <c:v>65.0</c:v>
                </c:pt>
                <c:pt idx="6">
                  <c:v>77.78</c:v>
                </c:pt>
                <c:pt idx="7">
                  <c:v>93.33</c:v>
                </c:pt>
                <c:pt idx="8">
                  <c:v>67.8</c:v>
                </c:pt>
                <c:pt idx="9">
                  <c:v>91.67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1F1F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Arial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Arial"/>
              </a:defRPr>
            </a:pPr>
          </a:p>
        </c:txPr>
        <c:crossAx val="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2D75"/>
                </a:solidFill>
              </a:rPr>
              <a:t>Classification accuracy (%), frozen held-out test splits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 (base)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Tomato (n = 910)</c:v>
                </c:pt>
                <c:pt idx="1">
                  <c:v>Mango (n = 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</c:v>
                </c:pt>
                <c:pt idx="1">
                  <c:v>17.5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QLoRA fine-tuned</c:v>
                </c:pt>
              </c:strCache>
            </c:strRef>
          </c:tx>
          <c:spPr>
            <a:solidFill>
              <a:srgbClr val="1E844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Tomato (n = 910)</c:v>
                </c:pt>
                <c:pt idx="1">
                  <c:v>Mango (n = 200)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93.7</c:v>
                </c:pt>
                <c:pt idx="1">
                  <c:v>82.0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F1F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50">
                <a:solidFill>
                  <a:srgbClr val="1F1F1F"/>
                </a:solidFill>
                <a:latin typeface="Arial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2103120" cy="777240"/>
          </a:xfrm>
          <a:prstGeom prst="rect">
            <a:avLst/>
          </a:prstGeom>
        </p:spPr>
      </p:pic>
      <p:pic>
        <p:nvPicPr>
          <p:cNvPr id="3" name="Picture 2" descr="iit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01168"/>
            <a:ext cx="935469" cy="914400"/>
          </a:xfrm>
          <a:prstGeom prst="rect">
            <a:avLst/>
          </a:prstGeom>
        </p:spPr>
      </p:pic>
      <p:sp>
        <p:nvSpPr>
          <p:cNvPr id="4" name="Project title"/>
          <p:cNvSpPr txBox="1"/>
          <p:nvPr/>
        </p:nvSpPr>
        <p:spPr>
          <a:xfrm>
            <a:off x="502920" y="1417320"/>
            <a:ext cx="6675120" cy="1783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F58220"/>
                </a:solidFill>
                <a:latin typeface="Arial"/>
              </a:rPr>
              <a:t>Vision-Language Model Based Plant Disease Diagnosis for Tomato and Mango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02920" y="3246120"/>
            <a:ext cx="6675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2D75"/>
                </a:solidFill>
                <a:latin typeface="Arial"/>
              </a:rPr>
              <a:t>Project Completion Review  |  TIH IIT Bombay CHANAKYA Fellowship</a:t>
            </a:r>
          </a:p>
        </p:txBody>
      </p:sp>
      <p:sp>
        <p:nvSpPr>
          <p:cNvPr id="6" name="Team"/>
          <p:cNvSpPr txBox="1"/>
          <p:nvPr/>
        </p:nvSpPr>
        <p:spPr>
          <a:xfrm>
            <a:off x="502920" y="3794760"/>
            <a:ext cx="667512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Arial"/>
              </a:rPr>
              <a:t>By</a:t>
            </a:r>
          </a:p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F1F1F"/>
                </a:solidFill>
                <a:latin typeface="Arial"/>
              </a:rPr>
              <a:t>Kamaaksha Rajendra Kharul</a:t>
            </a:r>
          </a:p>
          <a:p>
            <a:pPr algn="ctr">
              <a:spcAft>
                <a:spcPts val="1000"/>
              </a:spcAft>
            </a:pPr>
            <a:r>
              <a:rPr sz="1900" b="1" i="0">
                <a:solidFill>
                  <a:srgbClr val="1F1F1F"/>
                </a:solidFill>
                <a:latin typeface="Arial"/>
              </a:rPr>
              <a:t>Aakash Trimbak Jawle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F1F1F"/>
                </a:solidFill>
                <a:latin typeface="Arial"/>
              </a:rPr>
              <a:t>Mentor: </a:t>
            </a:r>
            <a:r>
              <a:rPr sz="1600" b="1" i="0">
                <a:solidFill>
                  <a:srgbClr val="1F1F1F"/>
                </a:solidFill>
                <a:latin typeface="Arial"/>
              </a:rPr>
              <a:t>Dr. Santwana Gudadhe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Arial"/>
              </a:rPr>
              <a:t>Pimpri Chinchwad College of Engineering, Pune</a:t>
            </a:r>
          </a:p>
        </p:txBody>
      </p:sp>
      <p:sp>
        <p:nvSpPr>
          <p:cNvPr id="7" name="Emblem orange ring"/>
          <p:cNvSpPr/>
          <p:nvPr/>
        </p:nvSpPr>
        <p:spPr>
          <a:xfrm>
            <a:off x="7388352" y="1170432"/>
            <a:ext cx="4288536" cy="4288536"/>
          </a:xfrm>
          <a:prstGeom prst="ellipse">
            <a:avLst/>
          </a:prstGeom>
          <a:noFill/>
          <a:ln w="44450">
            <a:solidFill>
              <a:srgbClr val="FD7E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" name="Emblem circle"/>
          <p:cNvSpPr/>
          <p:nvPr/>
        </p:nvSpPr>
        <p:spPr>
          <a:xfrm>
            <a:off x="7589520" y="1371600"/>
            <a:ext cx="3886200" cy="388620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Emblem ring"/>
          <p:cNvSpPr/>
          <p:nvPr/>
        </p:nvSpPr>
        <p:spPr>
          <a:xfrm>
            <a:off x="7882127" y="1664208"/>
            <a:ext cx="3300984" cy="3300984"/>
          </a:xfrm>
          <a:prstGeom prst="ellipse">
            <a:avLst/>
          </a:prstGeom>
          <a:noFill/>
          <a:ln w="12700">
            <a:solidFill>
              <a:srgbClr val="4A78C2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Emblem text"/>
          <p:cNvSpPr txBox="1"/>
          <p:nvPr/>
        </p:nvSpPr>
        <p:spPr>
          <a:xfrm>
            <a:off x="7818120" y="2011680"/>
            <a:ext cx="3429000" cy="2651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Qwen2.5-VL-7B</a:t>
            </a:r>
          </a:p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FFB46B"/>
                </a:solidFill>
                <a:latin typeface="Arial"/>
              </a:rPr>
              <a:t>+ QLoRA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CFE0F7"/>
                </a:solidFill>
                <a:latin typeface="Arial"/>
              </a:rPr>
              <a:t>Tomato  ·  Mango</a:t>
            </a:r>
          </a:p>
          <a:p>
            <a:pPr algn="ctr">
              <a:spcAft>
                <a:spcPts val="1200"/>
              </a:spcAft>
            </a:pPr>
            <a:r>
              <a:rPr sz="1300" b="0" i="0">
                <a:solidFill>
                  <a:srgbClr val="CFE0F7"/>
                </a:solidFill>
                <a:latin typeface="Arial"/>
              </a:rPr>
              <a:t>Disease &amp; Pest Classification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ICAIN 2026 · Accepted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6355080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" y="6291072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6227064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952" y="6163056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" y="6099048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6035040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97864" y="5971032"/>
            <a:ext cx="45720" cy="457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7941D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2D75"/>
                </a:solidFill>
                <a:latin typeface="Arial"/>
              </a:rPr>
              <a:t>Project Card</a:t>
            </a:r>
          </a:p>
        </p:txBody>
      </p:sp>
      <p:sp>
        <p:nvSpPr>
          <p:cNvPr id="4" name="Bottom bar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629400"/>
            <a:ext cx="7315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235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61288"/>
            <a:ext cx="53035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Start Date and End Date of the Project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Start Date:   </a:t>
            </a:r>
            <a:r>
              <a:rPr sz="1300" b="1" i="0">
                <a:solidFill>
                  <a:srgbClr val="1F5FBF"/>
                </a:solidFill>
                <a:latin typeface="Arial"/>
              </a:rPr>
              <a:t>01 December 2025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End Date:     </a:t>
            </a:r>
            <a:r>
              <a:rPr sz="1300" b="1" i="0">
                <a:solidFill>
                  <a:srgbClr val="1F5FBF"/>
                </a:solidFill>
                <a:latin typeface="Arial"/>
              </a:rPr>
              <a:t>30 September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4028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53035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Awards/Recognition</a:t>
            </a:r>
          </a:p>
          <a:p>
            <a:pPr algn="l" marL="155448" indent="-155448">
              <a:spcAft>
                <a:spcPts val="3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Research paper </a:t>
            </a:r>
            <a:r>
              <a:rPr sz="1200" b="1" i="0">
                <a:solidFill>
                  <a:srgbClr val="1F1F1F"/>
                </a:solidFill>
                <a:latin typeface="Arial"/>
              </a:rPr>
              <a:t>accepted for publication</a:t>
            </a:r>
            <a:r>
              <a:rPr sz="1200" b="0" i="0">
                <a:solidFill>
                  <a:srgbClr val="1F1F1F"/>
                </a:solidFill>
                <a:latin typeface="Arial"/>
              </a:rPr>
              <a:t> in the Proceedings of ICAIN 2026 – Springer LNNS Series (Submission ID 953).</a:t>
            </a:r>
          </a:p>
          <a:p>
            <a:pPr algn="l" marL="155448" indent="-155448">
              <a:spcAft>
                <a:spcPts val="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Acceptance notification: paper among the top 20% of papers received/reviewed.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2697480" cy="25146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70432"/>
            <a:ext cx="2697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Total Sanctioned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974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D7E00"/>
                </a:solidFill>
                <a:latin typeface="Arial"/>
              </a:rPr>
              <a:t>₹ </a:t>
            </a:r>
            <a:r>
              <a:rPr sz="4000" b="1" i="0">
                <a:solidFill>
                  <a:srgbClr val="1F1F1F"/>
                </a:solidFill>
                <a:latin typeface="Arial"/>
              </a:rPr>
              <a:t>2.40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78608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F5FBF"/>
                </a:solidFill>
                <a:latin typeface="Arial"/>
              </a:rPr>
              <a:t>Lakhs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697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₹1.20 L per fellow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097280"/>
            <a:ext cx="2697480" cy="25146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170432"/>
            <a:ext cx="2697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Total Amount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Disbursed from TIH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6974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D7E00"/>
                </a:solidFill>
                <a:latin typeface="Arial"/>
              </a:rPr>
              <a:t>₹ </a:t>
            </a:r>
            <a:r>
              <a:rPr sz="4000" b="1" i="0">
                <a:solidFill>
                  <a:srgbClr val="1F1F1F"/>
                </a:solidFill>
                <a:latin typeface="Arial"/>
              </a:rPr>
              <a:t>1.92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578608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F5FBF"/>
                </a:solidFill>
                <a:latin typeface="Arial"/>
              </a:rPr>
              <a:t>Lakhs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017520"/>
            <a:ext cx="2697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₹0.96 L per fellow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639312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Arial"/>
              </a:rPr>
              <a:t>Balance against sanction: ₹0.48 Lakh (not yet received)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05072"/>
            <a:ext cx="3721608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069080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Team &amp; Project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498848"/>
            <a:ext cx="3429000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Fellows: </a:t>
            </a:r>
            <a:r>
              <a:rPr sz="1200" b="0" i="0">
                <a:solidFill>
                  <a:srgbClr val="1F1F1F"/>
                </a:solidFill>
                <a:latin typeface="Arial"/>
              </a:rPr>
              <a:t>Kamaaksha Rajendra Kharul, Aakash Trimbak Jawle</a:t>
            </a:r>
          </a:p>
          <a:p>
            <a:pPr algn="l" marL="155448" indent="-155448"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Mentor: </a:t>
            </a:r>
            <a:r>
              <a:rPr sz="1200" b="0" i="0">
                <a:solidFill>
                  <a:srgbClr val="1F1F1F"/>
                </a:solidFill>
                <a:latin typeface="Arial"/>
              </a:rPr>
              <a:t>Dr. Santwana Gudadhe</a:t>
            </a:r>
          </a:p>
          <a:p>
            <a:pPr algn="l" marL="155448" indent="-155448"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Institute: </a:t>
            </a:r>
            <a:r>
              <a:rPr sz="1200" b="0" i="0">
                <a:solidFill>
                  <a:srgbClr val="1F1F1F"/>
                </a:solidFill>
                <a:latin typeface="Arial"/>
              </a:rPr>
              <a:t>PCCOE, Pune</a:t>
            </a:r>
          </a:p>
          <a:p>
            <a:pPr algn="l" marL="155448" indent="-155448">
              <a:spcAft>
                <a:spcPts val="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Area: </a:t>
            </a:r>
            <a:r>
              <a:rPr sz="1200" b="0" i="0">
                <a:solidFill>
                  <a:srgbClr val="1F1F1F"/>
                </a:solidFill>
                <a:latin typeface="Arial"/>
              </a:rPr>
              <a:t>AgriTech — AI/ML, Computer Vision, Vision-Language 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005072"/>
            <a:ext cx="3721608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069080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IP / Patents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98848"/>
            <a:ext cx="3429000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No patent/IP filing was made during the project period.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Code released under Apache-2.0 (github.com/iAakash1/experimentation); private data and checkpoints excluded.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4005072"/>
            <a:ext cx="3721608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4E9A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069080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Commercialization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498848"/>
            <a:ext cx="3429000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No commercialization was undertaken during the project period.</a:t>
            </a:r>
          </a:p>
          <a:p>
            <a:pPr algn="l" marL="155448" indent="-155448"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Outputs are research workflows and trained adapters.</a:t>
            </a:r>
          </a:p>
          <a:p>
            <a:pPr algn="l" marL="155448" indent="-155448">
              <a:spcAft>
                <a:spcPts val="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Field validation on independently collected images is a prerequisite for any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1. Background and Problem Statement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33375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61872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664208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Agriculture Technology (AgriTech)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28600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359152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Focus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61488"/>
            <a:ext cx="3063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Vision-Language Models for image-based tomato and mango disease &amp; pest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794760"/>
            <a:ext cx="33375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867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Need for the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270248"/>
            <a:ext cx="306324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Reliable diagnosis needs models that can be adapted efficiently on limited hardware and that are evaluated honestly beyond their own training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1188720"/>
            <a:ext cx="813816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1261872"/>
            <a:ext cx="7772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2D75"/>
                </a:solidFill>
                <a:latin typeface="Arial"/>
              </a:rPr>
              <a:t>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719072"/>
            <a:ext cx="7772400" cy="2834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700"/>
              </a:spcAft>
              <a:buClr>
                <a:srgbClr val="002D75"/>
              </a:buClr>
              <a:buFont typeface="Arial"/>
              <a:buChar char="•"/>
            </a:pPr>
            <a:r>
              <a:rPr sz="1450" b="1" i="0">
                <a:solidFill>
                  <a:srgbClr val="1F1F1F"/>
                </a:solidFill>
                <a:latin typeface="Arial"/>
              </a:rPr>
              <a:t>Visually similar disease and pest symptoms </a:t>
            </a:r>
            <a:r>
              <a:rPr sz="1450" b="0" i="0">
                <a:solidFill>
                  <a:srgbClr val="1F1F1F"/>
                </a:solidFill>
                <a:latin typeface="Arial"/>
              </a:rPr>
              <a:t>complicate manual diagnosis and can delay intervention.</a:t>
            </a:r>
          </a:p>
          <a:p>
            <a:pPr algn="l" marL="155448" indent="-155448">
              <a:lnSpc>
                <a:spcPct val="105000"/>
              </a:lnSpc>
              <a:spcAft>
                <a:spcPts val="700"/>
              </a:spcAft>
              <a:buClr>
                <a:srgbClr val="002D75"/>
              </a:buClr>
              <a:buFont typeface="Arial"/>
              <a:buChar char="•"/>
            </a:pPr>
            <a:r>
              <a:rPr sz="1450" b="0" i="0">
                <a:solidFill>
                  <a:srgbClr val="1F1F1F"/>
                </a:solidFill>
                <a:latin typeface="Arial"/>
              </a:rPr>
              <a:t>The TIH tomato data mixes </a:t>
            </a:r>
            <a:r>
              <a:rPr sz="1450" b="1" i="0">
                <a:solidFill>
                  <a:srgbClr val="1F1F1F"/>
                </a:solidFill>
                <a:latin typeface="Arial"/>
              </a:rPr>
              <a:t>leaf and fruit diseases, pests and healthy classes</a:t>
            </a:r>
            <a:r>
              <a:rPr sz="1450" b="0" i="0">
                <a:solidFill>
                  <a:srgbClr val="1F1F1F"/>
                </a:solidFill>
                <a:latin typeface="Arial"/>
              </a:rPr>
              <a:t>; mango leaf symptoms (e.g., Die Back) overlap strongly.</a:t>
            </a:r>
          </a:p>
          <a:p>
            <a:pPr algn="l" marL="155448" indent="-155448">
              <a:lnSpc>
                <a:spcPct val="105000"/>
              </a:lnSpc>
              <a:spcAft>
                <a:spcPts val="700"/>
              </a:spcAft>
              <a:buClr>
                <a:srgbClr val="002D75"/>
              </a:buClr>
              <a:buFont typeface="Arial"/>
              <a:buChar char="•"/>
            </a:pPr>
            <a:r>
              <a:rPr sz="1450" b="0" i="0">
                <a:solidFill>
                  <a:srgbClr val="1F1F1F"/>
                </a:solidFill>
                <a:latin typeface="Arial"/>
              </a:rPr>
              <a:t>Expert visual inspection </a:t>
            </a:r>
            <a:r>
              <a:rPr sz="1450" b="1" i="0">
                <a:solidFill>
                  <a:srgbClr val="1F1F1F"/>
                </a:solidFill>
                <a:latin typeface="Arial"/>
              </a:rPr>
              <a:t>is difficult to scale</a:t>
            </a:r>
            <a:r>
              <a:rPr sz="1450" b="0" i="0">
                <a:solidFill>
                  <a:srgbClr val="1F1F1F"/>
                </a:solidFill>
                <a:latin typeface="Arial"/>
              </a:rPr>
              <a:t> and depends on expert availability.</a:t>
            </a:r>
          </a:p>
          <a:p>
            <a:pPr algn="l" marL="155448" indent="-155448">
              <a:lnSpc>
                <a:spcPct val="105000"/>
              </a:lnSpc>
              <a:spcAft>
                <a:spcPts val="700"/>
              </a:spcAft>
              <a:buClr>
                <a:srgbClr val="002D75"/>
              </a:buClr>
              <a:buFont typeface="Arial"/>
              <a:buChar char="•"/>
            </a:pPr>
            <a:r>
              <a:rPr sz="1450" b="0" i="0">
                <a:solidFill>
                  <a:srgbClr val="1F1F1F"/>
                </a:solidFill>
                <a:latin typeface="Arial"/>
              </a:rPr>
              <a:t>General-purpose VLMs fail zero-shot: </a:t>
            </a:r>
            <a:r>
              <a:rPr sz="1450" b="1" i="0">
                <a:solidFill>
                  <a:srgbClr val="1F1F1F"/>
                </a:solidFill>
                <a:latin typeface="Arial"/>
              </a:rPr>
              <a:t>7.3% (tomato) and 17.5% (mango)</a:t>
            </a:r>
            <a:r>
              <a:rPr sz="1450" b="0" i="0">
                <a:solidFill>
                  <a:srgbClr val="1F1F1F"/>
                </a:solidFill>
                <a:latin typeface="Arial"/>
              </a:rPr>
              <a:t> accuracy for base Qwen2.5-VL-7B.</a:t>
            </a:r>
          </a:p>
          <a:p>
            <a:pPr algn="l" marL="155448" indent="-155448">
              <a:lnSpc>
                <a:spcPct val="105000"/>
              </a:lnSpc>
              <a:spcAft>
                <a:spcPts val="0"/>
              </a:spcAft>
              <a:buClr>
                <a:srgbClr val="002D75"/>
              </a:buClr>
              <a:buFont typeface="Arial"/>
              <a:buChar char="•"/>
            </a:pPr>
            <a:r>
              <a:rPr sz="1450" b="0" i="0">
                <a:solidFill>
                  <a:srgbClr val="1F1F1F"/>
                </a:solidFill>
                <a:latin typeface="Arial"/>
              </a:rPr>
              <a:t>Full fine-tuning of 7B-parameter VLMs is costly, and accuracy </a:t>
            </a:r>
            <a:r>
              <a:rPr sz="1450" b="1" i="0">
                <a:solidFill>
                  <a:srgbClr val="1F1F1F"/>
                </a:solidFill>
                <a:latin typeface="Arial"/>
              </a:rPr>
              <a:t>depends strongly on acquisition conditions</a:t>
            </a:r>
            <a:r>
              <a:rPr sz="1450" b="0" i="0">
                <a:solidFill>
                  <a:srgbClr val="1F1F1F"/>
                </a:solidFill>
                <a:latin typeface="Arial"/>
              </a:rPr>
              <a:t> — in-domain scores may not transfer.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4800600"/>
            <a:ext cx="8138160" cy="1645920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4846320"/>
            <a:ext cx="7772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2D75"/>
                </a:solidFill>
                <a:latin typeface="Arial"/>
              </a:rPr>
              <a:t>Problem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257800"/>
            <a:ext cx="758952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To adapt a general-purpose </a:t>
            </a:r>
            <a:r>
              <a:rPr sz="1400" b="1" i="0">
                <a:solidFill>
                  <a:srgbClr val="1F1F1F"/>
                </a:solidFill>
                <a:latin typeface="Arial"/>
              </a:rPr>
              <a:t>vision-language model</a:t>
            </a:r>
            <a:r>
              <a:rPr sz="1400" b="0" i="0">
                <a:solidFill>
                  <a:srgbClr val="1F1F1F"/>
                </a:solidFill>
                <a:latin typeface="Arial"/>
              </a:rPr>
              <a:t> for accurate multi-class tomato and mango disease &amp; pest classification on </a:t>
            </a:r>
            <a:r>
              <a:rPr sz="1400" b="1" i="0">
                <a:solidFill>
                  <a:srgbClr val="1F1F1F"/>
                </a:solidFill>
                <a:latin typeface="Arial"/>
              </a:rPr>
              <a:t>workstation-class hardware</a:t>
            </a:r>
            <a:r>
              <a:rPr sz="1400" b="0" i="0">
                <a:solidFill>
                  <a:srgbClr val="1F1F1F"/>
                </a:solidFill>
                <a:latin typeface="Arial"/>
              </a:rPr>
              <a:t>, using audited, reproducible data pipelines, and to </a:t>
            </a:r>
            <a:r>
              <a:rPr sz="1400" b="1" i="0">
                <a:solidFill>
                  <a:srgbClr val="1F1F1F"/>
                </a:solidFill>
                <a:latin typeface="Arial"/>
              </a:rPr>
              <a:t>quantify how well it generalises</a:t>
            </a:r>
            <a:r>
              <a:rPr sz="1400" b="0" i="0">
                <a:solidFill>
                  <a:srgbClr val="1F1F1F"/>
                </a:solidFill>
                <a:latin typeface="Arial"/>
              </a:rPr>
              <a:t> to independently collected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2. Objectives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11658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2063" y="1289304"/>
            <a:ext cx="713232" cy="713232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2647" y="138988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1481328"/>
            <a:ext cx="329184" cy="329184"/>
          </a:xfrm>
          <a:prstGeom prst="ellipse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15727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325880"/>
            <a:ext cx="27432" cy="64008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1216152"/>
            <a:ext cx="1014984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To develop and rigorously evaluate a </a:t>
            </a:r>
            <a:r>
              <a:rPr sz="1500" b="1" i="0">
                <a:solidFill>
                  <a:srgbClr val="1F5FBF"/>
                </a:solidFill>
                <a:latin typeface="Arial"/>
              </a:rPr>
              <a:t>parameter-efficient, reproducible vision-language-model workflow</a:t>
            </a:r>
            <a:r>
              <a:rPr sz="1500" b="0" i="0">
                <a:solidFill>
                  <a:srgbClr val="1F1F1F"/>
                </a:solidFill>
                <a:latin typeface="Arial"/>
              </a:rPr>
              <a:t> for </a:t>
            </a:r>
            <a:r>
              <a:rPr sz="1500" b="1" i="0">
                <a:solidFill>
                  <a:srgbClr val="1F5FBF"/>
                </a:solidFill>
                <a:latin typeface="Arial"/>
              </a:rPr>
              <a:t>tomato and mango disease and pest classification</a:t>
            </a:r>
            <a:r>
              <a:rPr sz="1500" b="0" i="0">
                <a:solidFill>
                  <a:srgbClr val="1F1F1F"/>
                </a:solidFill>
                <a:latin typeface="Arial"/>
              </a:rPr>
              <a:t>, including an honest assessment of cross-domain generalisation.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286000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2532888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532888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359152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02D75"/>
                </a:solidFill>
                <a:latin typeface="Arial"/>
              </a:rPr>
              <a:t>Investigate VLMs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24912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Screen multiple VLM families and select a backbone for crop diagnosis.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286000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2532888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532888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359152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02D75"/>
                </a:solidFill>
                <a:latin typeface="Arial"/>
              </a:rPr>
              <a:t>Curate &amp; Audit Datasets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724912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Verify images, remove duplicates and label conflicts, freeze splits.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337560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" y="3584448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584448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5A00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410712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C05A00"/>
                </a:solidFill>
                <a:latin typeface="Arial"/>
              </a:rPr>
              <a:t>Parameter-Efficient Fine-Tuning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776472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Adapt Qwen2.5-VL-7B-Instruct with QLoRA on a single 24 GB GPU.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37560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36792" y="3584448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84448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5A00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410712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C05A00"/>
                </a:solidFill>
                <a:latin typeface="Arial"/>
              </a:rPr>
              <a:t>Tomato 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776472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Train and evaluate an 11-class tomato disease and pest classifier.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389120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" y="4636008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636008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8449"/>
                </a:solidFill>
                <a:latin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462272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E8449"/>
                </a:solidFill>
                <a:latin typeface="Arial"/>
              </a:rPr>
              <a:t>Mango Classification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28031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Fine-tune and evaluate an 8-class mango leaf disease model.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389120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36792" y="4636008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4636008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8449"/>
                </a:solidFill>
                <a:latin typeface="Arial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462272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E8449"/>
                </a:solidFill>
                <a:latin typeface="Arial"/>
              </a:rPr>
              <a:t>Cross-Domain 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828031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Measure generalisation on an independent external benchmark.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440679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8912" y="5687567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5687567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6F3FA0"/>
                </a:solidFill>
                <a:latin typeface="Arial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513831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6F3FA0"/>
                </a:solidFill>
                <a:latin typeface="Arial"/>
              </a:rPr>
              <a:t>Knowledge-Grounded Diagnosis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879592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Build cited disease knowledge, ontology and controlled vocabulary.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5440679"/>
            <a:ext cx="57607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36792" y="5687567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5687567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6F3FA0"/>
                </a:solidFill>
                <a:latin typeface="Arial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513831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6F3FA0"/>
                </a:solidFill>
                <a:latin typeface="Arial"/>
              </a:rPr>
              <a:t>Reproducibility &amp; Publication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5879592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Release tested, config-driven code and publish the findings.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3. Expected Benefits of the Project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760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685800" cy="685800"/>
          </a:xfrm>
          <a:prstGeom prst="ellipse">
            <a:avLst/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68580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325880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Automated Disease &amp; Pest 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3736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Image-based classification that reduces dependence on manual inspection.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88720"/>
            <a:ext cx="5760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1463040"/>
            <a:ext cx="685800" cy="68580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68580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E844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325880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Arial"/>
              </a:rPr>
              <a:t>Efficient Use of Large VLMs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73736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40.37 M trainable LoRA parameters and 10.57 GB peak memory on one 24 GB GPU.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560320"/>
            <a:ext cx="5760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2834639"/>
            <a:ext cx="685800" cy="685800"/>
          </a:xfrm>
          <a:prstGeom prst="ellipse">
            <a:avLst/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34639"/>
            <a:ext cx="68580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C05A00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697479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05A00"/>
                </a:solidFill>
                <a:latin typeface="Arial"/>
              </a:rPr>
              <a:t>Cleaner, Leak-Free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10896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Audit removed 550 duplicate/contradictory files; no image appears in two splits.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60320"/>
            <a:ext cx="5760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5080" y="2834639"/>
            <a:ext cx="685800" cy="685800"/>
          </a:xfrm>
          <a:prstGeom prst="ellipse">
            <a:avLst/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834639"/>
            <a:ext cx="68580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6F3FA0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697479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F3FA0"/>
                </a:solidFill>
                <a:latin typeface="Arial"/>
              </a:rPr>
              <a:t>Reusable, Reproducible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0896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Config-driven pipelines, fixed seeds, split hashes, preflight checks and tests.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31920"/>
            <a:ext cx="5760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4206240"/>
            <a:ext cx="685800" cy="685800"/>
          </a:xfrm>
          <a:prstGeom prst="ellipse">
            <a:avLst/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68580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069080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Honest Robustness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480559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Internal vs external evaluation pinpoints weak classes (e.g., Late Blight).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931920"/>
            <a:ext cx="5760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55080" y="4206240"/>
            <a:ext cx="685800" cy="68580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206240"/>
            <a:ext cx="68580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E8449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069080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Arial"/>
              </a:rPr>
              <a:t>Extensible to More Crops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480559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The same recipe was applied to tomato and mango and can be reused for new crops.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376672"/>
            <a:ext cx="11658600" cy="1115568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376672"/>
            <a:ext cx="237744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2D75"/>
                </a:solidFill>
                <a:latin typeface="Arial"/>
              </a:rPr>
              <a:t>Overall Benefit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5577840"/>
            <a:ext cx="27432" cy="713232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5394960"/>
            <a:ext cx="873252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F1F1F"/>
                </a:solidFill>
                <a:latin typeface="Arial"/>
              </a:rPr>
              <a:t>A </a:t>
            </a:r>
            <a:r>
              <a:rPr sz="1450" b="1" i="0">
                <a:solidFill>
                  <a:srgbClr val="1F5FBF"/>
                </a:solidFill>
                <a:latin typeface="Arial"/>
              </a:rPr>
              <a:t>reproducible, parameter-efficient</a:t>
            </a:r>
            <a:r>
              <a:rPr sz="1450" b="0" i="0">
                <a:solidFill>
                  <a:srgbClr val="1F1F1F"/>
                </a:solidFill>
                <a:latin typeface="Arial"/>
              </a:rPr>
              <a:t> VLM workflow for tomato and mango disease classification, with </a:t>
            </a:r>
            <a:r>
              <a:rPr sz="1450" b="1" i="0">
                <a:solidFill>
                  <a:srgbClr val="1F5FBF"/>
                </a:solidFill>
                <a:latin typeface="Arial"/>
              </a:rPr>
              <a:t>transparent evaluation</a:t>
            </a:r>
            <a:r>
              <a:rPr sz="1450" b="0" i="0">
                <a:solidFill>
                  <a:srgbClr val="1F1F1F"/>
                </a:solidFill>
                <a:latin typeface="Arial"/>
              </a:rPr>
              <a:t> that shows what data is needed before future field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4. Major Milestones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1463040"/>
            <a:ext cx="10100462" cy="0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94944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D75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2D75"/>
                </a:solidFill>
                <a:latin typeface="Arial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2D75"/>
                </a:solidFill>
                <a:latin typeface="Arial"/>
              </a:rPr>
              <a:t>Project Initiation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75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02D75"/>
                </a:solidFill>
                <a:latin typeface="Arial"/>
              </a:rPr>
              <a:t>Dec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Fellowship began 1 Dec 2025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Problem scoping; dataset &amp; model exploration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2137867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5A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7867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05A00"/>
                </a:solidFill>
                <a:latin typeface="Arial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17243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2107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05A00"/>
                </a:solidFill>
                <a:latin typeface="Arial"/>
              </a:rPr>
              <a:t>VLM Screening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6971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5A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6971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05A00"/>
                </a:solidFill>
                <a:latin typeface="Arial"/>
              </a:rPr>
              <a:t>Jun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2107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C05A0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LLaVA-1.5/1.6, BLIP-2, Florence-2 trialled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C05A0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Qwen2.5-VL-7B selected as backbone</a:t>
            </a:r>
          </a:p>
        </p:txBody>
      </p:sp>
      <p:sp>
        <p:nvSpPr>
          <p:cNvPr id="23" name="Oval 22"/>
          <p:cNvSpPr/>
          <p:nvPr/>
        </p:nvSpPr>
        <p:spPr>
          <a:xfrm>
            <a:off x="3580790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0790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0166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5030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Arial"/>
              </a:rPr>
              <a:t>Zero-shot &amp; 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9894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E8449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69894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Jun–Jul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5030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1E8449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Multi-VLM zero-shot benchmark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1E8449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CLIP-based OOD screening explored</a:t>
            </a:r>
          </a:p>
        </p:txBody>
      </p:sp>
      <p:sp>
        <p:nvSpPr>
          <p:cNvPr id="30" name="Oval 29"/>
          <p:cNvSpPr/>
          <p:nvPr/>
        </p:nvSpPr>
        <p:spPr>
          <a:xfrm>
            <a:off x="5023713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F3FA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3713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F3FA0"/>
                </a:solidFill>
                <a:latin typeface="Arial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03089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7953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6F3FA0"/>
                </a:solidFill>
                <a:latin typeface="Arial"/>
              </a:rPr>
              <a:t>Knowledge-Grounded PlantDx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12817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F3FA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2817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6F3FA0"/>
                </a:solidFill>
                <a:latin typeface="Arial"/>
              </a:rPr>
              <a:t>Jul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7953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F3FA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Cited knowledge base (18 conditions)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F3FA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Ontology, vocabulary, caption corpus</a:t>
            </a:r>
          </a:p>
        </p:txBody>
      </p:sp>
      <p:sp>
        <p:nvSpPr>
          <p:cNvPr id="37" name="Oval 36"/>
          <p:cNvSpPr/>
          <p:nvPr/>
        </p:nvSpPr>
        <p:spPr>
          <a:xfrm>
            <a:off x="6466636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D75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6636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2D75"/>
                </a:solidFill>
                <a:latin typeface="Arial"/>
              </a:rP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46012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0876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2D75"/>
                </a:solidFill>
                <a:latin typeface="Arial"/>
              </a:rPr>
              <a:t>MLX QLoRA: Tomato &amp; Mango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5740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75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5740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02D75"/>
                </a:solidFill>
                <a:latin typeface="Arial"/>
              </a:rPr>
              <a:t>Jul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0876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Tomato 7.3% → 93.7%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Mango 17.5% → 82.0%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Streamlit demo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5A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05A00"/>
                </a:solidFill>
                <a:latin typeface="Arial"/>
              </a:rPr>
              <a:t>06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88936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05A00"/>
                </a:solidFill>
                <a:latin typeface="Arial"/>
              </a:rPr>
              <a:t>TIH Dataset Audit &amp; QLoRA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98664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5A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98664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05A00"/>
                </a:solidFill>
                <a:latin typeface="Arial"/>
              </a:rPr>
              <a:t>Aug–Sep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C05A0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7,095 → 6,545 images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C05A0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CUDA QLoRA; LoRA r 32 → 64</a:t>
            </a:r>
          </a:p>
        </p:txBody>
      </p:sp>
      <p:sp>
        <p:nvSpPr>
          <p:cNvPr id="51" name="Oval 50"/>
          <p:cNvSpPr/>
          <p:nvPr/>
        </p:nvSpPr>
        <p:spPr>
          <a:xfrm>
            <a:off x="9352483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2483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07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31859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6723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Arial"/>
              </a:rPr>
              <a:t>Internal + External Evaluation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41587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E8449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41587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Sep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6723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1E8449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Internal: 92.76% accuracy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1E8449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External: 69.32% accuracy</a:t>
            </a:r>
          </a:p>
        </p:txBody>
      </p:sp>
      <p:sp>
        <p:nvSpPr>
          <p:cNvPr id="58" name="Oval 57"/>
          <p:cNvSpPr/>
          <p:nvPr/>
        </p:nvSpPr>
        <p:spPr>
          <a:xfrm>
            <a:off x="10795406" y="119786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F3FA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95406" y="1197864"/>
            <a:ext cx="530352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F3FA0"/>
                </a:solidFill>
                <a:latin typeface="Arial"/>
              </a:rPr>
              <a:t>08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74782" y="1874519"/>
            <a:ext cx="1371600" cy="3611880"/>
          </a:xfrm>
          <a:prstGeom prst="roundRect">
            <a:avLst>
              <a:gd name="adj" fmla="val 8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9646" y="1938528"/>
            <a:ext cx="126187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6F3FA0"/>
                </a:solidFill>
                <a:latin typeface="Arial"/>
              </a:rPr>
              <a:t>ICAIN 2026 Paper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84510" y="2761488"/>
            <a:ext cx="115214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F3FA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84510" y="2761488"/>
            <a:ext cx="115214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6F3FA0"/>
                </a:solidFill>
                <a:latin typeface="Arial"/>
              </a:rPr>
              <a:t>Oct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9646" y="3200400"/>
            <a:ext cx="1261872" cy="2240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F3FA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Accepted for publication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F3FA0"/>
              </a:buClr>
              <a:buFont typeface="Arial"/>
              <a:buChar char="•"/>
            </a:pPr>
            <a:r>
              <a:rPr sz="1050" b="0" i="0">
                <a:solidFill>
                  <a:srgbClr val="1F1F1F"/>
                </a:solidFill>
                <a:latin typeface="Arial"/>
              </a:rPr>
              <a:t>Springer LNNS · ID 953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5623560"/>
            <a:ext cx="8732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623560"/>
            <a:ext cx="13258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Project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Progression</a:t>
            </a:r>
          </a:p>
        </p:txBody>
      </p:sp>
      <p:sp>
        <p:nvSpPr>
          <p:cNvPr id="67" name="Pentagon 66"/>
          <p:cNvSpPr/>
          <p:nvPr/>
        </p:nvSpPr>
        <p:spPr>
          <a:xfrm>
            <a:off x="1691640" y="5788152"/>
            <a:ext cx="1243584" cy="603504"/>
          </a:xfrm>
          <a:prstGeom prst="homePlate">
            <a:avLst>
              <a:gd name="adj" fmla="val 30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37360" y="5788152"/>
            <a:ext cx="1106424" cy="60350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VLM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Exploration</a:t>
            </a:r>
          </a:p>
        </p:txBody>
      </p:sp>
      <p:sp>
        <p:nvSpPr>
          <p:cNvPr id="69" name="Chevron 68"/>
          <p:cNvSpPr/>
          <p:nvPr/>
        </p:nvSpPr>
        <p:spPr>
          <a:xfrm>
            <a:off x="2889504" y="5788152"/>
            <a:ext cx="1243584" cy="603504"/>
          </a:xfrm>
          <a:prstGeom prst="chevron">
            <a:avLst>
              <a:gd name="adj" fmla="val 30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90672" y="5788152"/>
            <a:ext cx="969264" cy="60350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Knowledge-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Grounded PlantDx</a:t>
            </a:r>
          </a:p>
        </p:txBody>
      </p:sp>
      <p:sp>
        <p:nvSpPr>
          <p:cNvPr id="71" name="Chevron 70"/>
          <p:cNvSpPr/>
          <p:nvPr/>
        </p:nvSpPr>
        <p:spPr>
          <a:xfrm>
            <a:off x="4087368" y="5788152"/>
            <a:ext cx="1243584" cy="603504"/>
          </a:xfrm>
          <a:prstGeom prst="chevron">
            <a:avLst>
              <a:gd name="adj" fmla="val 30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88536" y="5788152"/>
            <a:ext cx="969264" cy="60350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MLX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Fine-Tuning</a:t>
            </a:r>
          </a:p>
        </p:txBody>
      </p:sp>
      <p:sp>
        <p:nvSpPr>
          <p:cNvPr id="73" name="Chevron 72"/>
          <p:cNvSpPr/>
          <p:nvPr/>
        </p:nvSpPr>
        <p:spPr>
          <a:xfrm>
            <a:off x="5285232" y="5788152"/>
            <a:ext cx="1243584" cy="603504"/>
          </a:xfrm>
          <a:prstGeom prst="chevron">
            <a:avLst>
              <a:gd name="adj" fmla="val 30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0" y="5788152"/>
            <a:ext cx="969264" cy="60350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TIH QLoRA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Benchmark</a:t>
            </a:r>
          </a:p>
        </p:txBody>
      </p:sp>
      <p:sp>
        <p:nvSpPr>
          <p:cNvPr id="75" name="Chevron 74"/>
          <p:cNvSpPr/>
          <p:nvPr/>
        </p:nvSpPr>
        <p:spPr>
          <a:xfrm>
            <a:off x="6483096" y="5788152"/>
            <a:ext cx="1243584" cy="603504"/>
          </a:xfrm>
          <a:prstGeom prst="chevron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84264" y="5788152"/>
            <a:ext cx="969264" cy="60350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Cross-Domain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Evaluation</a:t>
            </a:r>
          </a:p>
        </p:txBody>
      </p:sp>
      <p:sp>
        <p:nvSpPr>
          <p:cNvPr id="77" name="Chevron 76"/>
          <p:cNvSpPr/>
          <p:nvPr/>
        </p:nvSpPr>
        <p:spPr>
          <a:xfrm>
            <a:off x="7680960" y="5788152"/>
            <a:ext cx="1243584" cy="603504"/>
          </a:xfrm>
          <a:prstGeom prst="chevron">
            <a:avLst>
              <a:gd name="adj" fmla="val 30000"/>
            </a:avLst>
          </a:prstGeom>
          <a:solidFill>
            <a:srgbClr val="FFF8D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82128" y="5788152"/>
            <a:ext cx="969264" cy="60350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002D75"/>
                </a:solidFill>
                <a:latin typeface="Arial"/>
              </a:rPr>
              <a:t>Publication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89720" y="5623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326880" y="5833872"/>
            <a:ext cx="502920" cy="5029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1" name="5-Point Star 80"/>
          <p:cNvSpPr/>
          <p:nvPr/>
        </p:nvSpPr>
        <p:spPr>
          <a:xfrm>
            <a:off x="9436608" y="5934456"/>
            <a:ext cx="283464" cy="283464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21240" y="5650992"/>
            <a:ext cx="19659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Project Closure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BF"/>
                </a:solidFill>
                <a:latin typeface="Arial"/>
              </a:rPr>
              <a:t>30 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5. Shortfalls and Reasons in Achievements of Milestones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43000"/>
            <a:ext cx="11658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1243584"/>
            <a:ext cx="402336" cy="402336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43584"/>
            <a:ext cx="402336" cy="402336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143000"/>
            <a:ext cx="108813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Core milestones were completed; the items below required additional iterations or remain open, and are reported transparently.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874519"/>
            <a:ext cx="11658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1874519"/>
            <a:ext cx="2880360" cy="969264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47672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74519"/>
            <a:ext cx="2194560" cy="9692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Model Selection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(Early VLMs)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39"/>
            <a:ext cx="548640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LLaVA-1.5 / 1.6: batch-collation incompatibility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Florence-2: environment issues; BLIP-2: unreliable structured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011679"/>
            <a:ext cx="22860" cy="694944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20239"/>
            <a:ext cx="278892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002D75"/>
                </a:solidFill>
                <a:latin typeface="Arial"/>
              </a:rPr>
              <a:t>Impact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Extra iterations before converging on Qwen2.5-VL-7B-Instruct.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935224"/>
            <a:ext cx="11658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2935224"/>
            <a:ext cx="2880360" cy="969264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008376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935224"/>
            <a:ext cx="2194560" cy="9692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Cross-Domain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Generalisation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980944"/>
            <a:ext cx="548640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C0392B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External accuracy 69.32% vs 92.76% internal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C0392B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Late Blight external F1 14.29% (11 of 20 → Target Leaf Spot)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3072384"/>
            <a:ext cx="22860" cy="694944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980944"/>
            <a:ext cx="278892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Impact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Not yet field-ready; diverse, field-acquired data is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995927"/>
            <a:ext cx="11658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" y="3995927"/>
            <a:ext cx="2880360" cy="969264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069079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05A00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95927"/>
            <a:ext cx="2194560" cy="9692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5A00"/>
                </a:solidFill>
                <a:latin typeface="Arial"/>
              </a:rPr>
              <a:t>Compute &amp; Time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5A00"/>
                </a:solidFill>
                <a:latin typeface="Arial"/>
              </a:rPr>
              <a:t>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041647"/>
            <a:ext cx="548640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C05A0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3-hour wall-clock safeguard ended training at 2.909 of 3 epochs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C05A0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Single seed; no large hyper-parameter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4133087"/>
            <a:ext cx="22860" cy="694944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041647"/>
            <a:ext cx="278892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C05A00"/>
                </a:solidFill>
                <a:latin typeface="Arial"/>
              </a:rPr>
              <a:t>Impact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Results come from one run; repeated seeds are planned.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056631"/>
            <a:ext cx="11658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5056631"/>
            <a:ext cx="2880360" cy="969264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29783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F3FA0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56631"/>
            <a:ext cx="2194560" cy="9692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F3FA0"/>
                </a:solidFill>
                <a:latin typeface="Arial"/>
              </a:rPr>
              <a:t>Pending Scope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F3FA0"/>
                </a:solidFill>
                <a:latin typeface="Arial"/>
              </a:rPr>
              <a:t>Items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102351"/>
            <a:ext cx="548640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6F3FA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Image-grounded instruction builder and multi-model converters are still stubs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6F3FA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Mango Die Back F1 0.08 (MLX track)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5193792"/>
            <a:ext cx="22860" cy="694944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5102351"/>
            <a:ext cx="278892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6F3FA0"/>
                </a:solidFill>
                <a:latin typeface="Arial"/>
              </a:rPr>
              <a:t>Impact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Carried forward into future work.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6153912"/>
            <a:ext cx="11658600" cy="457200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53912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2D75"/>
                </a:solidFill>
                <a:latin typeface="Arial"/>
              </a:rPr>
              <a:t>Overall: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addressed through iterative configuration changes (LoRA r 32 → 64, image side 392 → 532 px) and transparent reporting of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Technical Achievements — Overall Approach &amp; Datasets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274320" y="1188720"/>
            <a:ext cx="1216152" cy="841248"/>
          </a:xfrm>
          <a:prstGeom prst="homePlate">
            <a:avLst>
              <a:gd name="adj" fmla="val 30000"/>
            </a:avLst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188720"/>
            <a:ext cx="1088136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Dataset</a:t>
            </a:r>
          </a:p>
        </p:txBody>
      </p:sp>
      <p:sp>
        <p:nvSpPr>
          <p:cNvPr id="10" name="Chevron 9"/>
          <p:cNvSpPr/>
          <p:nvPr/>
        </p:nvSpPr>
        <p:spPr>
          <a:xfrm>
            <a:off x="1431036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5356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Data Audit</a:t>
            </a:r>
          </a:p>
        </p:txBody>
      </p:sp>
      <p:sp>
        <p:nvSpPr>
          <p:cNvPr id="12" name="Chevron 11"/>
          <p:cNvSpPr/>
          <p:nvPr/>
        </p:nvSpPr>
        <p:spPr>
          <a:xfrm>
            <a:off x="2587752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Cleaning 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Dedup</a:t>
            </a:r>
          </a:p>
        </p:txBody>
      </p:sp>
      <p:sp>
        <p:nvSpPr>
          <p:cNvPr id="14" name="Chevron 13"/>
          <p:cNvSpPr/>
          <p:nvPr/>
        </p:nvSpPr>
        <p:spPr>
          <a:xfrm>
            <a:off x="3744468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8788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Dataset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Construction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4901184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VLM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(Qwen2.5-VL)</a:t>
            </a:r>
          </a:p>
        </p:txBody>
      </p:sp>
      <p:sp>
        <p:nvSpPr>
          <p:cNvPr id="18" name="Chevron 17"/>
          <p:cNvSpPr/>
          <p:nvPr/>
        </p:nvSpPr>
        <p:spPr>
          <a:xfrm>
            <a:off x="6057900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2220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QLoRA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Fine-Tuning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7214616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8371332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5652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Internal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24" name="Chevron 23"/>
          <p:cNvSpPr/>
          <p:nvPr/>
        </p:nvSpPr>
        <p:spPr>
          <a:xfrm>
            <a:off x="9528048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External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Benchmark</a:t>
            </a:r>
          </a:p>
        </p:txBody>
      </p:sp>
      <p:sp>
        <p:nvSpPr>
          <p:cNvPr id="26" name="Chevron 25"/>
          <p:cNvSpPr/>
          <p:nvPr/>
        </p:nvSpPr>
        <p:spPr>
          <a:xfrm>
            <a:off x="10684764" y="1188720"/>
            <a:ext cx="1216152" cy="841248"/>
          </a:xfrm>
          <a:prstGeom prst="chevron">
            <a:avLst>
              <a:gd name="adj" fmla="val 30000"/>
            </a:avLst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59084" y="1188720"/>
            <a:ext cx="868680" cy="8412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Cross-Domain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075688"/>
            <a:ext cx="4663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2D75"/>
                </a:solidFill>
                <a:latin typeface="Arial"/>
              </a:rPr>
              <a:t>Data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075688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Model adaptation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075688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C05A00"/>
                </a:solidFill>
                <a:latin typeface="Arial"/>
              </a:rPr>
              <a:t>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2468880"/>
            <a:ext cx="37947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2468880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2468880"/>
            <a:ext cx="35661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5A00"/>
                </a:solidFill>
                <a:latin typeface="Arial"/>
              </a:rPr>
              <a:t>Track A · TIH Tomato (ICAIN 2026)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3108960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5A00"/>
                </a:solidFill>
                <a:latin typeface="Arial"/>
              </a:rPr>
              <a:t>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108960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Tomato_12thAug26 (private, TIH)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584448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5A00"/>
                </a:solidFill>
                <a:latin typeface="Arial"/>
              </a:rPr>
              <a:t>Classes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3584448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11 — diseases, pests, healthy; leaf &amp; fruit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059935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5A00"/>
                </a:solidFill>
                <a:latin typeface="Arial"/>
              </a:rPr>
              <a:t>Images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059935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7,095 raw → 6,545 retained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4535424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5A00"/>
                </a:solidFill>
                <a:latin typeface="Arial"/>
              </a:rPr>
              <a:t>Split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535424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5,247 / 649 / 649 (80/10/10)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010912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5A00"/>
                </a:solidFill>
                <a:latin typeface="Arial"/>
              </a:rPr>
              <a:t>External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010912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176 images, 10 classes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486400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5A00"/>
                </a:solidFill>
                <a:latin typeface="Arial"/>
              </a:rPr>
              <a:t>Hardware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486400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NVIDIA RTX 4500 Ada, 24 GB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2468880"/>
            <a:ext cx="37947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06240" y="2468880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2468880"/>
            <a:ext cx="35661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Track B · PlantDx Tomato (MLX)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3108960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Dataset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59" y="3108960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PlantVillage tomato subset (public)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3584448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Classes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59" y="3584448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10 leaf conditions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4059935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Train split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59" y="4059935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16,201 images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4535424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Test split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59" y="4535424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910 (image-grouped)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43400" y="5010912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Supervision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59" y="5010912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Knowledge-grounded captions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3400" y="5486400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Hardware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59" y="5486400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Apple Silicon, 24 GB unified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2468880"/>
            <a:ext cx="37947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138160" y="2468880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20" y="2468880"/>
            <a:ext cx="35661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449"/>
                </a:solidFill>
                <a:latin typeface="Arial"/>
              </a:rPr>
              <a:t>Track B · PlantDx Mango (MLX)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3108960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Dataset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3108960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MangoLeafBD (public)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584448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Classes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3584448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8 leaf conditions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4059935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Split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4059935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90/5/5, image-grouped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4535424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Test split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4535424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200 images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5010912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Supervision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5010912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Knowledge-grounded captions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5486400"/>
            <a:ext cx="105156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Hardware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6880" y="5486400"/>
            <a:ext cx="2514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Apple Silicon, 24 GB unified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" y="6108192"/>
            <a:ext cx="11658600" cy="475488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108192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Important: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tracks use different datasets, hardware and protocols — results are reported separately and are not directly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Dataset Integrity &amp; Reproducibility (TIH Tomato)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4389120" cy="603504"/>
          </a:xfrm>
          <a:prstGeom prst="roundRect">
            <a:avLst>
              <a:gd name="adj" fmla="val 15000"/>
            </a:avLst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438912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7,095 raw labelled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43891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8F0FB"/>
                </a:solidFill>
                <a:latin typeface="Arial"/>
              </a:rPr>
              <a:t>11 class folders · read-only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95728" y="1819656"/>
            <a:ext cx="237744" cy="201168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59" y="2048256"/>
            <a:ext cx="4069080" cy="603504"/>
          </a:xfrm>
          <a:prstGeom prst="roundRect">
            <a:avLst>
              <a:gd name="adj" fmla="val 15000"/>
            </a:avLst>
          </a:prstGeom>
          <a:solidFill>
            <a:srgbClr val="1D4E9E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59" y="2066544"/>
            <a:ext cx="406908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Image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" y="2368296"/>
            <a:ext cx="40690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8F0FB"/>
                </a:solidFill>
                <a:latin typeface="Arial"/>
              </a:rPr>
              <a:t>supported extension + decodable image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395728" y="2679192"/>
            <a:ext cx="237744" cy="201168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907792"/>
            <a:ext cx="3749039" cy="603504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374903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SHA-256 exact deduplication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27832"/>
            <a:ext cx="3749039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8F0FB"/>
                </a:solidFill>
                <a:latin typeface="Arial"/>
              </a:rPr>
              <a:t>same-class copies collapsed to one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395728" y="3538728"/>
            <a:ext cx="237744" cy="201168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" y="3767328"/>
            <a:ext cx="3429000" cy="603504"/>
          </a:xfrm>
          <a:prstGeom prst="roundRect">
            <a:avLst>
              <a:gd name="adj" fmla="val 15000"/>
            </a:avLst>
          </a:prstGeom>
          <a:solidFill>
            <a:srgbClr val="5B9BD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" y="3785616"/>
            <a:ext cx="342900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Contradictory duplicates 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087368"/>
            <a:ext cx="34290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8F0FB"/>
                </a:solidFill>
                <a:latin typeface="Arial"/>
              </a:rPr>
              <a:t>hash under &gt;1 label → group excluded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395728" y="4398264"/>
            <a:ext cx="237744" cy="201168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4626864"/>
            <a:ext cx="3108960" cy="603504"/>
          </a:xfrm>
          <a:prstGeom prst="roundRect">
            <a:avLst>
              <a:gd name="adj" fmla="val 15000"/>
            </a:avLst>
          </a:prstGeom>
          <a:solidFill>
            <a:srgbClr val="1E8449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45152"/>
            <a:ext cx="31089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6,545 retained (92.25%)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46904"/>
            <a:ext cx="310896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E8F0FB"/>
                </a:solidFill>
                <a:latin typeface="Arial"/>
              </a:rPr>
              <a:t>550 files excluded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395728" y="5257800"/>
            <a:ext cx="237744" cy="201168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0040" y="5486400"/>
            <a:ext cx="1389888" cy="713232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270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522976"/>
            <a:ext cx="1389888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5,247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870448"/>
            <a:ext cx="138988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1F1F"/>
                </a:solidFill>
                <a:latin typeface="Arial"/>
              </a:rPr>
              <a:t>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01368" y="5486400"/>
            <a:ext cx="1389888" cy="713232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 w="1270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01368" y="5522976"/>
            <a:ext cx="1389888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649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1368" y="5870448"/>
            <a:ext cx="138988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1F1F"/>
                </a:solidFill>
                <a:latin typeface="Arial"/>
              </a:rPr>
              <a:t>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82696" y="5486400"/>
            <a:ext cx="1389888" cy="71323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82696" y="5522976"/>
            <a:ext cx="1389888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649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2696" y="5870448"/>
            <a:ext cx="138988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1F1F"/>
                </a:solidFill>
                <a:latin typeface="Arial"/>
              </a:rPr>
              <a:t>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263640"/>
            <a:ext cx="44805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Arial"/>
              </a:rPr>
              <a:t>Class-stratified 80/10/10 · seed 20260911 · split hashes frozen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4937760" y="1143000"/>
          <a:ext cx="37033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983480" y="5943600"/>
            <a:ext cx="3657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5A00"/>
                </a:solidFill>
                <a:latin typeface="Arial"/>
              </a:rPr>
              <a:t>Strong class imbalance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(Late Blight 195 vs Healthy Fruit 9 test images) → inverse-square-root sampling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1188720"/>
            <a:ext cx="3108960" cy="5394960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1261872"/>
            <a:ext cx="2834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2D75"/>
                </a:solidFill>
                <a:latin typeface="Arial"/>
              </a:rPr>
              <a:t>Reproducibility Controls</a:t>
            </a:r>
          </a:p>
        </p:txBody>
      </p:sp>
      <p:sp>
        <p:nvSpPr>
          <p:cNvPr id="42" name="Oval 41"/>
          <p:cNvSpPr/>
          <p:nvPr/>
        </p:nvSpPr>
        <p:spPr>
          <a:xfrm>
            <a:off x="8979408" y="1810512"/>
            <a:ext cx="274320" cy="2743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1810512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1755648"/>
            <a:ext cx="25603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Deterministic split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seed + image hash ordering, not file-system order</a:t>
            </a:r>
          </a:p>
        </p:txBody>
      </p:sp>
      <p:sp>
        <p:nvSpPr>
          <p:cNvPr id="45" name="Oval 44"/>
          <p:cNvSpPr/>
          <p:nvPr/>
        </p:nvSpPr>
        <p:spPr>
          <a:xfrm>
            <a:off x="8979408" y="2606040"/>
            <a:ext cx="274320" cy="2743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9408" y="2606040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551176"/>
            <a:ext cx="25603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Frozen split identities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hashes checked; changes block training</a:t>
            </a:r>
          </a:p>
        </p:txBody>
      </p:sp>
      <p:sp>
        <p:nvSpPr>
          <p:cNvPr id="48" name="Oval 47"/>
          <p:cNvSpPr/>
          <p:nvPr/>
        </p:nvSpPr>
        <p:spPr>
          <a:xfrm>
            <a:off x="8979408" y="3401568"/>
            <a:ext cx="274320" cy="2743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79408" y="3401568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346704"/>
            <a:ext cx="25603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Deep preflight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target GPU / BF16, class folders, frozen-split integrity, processor</a:t>
            </a:r>
          </a:p>
        </p:txBody>
      </p:sp>
      <p:sp>
        <p:nvSpPr>
          <p:cNvPr id="51" name="Oval 50"/>
          <p:cNvSpPr/>
          <p:nvPr/>
        </p:nvSpPr>
        <p:spPr>
          <a:xfrm>
            <a:off x="8979408" y="4197095"/>
            <a:ext cx="274320" cy="2743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79408" y="4197095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142231"/>
            <a:ext cx="25603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QLoRA smoke test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save → resume → reload adapter verified</a:t>
            </a:r>
          </a:p>
        </p:txBody>
      </p:sp>
      <p:sp>
        <p:nvSpPr>
          <p:cNvPr id="54" name="Oval 53"/>
          <p:cNvSpPr/>
          <p:nvPr/>
        </p:nvSpPr>
        <p:spPr>
          <a:xfrm>
            <a:off x="8979408" y="4992624"/>
            <a:ext cx="274320" cy="2743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79408" y="4992624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937760"/>
            <a:ext cx="25603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Checkpoint metadata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adapter, optimizer, scheduler, RNG and trainer state</a:t>
            </a:r>
          </a:p>
        </p:txBody>
      </p:sp>
      <p:sp>
        <p:nvSpPr>
          <p:cNvPr id="57" name="Oval 56"/>
          <p:cNvSpPr/>
          <p:nvPr/>
        </p:nvSpPr>
        <p:spPr>
          <a:xfrm>
            <a:off x="8979408" y="5788151"/>
            <a:ext cx="274320" cy="274320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79408" y="5788151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733288"/>
            <a:ext cx="25603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Test identity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bound to the chosen adapter; test evaluated once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Model &amp; QLoRA Methodology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1F1F1F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13258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Tomato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09928"/>
            <a:ext cx="132588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RGB · ≤532 px side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28-px aligned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46504" y="1645920"/>
            <a:ext cx="274320" cy="237744"/>
          </a:xfrm>
          <a:prstGeom prst="right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75688" y="1234440"/>
            <a:ext cx="1600200" cy="105156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002D75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1298448"/>
            <a:ext cx="150876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2D75"/>
                </a:solidFill>
                <a:latin typeface="Arial"/>
              </a:rPr>
              <a:t>Vision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1709928"/>
            <a:ext cx="150876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FROZEN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30751" y="1645920"/>
            <a:ext cx="274320" cy="237744"/>
          </a:xfrm>
          <a:prstGeom prst="right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59935" y="123444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 w="15875">
            <a:solidFill>
              <a:srgbClr val="C05A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5" y="1298448"/>
            <a:ext cx="228600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05A00"/>
                </a:solidFill>
                <a:latin typeface="Arial"/>
              </a:rPr>
              <a:t>Qwen2.5 language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5" y="1709928"/>
            <a:ext cx="228600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4-bit NF4 (frozen) + LoRA on q/k/v/o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92239" y="1645920"/>
            <a:ext cx="274320" cy="237744"/>
          </a:xfrm>
          <a:prstGeom prst="right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21423" y="1234440"/>
            <a:ext cx="1371600" cy="105156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5875">
            <a:solidFill>
              <a:srgbClr val="1E8449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3" y="1298448"/>
            <a:ext cx="128016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Class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3" y="1709928"/>
            <a:ext cx="128016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e.g. “Late Blight”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450592"/>
            <a:ext cx="7918704" cy="786384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270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450592"/>
            <a:ext cx="76809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2D75"/>
                </a:solidFill>
                <a:latin typeface="Arial"/>
              </a:rPr>
              <a:t>Fixed prompt: </a:t>
            </a:r>
            <a:r>
              <a:rPr sz="1150" b="0" i="1">
                <a:solidFill>
                  <a:srgbClr val="1F1F1F"/>
                </a:solidFill>
                <a:latin typeface="Arial"/>
              </a:rPr>
              <a:t>“Classify this tomato plant image into exactly one of these categories: Aphid, … , White Fly. Return only the category name.”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74320" y="3401568"/>
          <a:ext cx="7918704" cy="31546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5541264"/>
              </a:tblGrid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02D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 marL="73152" marR="73152" marT="27432" marB="27432" anchor="ctr">
                    <a:solidFill>
                      <a:srgbClr val="002D75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Base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Qwen2.5-VL-7B-Instruct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Quantisation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4-bit NF4, double quant., BF16 compute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r 64 · α 128 · dropout 0.05 · q/k/v/o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Trainable parameters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40,370,176 (pretrained weights frozen)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Paged AdamW 8-bit · LR 4e-5 · cosine, 3% warm-up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Batch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1 × 8 gradient accumulation (effective 8)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1F1F"/>
                          </a:solidFill>
                          <a:latin typeface="Arial"/>
                        </a:rPr>
                        <a:t>Epochs / seed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3 planned (2.909 run) / 20260911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8412480" y="1234440"/>
            <a:ext cx="352044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0" y="1234440"/>
            <a:ext cx="3520440" cy="457200"/>
          </a:xfrm>
          <a:prstGeom prst="roundRect">
            <a:avLst>
              <a:gd name="adj" fmla="val 15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123444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D75"/>
                </a:solidFill>
                <a:latin typeface="Arial"/>
              </a:rPr>
              <a:t>Class-Balanced Sampling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1737360"/>
            <a:ext cx="32918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1F1F1F"/>
                </a:solidFill>
                <a:latin typeface="Arial"/>
              </a:rPr>
              <a:t>w_c = 1 / √n_c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057400"/>
            <a:ext cx="32918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Arial"/>
              </a:rPr>
              <a:t>Reduces Late Blight dominance without over-repeating tiny classes such as Healthy Fruit.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035808"/>
            <a:ext cx="352044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3035808"/>
            <a:ext cx="3520440" cy="457200"/>
          </a:xfrm>
          <a:prstGeom prst="roundRect">
            <a:avLst>
              <a:gd name="adj" fmla="val 15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035808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5A00"/>
                </a:solidFill>
                <a:latin typeface="Arial"/>
              </a:rPr>
              <a:t>Answer-Only Supervision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538728"/>
            <a:ext cx="32918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1F1F1F"/>
                </a:solidFill>
                <a:latin typeface="Arial"/>
              </a:rPr>
              <a:t>prompt tokens → −100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858768"/>
            <a:ext cx="32918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Arial"/>
              </a:rPr>
              <a:t>Loss is computed only on the class-label tokens → 0 unparseable outputs on both benchmarks.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4837176"/>
            <a:ext cx="352044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0" y="4837176"/>
            <a:ext cx="3520440" cy="457200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837176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E8449"/>
                </a:solidFill>
                <a:latin typeface="Arial"/>
              </a:rPr>
              <a:t>Validation-Based Selection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5340096"/>
            <a:ext cx="32918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1F1F1F"/>
                </a:solidFill>
                <a:latin typeface="Arial"/>
              </a:rPr>
              <a:t>macro F1 → accuracy →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660136"/>
            <a:ext cx="32918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Arial"/>
              </a:rPr>
              <a:t>Early stopping on validation loss (patience 1); final adapter chosen by validation macro F1.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Experimental Results — Internal Test (TIH, 649 images)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70432"/>
            <a:ext cx="2816352" cy="1417320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07008"/>
            <a:ext cx="2816352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002D75"/>
                </a:solidFill>
                <a:latin typeface="Arial"/>
              </a:rPr>
              <a:t>92.76%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01952"/>
            <a:ext cx="281635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281635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602 of 649 correct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170432"/>
            <a:ext cx="2816352" cy="1417320"/>
          </a:xfrm>
          <a:prstGeom prst="roundRect">
            <a:avLst>
              <a:gd name="adj" fmla="val 10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207008"/>
            <a:ext cx="2816352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C05A00"/>
                </a:solidFill>
                <a:latin typeface="Arial"/>
              </a:rPr>
              <a:t>93.78%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901952"/>
            <a:ext cx="281635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Macro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231136"/>
            <a:ext cx="281635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primary metric (imbalance)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170432"/>
            <a:ext cx="2816352" cy="14173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207008"/>
            <a:ext cx="2816352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1E8449"/>
                </a:solidFill>
                <a:latin typeface="Arial"/>
              </a:rPr>
              <a:t>95.57%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901952"/>
            <a:ext cx="281635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Macro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231136"/>
            <a:ext cx="281635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macro precision 92.71%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1170432"/>
            <a:ext cx="2816352" cy="1417320"/>
          </a:xfrm>
          <a:prstGeom prst="roundRect">
            <a:avLst>
              <a:gd name="adj" fmla="val 10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207008"/>
            <a:ext cx="2816352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6F3FA0"/>
                </a:solidFill>
                <a:latin typeface="Arial"/>
              </a:rPr>
              <a:t>0.327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901952"/>
            <a:ext cx="281635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Latency /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231136"/>
            <a:ext cx="281635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single RTX 4500 Ada GPU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724912"/>
            <a:ext cx="11658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743200"/>
            <a:ext cx="19431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1,908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090672"/>
            <a:ext cx="19431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optimizer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7420" y="2743200"/>
            <a:ext cx="19431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2.909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7420" y="3090672"/>
            <a:ext cx="19431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epochs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17420" y="2852928"/>
            <a:ext cx="18288" cy="4572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2743200"/>
            <a:ext cx="19431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192.7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090672"/>
            <a:ext cx="19431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training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2852928"/>
            <a:ext cx="18288" cy="4572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3620" y="2743200"/>
            <a:ext cx="19431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10.57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3620" y="3090672"/>
            <a:ext cx="19431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peak reserved memory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3620" y="2852928"/>
            <a:ext cx="18288" cy="4572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743200"/>
            <a:ext cx="19431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40.37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090672"/>
            <a:ext cx="19431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trainable LoRA parameters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852928"/>
            <a:ext cx="18288" cy="4572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89820" y="2743200"/>
            <a:ext cx="19431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9820" y="3090672"/>
            <a:ext cx="19431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unparseable outputs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89820" y="2852928"/>
            <a:ext cx="18288" cy="4572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3566160"/>
          <a:ext cx="7498079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7955279" y="356616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9872" y="3630168"/>
            <a:ext cx="3657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02D75"/>
                </a:solidFill>
                <a:latin typeface="Arial"/>
              </a:rPr>
              <a:t>Class-Level Observations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2" y="4041648"/>
            <a:ext cx="3703320" cy="2514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Late Blight</a:t>
            </a:r>
            <a:r>
              <a:rPr sz="1200" b="0" i="0">
                <a:solidFill>
                  <a:srgbClr val="1F1F1F"/>
                </a:solidFill>
                <a:latin typeface="Arial"/>
              </a:rPr>
              <a:t> (195 test images): F1 90.91%, recall 84.62% — confused with Target Leaf Spot (13), Leaf Curl (8), Leaf Miner (7).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Target Leaf Spot</a:t>
            </a:r>
            <a:r>
              <a:rPr sz="1200" b="0" i="0">
                <a:solidFill>
                  <a:srgbClr val="1F1F1F"/>
                </a:solidFill>
                <a:latin typeface="Arial"/>
              </a:rPr>
              <a:t>: 100% recall but 68.75% precision (lowest F1, 81.48%).</a:t>
            </a:r>
          </a:p>
          <a:p>
            <a:pPr algn="l" marL="155448" indent="-155448">
              <a:lnSpc>
                <a:spcPct val="100000"/>
              </a:lnSpc>
              <a:spcAft>
                <a:spcPts val="0"/>
              </a:spcAft>
              <a:buClr>
                <a:srgbClr val="002D75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Arial"/>
              </a:rPr>
              <a:t>Healthy Fruit</a:t>
            </a:r>
            <a:r>
              <a:rPr sz="1200" b="0" i="0">
                <a:solidFill>
                  <a:srgbClr val="1F1F1F"/>
                </a:solidFill>
                <a:latin typeface="Arial"/>
              </a:rPr>
              <a:t>: 100% on only 9 test images — small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Cross-Domain Evaluation (Internal vs External)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88720"/>
          <a:ext cx="4297680" cy="2880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1417320"/>
                <a:gridCol w="14173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002D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Internal test</a:t>
                      </a:r>
                    </a:p>
                  </a:txBody>
                  <a:tcPr marL="73152" marR="73152" marT="27432" marB="27432" anchor="ctr">
                    <a:solidFill>
                      <a:srgbClr val="002D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External</a:t>
                      </a:r>
                    </a:p>
                  </a:txBody>
                  <a:tcPr marL="73152" marR="73152" marT="27432" marB="27432" anchor="ctr">
                    <a:solidFill>
                      <a:srgbClr val="002D7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Images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Classes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92.76%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69.32%</a:t>
                      </a:r>
                    </a:p>
                  </a:txBody>
                  <a:tcPr marL="73152" marR="73152" marT="27432" marB="27432" anchor="ctr">
                    <a:solidFill>
                      <a:srgbClr val="FDECE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Macro F1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93.78%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71.95%</a:t>
                      </a:r>
                    </a:p>
                  </a:txBody>
                  <a:tcPr marL="73152" marR="73152" marT="27432" marB="27432" anchor="ctr">
                    <a:solidFill>
                      <a:srgbClr val="FDECE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Weighted F1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92.86%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69.38%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Latency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0.327 s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0.373 s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4206240"/>
            <a:ext cx="2084831" cy="105156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224528"/>
            <a:ext cx="2084831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392B"/>
                </a:solidFill>
                <a:latin typeface="Arial"/>
              </a:rPr>
              <a:t>−23.44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2084831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4206240"/>
            <a:ext cx="2084831" cy="105156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4224528"/>
            <a:ext cx="2084831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392B"/>
                </a:solidFill>
                <a:latin typeface="Arial"/>
              </a:rPr>
              <a:t>−21.83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4773168"/>
            <a:ext cx="2084831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macro F1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754880" y="1143000"/>
          <a:ext cx="717804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274320" y="5440680"/>
            <a:ext cx="11658600" cy="114300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 w="15875">
            <a:solidFill>
              <a:srgbClr val="FD7E00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468112"/>
            <a:ext cx="113385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“Cross-domain evaluation revealed a substantial generalization gap, highlighting the importance of broader and more diverse training data.”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rial"/>
              </a:rPr>
              <a:t>Late Blight F1 fell from 90.91% to 14.29%</a:t>
            </a:r>
            <a:r>
              <a:rPr sz="1200" b="0" i="0">
                <a:solidFill>
                  <a:srgbClr val="1F1F1F"/>
                </a:solidFill>
                <a:latin typeface="Arial"/>
              </a:rPr>
              <a:t> (11 of 20 external images predicted as Target Leaf Spot), while Mealy Bugs (93.33%) and White Fly (91.67%) transferred well — the shift is class-dependent.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PlantDx: Knowledge-Grounded Research Track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Disease 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18872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18 cited conditions (10 tomato, 8 mango)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52928" y="1778508"/>
            <a:ext cx="182880" cy="137160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92024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2024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Ontology Compiler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2024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typed, evidence-linked knowledge graph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52928" y="2510028"/>
            <a:ext cx="182880" cy="137160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265176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5176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Vocabulary + Symptom Lexicon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5176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controlled, traceable terminology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852928" y="3241548"/>
            <a:ext cx="182880" cy="137160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38328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8328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Concepts + Templates → Caption 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38328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deterministic, multi-stage validated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852928" y="3973068"/>
            <a:ext cx="182880" cy="137160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411480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11480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002D75"/>
                </a:solidFill>
                <a:latin typeface="Arial"/>
              </a:rPr>
              <a:t>Audited &amp; Normalised Images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11480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PlantVillage tomato · MangoLeafBD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852928" y="4704588"/>
            <a:ext cx="182880" cy="137160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4320" y="484632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84632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C05A00"/>
                </a:solidFill>
                <a:latin typeface="Arial"/>
              </a:rPr>
              <a:t>QLoRA Fine-Tuning (MLX)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84632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Qwen2.5-VL-7B-4bit · r 16 · Apple Silicon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852928" y="5436108"/>
            <a:ext cx="182880" cy="137160"/>
          </a:xfrm>
          <a:prstGeom prst="downArrow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5577840"/>
            <a:ext cx="5394960" cy="585216"/>
          </a:xfrm>
          <a:prstGeom prst="roundRect">
            <a:avLst>
              <a:gd name="adj" fmla="val 15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577840"/>
            <a:ext cx="26974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6F3FA0"/>
                </a:solidFill>
                <a:latin typeface="Arial"/>
              </a:rPr>
              <a:t>Evaluation + Streamlit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577840"/>
            <a:ext cx="25146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base vs fine-tuned on frozen test splits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897880" y="1143000"/>
          <a:ext cx="60350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897880" y="4297680"/>
          <a:ext cx="6035040" cy="1097277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05840"/>
                <a:gridCol w="1417320"/>
                <a:gridCol w="1005840"/>
                <a:gridCol w="1143000"/>
                <a:gridCol w="1463040"/>
              </a:tblGrid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Crop</a:t>
                      </a:r>
                    </a:p>
                  </a:txBody>
                  <a:tcPr marL="73152" marR="73152" marT="27432" marB="27432" anchor="ctr">
                    <a:solidFill>
                      <a:srgbClr val="1E84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Classes</a:t>
                      </a:r>
                    </a:p>
                  </a:txBody>
                  <a:tcPr marL="73152" marR="73152" marT="27432" marB="27432" anchor="ctr">
                    <a:solidFill>
                      <a:srgbClr val="1E84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Test images</a:t>
                      </a:r>
                    </a:p>
                  </a:txBody>
                  <a:tcPr marL="73152" marR="73152" marT="27432" marB="27432" anchor="ctr">
                    <a:solidFill>
                      <a:srgbClr val="1E84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Macro F1</a:t>
                      </a:r>
                    </a:p>
                  </a:txBody>
                  <a:tcPr marL="73152" marR="73152" marT="27432" marB="27432" anchor="ctr">
                    <a:solidFill>
                      <a:srgbClr val="1E84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Weighted F1</a:t>
                      </a:r>
                    </a:p>
                  </a:txBody>
                  <a:tcPr marL="73152" marR="73152" marT="27432" marB="27432" anchor="ctr">
                    <a:solidFill>
                      <a:srgbClr val="1E8449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Tomato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0.919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0.937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Mango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0.811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0.811</a:t>
                      </a:r>
                    </a:p>
                  </a:txBody>
                  <a:tcPr marL="73152" marR="73152" marT="27432" marB="27432" anchor="ctr">
                    <a:solidFill>
                      <a:srgbClr val="F0F6FD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5897880" y="5532120"/>
            <a:ext cx="6035040" cy="1051560"/>
          </a:xfrm>
          <a:prstGeom prst="roundRect">
            <a:avLst>
              <a:gd name="adj" fmla="val 6000"/>
            </a:avLst>
          </a:prstGeom>
          <a:solidFill>
            <a:srgbClr val="F0F6FD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5550408"/>
            <a:ext cx="58064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002D75"/>
                </a:solidFill>
                <a:latin typeface="Arial"/>
              </a:rPr>
              <a:t>Principles: </a:t>
            </a:r>
            <a:r>
              <a:rPr sz="1100" b="0" i="0">
                <a:solidFill>
                  <a:srgbClr val="1F1F1F"/>
                </a:solidFill>
                <a:latin typeface="Arial"/>
              </a:rPr>
              <a:t>cited knowledge only; no VLM/LLM or image analysis in the caption path; observability- and severity-honest; bit-for-bit reproducible.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Arial"/>
              </a:rPr>
              <a:t>In-distribution scores on public single-leaf datasets — separate from the TIH benchmark.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7. List of Publications, Patents etc.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7680960" cy="5394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210312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ICAIN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2834640" cy="475488"/>
          </a:xfrm>
          <a:prstGeom prst="roundRect">
            <a:avLst>
              <a:gd name="adj" fmla="val 30000"/>
            </a:avLst>
          </a:prstGeom>
          <a:solidFill>
            <a:srgbClr val="E6F4EA"/>
          </a:solidFill>
          <a:ln w="15875">
            <a:solidFill>
              <a:srgbClr val="1E8449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834640" cy="47548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Accepted for publication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48840"/>
            <a:ext cx="72694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002D75"/>
                </a:solidFill>
                <a:latin typeface="Arial"/>
              </a:rPr>
              <a:t>Efficient QLoRA Fine-Tuning of Qwen2.5-VL for Multi-Class Tomato Disease Classification and Cross-Domain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72694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Aakash Trimbak Jawle, Kamaaksha Rajendra Kharul, Santwana Gudadhe, Harish Lokawad, Rutuja Chavan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7269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05A00"/>
                </a:solidFill>
                <a:latin typeface="Arial"/>
              </a:rPr>
              <a:t>Proceedings of ICAIN 2026 – Springer LNNS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0F6FD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53712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Submission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01184"/>
            <a:ext cx="228600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953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2" y="452628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0F6FD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4553712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4901184"/>
            <a:ext cx="228600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Accepted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4104" y="452628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0F6FD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4" y="4553712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Registration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4901184"/>
            <a:ext cx="228600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before 10 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32120"/>
            <a:ext cx="72694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1F1F1F"/>
                </a:solidFill>
                <a:latin typeface="Arial"/>
              </a:rPr>
              <a:t>The acceptance notification states that the paper is among the top 20% of the papers received/reviewed.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Indexing as stated in the notification: zbMATH, Scopus and DBLP. DOI / volume / pages: not yet assigned.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18872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1188720"/>
            <a:ext cx="3794760" cy="475488"/>
          </a:xfrm>
          <a:prstGeom prst="roundRect">
            <a:avLst>
              <a:gd name="adj" fmla="val 15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188720"/>
            <a:ext cx="35661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Patents /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737360"/>
            <a:ext cx="35661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No patent/IP filing was made during the project period.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01752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017520"/>
            <a:ext cx="3794760" cy="475488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017520"/>
            <a:ext cx="35661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449"/>
                </a:solidFill>
                <a:latin typeface="Arial"/>
              </a:rPr>
              <a:t>Code &amp; Artefacts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566160"/>
            <a:ext cx="35661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github.com/iAakash1/experimentation, branch refactor/professional-research-layout (Apache-2.0): configs, aggregate metrics, figures, tests. Private data and checkpoints excluded.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84632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4846320"/>
            <a:ext cx="3794760" cy="475488"/>
          </a:xfrm>
          <a:prstGeom prst="roundRect">
            <a:avLst>
              <a:gd name="adj" fmla="val 15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846320"/>
            <a:ext cx="35661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F3FA0"/>
                </a:solidFill>
                <a:latin typeface="Arial"/>
              </a:rPr>
              <a:t>Fellowship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394959"/>
            <a:ext cx="35661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Crop Research Documentation Reports (v1.0, 15 Sep 2026) prepared by both fellows.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8. Future Work Planned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760720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" y="1353312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353312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325880"/>
            <a:ext cx="4846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2D75"/>
                </a:solidFill>
                <a:latin typeface="Arial"/>
              </a:rPr>
              <a:t>Cross-Domain Robustness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361188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Train on independently acquired, multi-source field images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Keep the external benchmark untouched; add domain-robustness tests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002D75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Target the Late Blight ↔ Target Leaf Spot confusion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011680"/>
            <a:ext cx="1600200" cy="15544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160020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2D75"/>
                </a:solidFill>
                <a:latin typeface="Arial"/>
              </a:rPr>
              <a:t>69.32%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816352"/>
            <a:ext cx="146304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current external accuracy (baseline to improve)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88720"/>
            <a:ext cx="5760720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6792" y="1353312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353312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5A0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325880"/>
            <a:ext cx="4846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5A00"/>
                </a:solidFill>
                <a:latin typeface="Arial"/>
              </a:rPr>
              <a:t>Dataset &amp; Crop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361188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C05A0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More samples for rare/confusable classes (Healthy Fruit, mango Die Back)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C05A0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Near-duplicate detection and repeated-seed runs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C05A0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Extend the recipe to additional crops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011680"/>
            <a:ext cx="1600200" cy="1554480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103120"/>
            <a:ext cx="160020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C05A00"/>
                </a:solidFill>
                <a:latin typeface="Arial"/>
              </a:rPr>
              <a:t>2 crops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816352"/>
            <a:ext cx="146304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covered today (tomato, mango)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913632"/>
            <a:ext cx="5760720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8912" y="4078224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078224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8449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050792"/>
            <a:ext cx="4846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8449"/>
                </a:solidFill>
                <a:latin typeface="Arial"/>
              </a:rPr>
              <a:t>Deployment Optimisation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2"/>
            <a:ext cx="361188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1E8449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Reduce latency and memory with quantised inference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1E8449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Evaluate on edge / mobile-class hardware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1E8449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Field validation with expert verification before farmer-facing 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59" y="4736592"/>
            <a:ext cx="1600200" cy="15544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4828032"/>
            <a:ext cx="160020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8449"/>
                </a:solidFill>
                <a:latin typeface="Arial"/>
              </a:rPr>
              <a:t>0.327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5541264"/>
            <a:ext cx="146304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current GPU latency / image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913632"/>
            <a:ext cx="5760720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36792" y="4078224"/>
            <a:ext cx="502920" cy="438912"/>
          </a:xfrm>
          <a:prstGeom prst="roundRect">
            <a:avLst>
              <a:gd name="adj" fmla="val 18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4078224"/>
            <a:ext cx="50292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6F3FA0"/>
                </a:solidFill>
                <a:latin typeface="Arial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050792"/>
            <a:ext cx="4846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F3FA0"/>
                </a:solidFill>
                <a:latin typeface="Arial"/>
              </a:rPr>
              <a:t>Reliability &amp; Knowledge Grounding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90872"/>
            <a:ext cx="361188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6F3FA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Calibrated confidence, uncertainty handling and OOD rejection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6F3FA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Complete the image-grounded instruction builder</a:t>
            </a:r>
          </a:p>
          <a:p>
            <a:pPr algn="l" marL="155448" indent="-155448">
              <a:lnSpc>
                <a:spcPct val="105000"/>
              </a:lnSpc>
              <a:spcAft>
                <a:spcPts val="600"/>
              </a:spcAft>
              <a:buClr>
                <a:srgbClr val="6F3FA0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Arial"/>
              </a:rPr>
              <a:t>Compare Qwen3-VL, InternVL3 and Gemma-3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4736592"/>
            <a:ext cx="1600200" cy="1554480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4828032"/>
            <a:ext cx="160020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F3FA0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3848" y="5541264"/>
            <a:ext cx="146304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further VLM families to benchmark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itle bar"/>
          <p:cNvSpPr/>
          <p:nvPr/>
        </p:nvSpPr>
        <p:spPr>
          <a:xfrm>
            <a:off x="228600" y="246888"/>
            <a:ext cx="9921240" cy="731520"/>
          </a:xfrm>
          <a:prstGeom prst="rect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246888"/>
            <a:ext cx="969264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9. Conclusion</a:t>
            </a:r>
          </a:p>
        </p:txBody>
      </p:sp>
      <p:pic>
        <p:nvPicPr>
          <p:cNvPr id="5" name="Picture 4" descr="t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83464"/>
            <a:ext cx="1781466" cy="658368"/>
          </a:xfrm>
          <a:prstGeom prst="rect">
            <a:avLst/>
          </a:prstGeom>
        </p:spPr>
      </p:pic>
      <p:sp>
        <p:nvSpPr>
          <p:cNvPr id="6" name="Bottom 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94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70432"/>
            <a:ext cx="116586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DC3E6"/>
            </a:solidFill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" y="1371600"/>
            <a:ext cx="786384" cy="786384"/>
          </a:xfrm>
          <a:prstGeom prst="ellipse">
            <a:avLst/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8132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81912"/>
            <a:ext cx="365760" cy="365760"/>
          </a:xfrm>
          <a:prstGeom prst="ellipse">
            <a:avLst/>
          </a:prstGeom>
          <a:solidFill>
            <a:srgbClr val="FD7E0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" y="1682495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1353312"/>
            <a:ext cx="27432" cy="82296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188720"/>
            <a:ext cx="10058400" cy="11521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1F1F1F"/>
                </a:solidFill>
                <a:latin typeface="Arial"/>
              </a:rPr>
              <a:t>The project built and evaluated </a:t>
            </a:r>
            <a:r>
              <a:rPr sz="1450" b="1" i="0">
                <a:solidFill>
                  <a:srgbClr val="1F5FBF"/>
                </a:solidFill>
                <a:latin typeface="Arial"/>
              </a:rPr>
              <a:t>parameter-efficient VLM workflows</a:t>
            </a:r>
            <a:r>
              <a:rPr sz="1450" b="0" i="0">
                <a:solidFill>
                  <a:srgbClr val="1F1F1F"/>
                </a:solidFill>
                <a:latin typeface="Arial"/>
              </a:rPr>
              <a:t> for tomato and mango disease classification — from audited data to QLoRA-adapted Qwen2.5-VL-7B and transparent internal and cross-domain evaluation — and the work has been </a:t>
            </a:r>
            <a:r>
              <a:rPr sz="1450" b="1" i="0">
                <a:solidFill>
                  <a:srgbClr val="1F5FBF"/>
                </a:solidFill>
                <a:latin typeface="Arial"/>
              </a:rPr>
              <a:t>accepted at ICAIN 2026</a:t>
            </a:r>
            <a:r>
              <a:rPr sz="1450" b="0" i="0">
                <a:solidFill>
                  <a:srgbClr val="1F1F1F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80"/>
            <a:ext cx="11658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2D75"/>
                </a:solidFill>
                <a:latin typeface="Arial"/>
              </a:rPr>
              <a:t>Key Takeaways</a:t>
            </a:r>
          </a:p>
        </p:txBody>
      </p:sp>
      <p:sp>
        <p:nvSpPr>
          <p:cNvPr id="16" name="Oval 15"/>
          <p:cNvSpPr/>
          <p:nvPr/>
        </p:nvSpPr>
        <p:spPr>
          <a:xfrm>
            <a:off x="1001268" y="2926080"/>
            <a:ext cx="768096" cy="768096"/>
          </a:xfrm>
          <a:prstGeom prst="ellipse">
            <a:avLst/>
          </a:prstGeom>
          <a:solidFill>
            <a:srgbClr val="DCE9F7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" y="2926080"/>
            <a:ext cx="768096" cy="768096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2D75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749039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2D75"/>
                </a:solidFill>
                <a:latin typeface="Arial"/>
              </a:rPr>
              <a:t>What Was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6052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Audited datasets, CUDA and MLX QLoRA pipelines, evaluation framework, knowledge-grounded PlantDx.</a:t>
            </a:r>
          </a:p>
        </p:txBody>
      </p:sp>
      <p:sp>
        <p:nvSpPr>
          <p:cNvPr id="20" name="Oval 19"/>
          <p:cNvSpPr/>
          <p:nvPr/>
        </p:nvSpPr>
        <p:spPr>
          <a:xfrm>
            <a:off x="3360420" y="2926080"/>
            <a:ext cx="768096" cy="768096"/>
          </a:xfrm>
          <a:prstGeom prst="ellipse">
            <a:avLst/>
          </a:prstGeom>
          <a:solidFill>
            <a:srgbClr val="FFF1E0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0420" y="2926080"/>
            <a:ext cx="768096" cy="768096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05A00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3749039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5A00"/>
                </a:solidFill>
                <a:latin typeface="Arial"/>
              </a:rPr>
              <a:t>Measurable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1" y="416052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TIH internal: 92.76% accuracy, 93.78% macro F1. PlantDx: tomato 93.7%, mango 82.0%.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5748" y="3063240"/>
            <a:ext cx="18288" cy="22860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19572" y="2926080"/>
            <a:ext cx="768096" cy="768096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9572" y="2926080"/>
            <a:ext cx="768096" cy="768096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E8449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3749039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E8449"/>
                </a:solidFill>
                <a:latin typeface="Arial"/>
              </a:rPr>
              <a:t>Publication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416052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Accepted in the Proceedings of ICAIN 2026 – Springer LNNS Series (ID 953).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4900" y="3063240"/>
            <a:ext cx="18288" cy="22860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78724" y="2926080"/>
            <a:ext cx="768096" cy="768096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8724" y="2926080"/>
            <a:ext cx="768096" cy="768096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1776" y="3749039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Key Limitation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416052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External benchmark: 69.32% accuracy; Late Blight F1 14.29% — a clear domain gap.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74052" y="3063240"/>
            <a:ext cx="18288" cy="22860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37876" y="2926080"/>
            <a:ext cx="768096" cy="768096"/>
          </a:xfrm>
          <a:prstGeom prst="ellipse">
            <a:avLst/>
          </a:prstGeom>
          <a:solidFill>
            <a:srgbClr val="F1EBF8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37876" y="2926080"/>
            <a:ext cx="768096" cy="768096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6F3FA0"/>
                </a:solidFill>
                <a:latin typeface="Arial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3749039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F3FA0"/>
                </a:solidFill>
                <a:latin typeface="Arial"/>
              </a:rPr>
              <a:t>Next 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16052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Broader, field-representative data and robustness-focused evaluation.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3204" y="3063240"/>
            <a:ext cx="18288" cy="22860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4320" y="5559552"/>
            <a:ext cx="11658600" cy="1024128"/>
          </a:xfrm>
          <a:prstGeom prst="roundRect">
            <a:avLst>
              <a:gd name="adj" fmla="val 12000"/>
            </a:avLst>
          </a:prstGeom>
          <a:solidFill>
            <a:srgbClr val="002D75"/>
          </a:solidFill>
          <a:ln>
            <a:noFill/>
          </a:ln>
          <a:effectLst/>
        </p:spPr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59552"/>
            <a:ext cx="3657600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577840"/>
            <a:ext cx="758952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Kamaaksha Rajendra Kharul  ·  Aakash Trimbak Jawle</a:t>
            </a:r>
          </a:p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FE0F7"/>
                </a:solidFill>
                <a:latin typeface="Arial"/>
              </a:rPr>
              <a:t>Mentor: Dr. Santwana Gudadhe  ·  Pimpri Chinchwad College of Engineering, Pune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Review — Vision-Language Model Based Plant Disease Diagnosis for Tomato and Mango</dc:title>
  <dc:subject>TIH IIT Bombay CHANAKYA Fellowship — Project Completion Review</dc:subject>
  <dc:creator>Kamaaksha Rajendra Kharul; Aakash Trimbak Jawle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