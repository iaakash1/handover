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Set the frame: a class about VLMs, with our project as the worked example.</a:t>
            </a:r>
          </a:p>
          <a:p/>
          <a:p>
            <a:r>
              <a:t>🗣️ WHAT TO SAY</a:t>
            </a:r>
          </a:p>
          <a:p>
            <a:r>
              <a:t>  • Introduce all three of you by name.</a:t>
            </a:r>
          </a:p>
          <a:p>
            <a:r>
              <a:t>  • State the promise: by the end you'll know what a VLM is and how one is built.</a:t>
            </a:r>
          </a:p>
          <a:p>
            <a:r>
              <a:t>  • Warn them this is interactive — you'll be asking them questions throughout.</a:t>
            </a:r>
          </a:p>
          <a:p>
            <a:r>
              <a:t>  • Promise honesty: we show what failed, not just what worked.</a:t>
            </a:r>
          </a:p>
          <a:p/>
          <a:p>
            <a:r>
              <a:t>🚫 WHAT NOT TO SAY</a:t>
            </a:r>
          </a:p>
          <a:p>
            <a:r>
              <a:t>  ✗ Don't call this a project presentation — it is a lecture.</a:t>
            </a:r>
          </a:p>
          <a:p>
            <a:r>
              <a:t>  ✗ Don't apologise for the level; assume zero VLM knowledge and say so positively.</a:t>
            </a:r>
          </a:p>
          <a:p/>
          <a:p>
            <a:r>
              <a:t>❓ LIKELY STUDENT QUESTIONS</a:t>
            </a:r>
          </a:p>
          <a:p>
            <a:r>
              <a:t>  Q: Do we need prior deep-learning knowledge?</a:t>
            </a:r>
          </a:p>
          <a:p>
            <a:r>
              <a:t>  A: No — we start from AI and build up.</a:t>
            </a:r>
          </a:p>
          <a:p/>
          <a:p>
            <a:r>
              <a:t>➡️ TRANSITION</a:t>
            </a:r>
          </a:p>
          <a:p>
            <a:r>
              <a:t>Put a real leaf on screen and ask the room 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Create the question the whole lecture answers, and get the room talking immediately.</a:t>
            </a:r>
          </a:p>
          <a:p/>
          <a:p>
            <a:r>
              <a:t>🗣️ WHAT TO SAY</a:t>
            </a:r>
          </a:p>
          <a:p>
            <a:r>
              <a:t>  • Ask it out loud. Wait. Count to five in your head before accepting an answer.</a:t>
            </a:r>
          </a:p>
          <a:p>
            <a:r>
              <a:t>  • Take 2-3 answers from different parts of the room. Write nothing down; just repeat them back.</a:t>
            </a:r>
          </a:p>
          <a:p>
            <a:r>
              <a:t>  • Expect: 'a CNN', 'image classification', 'ChatGPT'. All are reasonable starting points.</a:t>
            </a:r>
          </a:p>
          <a:p>
            <a:r>
              <a:t>  • Say: we'll see exactly where each of those stops working.</a:t>
            </a:r>
          </a:p>
          <a:p/>
          <a:p>
            <a:r>
              <a:t>🚫 WHAT NOT TO SAY</a:t>
            </a:r>
          </a:p>
          <a:p>
            <a:r>
              <a:t>  ✗ Do NOT correct any answer yet — that kills participation for the rest of the hour.</a:t>
            </a:r>
          </a:p>
          <a:p>
            <a:r>
              <a:t>  ✗ Do NOT resolve the question on this slide.</a:t>
            </a:r>
          </a:p>
          <a:p/>
          <a:p>
            <a:r>
              <a:t>❓ LIKELY STUDENT QUESTIONS</a:t>
            </a:r>
          </a:p>
          <a:p>
            <a:r>
              <a:t>  Q: Isn't this just image classification?</a:t>
            </a:r>
          </a:p>
          <a:p>
            <a:r>
              <a:t>  A: That's the most common answer — and the next few slides show precisely why a label isn't enough.</a:t>
            </a:r>
          </a:p>
          <a:p/>
          <a:p>
            <a:r>
              <a:t>➡️ TRANSITION</a:t>
            </a:r>
          </a:p>
          <a:p>
            <a:r>
              <a:t>To answer properly we need vocabulary. Let's build it from the ground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Give a mental map so nothing later feels like it appeared from nowhere.</a:t>
            </a:r>
          </a:p>
          <a:p/>
          <a:p>
            <a:r>
              <a:t>🗣️ WHAT TO SAY</a:t>
            </a:r>
          </a:p>
          <a:p>
            <a:r>
              <a:t>  • Roughly 10 seconds per box. Do not lecture on any single one.</a:t>
            </a:r>
          </a:p>
          <a:p>
            <a:r>
              <a:t>  • AI = the goal. ML = learn from data. DL = learn the features too.</a:t>
            </a:r>
          </a:p>
          <a:p>
            <a:r>
              <a:t>  • Transformers (2017) = attention, the unlock that made everything after it possible.</a:t>
            </a:r>
          </a:p>
          <a:p>
            <a:r>
              <a:t>  • LLM = transformer at scale on text. VLM = that same LLM, given eyes.</a:t>
            </a:r>
          </a:p>
          <a:p>
            <a:r>
              <a:t>  • Land the last line: a VLM is not built from scratch — it's an LLM plus a vision encoder.</a:t>
            </a:r>
          </a:p>
          <a:p/>
          <a:p>
            <a:r>
              <a:t>🚫 WHAT NOT TO SAY</a:t>
            </a:r>
          </a:p>
          <a:p>
            <a:r>
              <a:t>  ✗ Don't explain attention mathematically. One sentence maximum.</a:t>
            </a:r>
          </a:p>
          <a:p>
            <a:r>
              <a:t>  ✗ Don't give dates and paper names — this is orientation, not history.</a:t>
            </a:r>
          </a:p>
          <a:p/>
          <a:p>
            <a:r>
              <a:t>❓ LIKELY STUDENT QUESTIONS</a:t>
            </a:r>
          </a:p>
          <a:p>
            <a:r>
              <a:t>  Q: Do we need the maths of attention?</a:t>
            </a:r>
          </a:p>
          <a:p>
            <a:r>
              <a:t>  A: Not today — just that it weighs every part of the input against every other part.</a:t>
            </a:r>
          </a:p>
          <a:p>
            <a:r>
              <a:t>  Q: Is a VLM a different model from an LLM?</a:t>
            </a:r>
          </a:p>
          <a:p>
            <a:r>
              <a:t>  A: It usually *contains* one. We'll open the box shortly.</a:t>
            </a:r>
          </a:p>
          <a:p/>
          <a:p>
            <a:r>
              <a:t>➡️ TRANSITION</a:t>
            </a:r>
          </a:p>
          <a:p>
            <a:r>
              <a:t>Now the comparison you'll actually use in practice — three kinds of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Make the distinction concrete enough that students can classify any new model themselves.</a:t>
            </a:r>
          </a:p>
          <a:p/>
          <a:p>
            <a:r>
              <a:t>🗣️ WHAT TO SAY</a:t>
            </a:r>
          </a:p>
          <a:p>
            <a:r>
              <a:t>  • Walk left to right. The input→output line is the thing to remember.</a:t>
            </a:r>
          </a:p>
          <a:p>
            <a:r>
              <a:t>  • CNN: brilliant at labels, silent about reasons.</a:t>
            </a:r>
          </a:p>
          <a:p>
            <a:r>
              <a:t>  • LLM: knows pathology from text, but is blind — it never saw *your* leaf.</a:t>
            </a:r>
          </a:p>
          <a:p>
            <a:r>
              <a:t>  • VLM: takes image AND question, answers in sentences.</a:t>
            </a:r>
          </a:p>
          <a:p>
            <a:r>
              <a:t>  • Land the bottom line — 'evidence attached' returns at the end of the session.</a:t>
            </a:r>
          </a:p>
          <a:p/>
          <a:p>
            <a:r>
              <a:t>🚫 WHAT NOT TO SAY</a:t>
            </a:r>
          </a:p>
          <a:p>
            <a:r>
              <a:t>  ✗ Don't claim VLMs are more accurate than CNNs — we never trained a CNN baseline.</a:t>
            </a:r>
          </a:p>
          <a:p>
            <a:r>
              <a:t>  ✗ Don't go into architectures here; that's the next slide.</a:t>
            </a:r>
          </a:p>
          <a:p/>
          <a:p>
            <a:r>
              <a:t>❓ LIKELY STUDENT QUESTIONS</a:t>
            </a:r>
          </a:p>
          <a:p>
            <a:r>
              <a:t>  Q: Isn't a CNN more accurate?</a:t>
            </a:r>
          </a:p>
          <a:p>
            <a:r>
              <a:t>  A: Often yes for pure classification — our argument is about the *form* of the output, not beating a CNN.</a:t>
            </a:r>
          </a:p>
          <a:p>
            <a:r>
              <a:t>  Q: Could I caption with an LLM?</a:t>
            </a:r>
          </a:p>
          <a:p>
            <a:r>
              <a:t>  A: No — it has no image input. It would be writing fiction.</a:t>
            </a:r>
          </a:p>
          <a:p/>
          <a:p>
            <a:r>
              <a:t>➡️ TRANSITION</a:t>
            </a:r>
          </a:p>
          <a:p>
            <a:r>
              <a:t>Before we open the box — a quick check that this landed.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Check that the CNN/LLM/VLM distinction actually landed before building on it.</a:t>
            </a:r>
          </a:p>
          <a:p/>
          <a:p>
            <a:r>
              <a:t>🗣️ WHAT TO SAY</a:t>
            </a:r>
          </a:p>
          <a:p>
            <a:r>
              <a:t>  • Read all three scenarios, then take hands for each one in turn.</a:t>
            </a:r>
          </a:p>
          <a:p>
            <a:r>
              <a:t>  • Answers: ① CNN — cheap, fast, a label is all you need. ② VLM — needs image + explanation. ③ LLM — text in, text out, no image.</a:t>
            </a:r>
          </a:p>
          <a:p>
            <a:r>
              <a:t>  • For ①, praise anyone who says CNN: 'right — don't use a 7B model where a classifier will do.'</a:t>
            </a:r>
          </a:p>
          <a:p>
            <a:r>
              <a:t>  • Spend ~45 seconds total. Keep it brisk and light.</a:t>
            </a:r>
          </a:p>
          <a:p/>
          <a:p>
            <a:r>
              <a:t>🚫 WHAT NOT TO SAY</a:t>
            </a:r>
          </a:p>
          <a:p>
            <a:r>
              <a:t>  ✗ Don't let a wrong answer hang — correct it warmly and immediately.</a:t>
            </a:r>
          </a:p>
          <a:p>
            <a:r>
              <a:t>  ✗ Don't turn this into a discussion; it's a temperature check, not a debate.</a:t>
            </a:r>
          </a:p>
          <a:p/>
          <a:p>
            <a:r>
              <a:t>❓ LIKELY STUDENT QUESTIONS</a:t>
            </a:r>
          </a:p>
          <a:p>
            <a:r>
              <a:t>  Q: Could a VLM do all three?</a:t>
            </a:r>
          </a:p>
          <a:p>
            <a:r>
              <a:t>  A: Yes — and that's the trap. It would be slower and more expensive for jobs 1 and 3. Match the tool to the task.</a:t>
            </a:r>
          </a:p>
          <a:p/>
          <a:p>
            <a:r>
              <a:t>➡️ TRANSITION</a:t>
            </a:r>
          </a:p>
          <a:p>
            <a:r>
              <a:t>Good. Now let's open the box and see how a VLM manages to do job 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Demystify the architecture so fine-tuning makes sense later.</a:t>
            </a:r>
          </a:p>
          <a:p/>
          <a:p>
            <a:r>
              <a:t>🗣️ WHAT TO SAY</a:t>
            </a:r>
          </a:p>
          <a:p>
            <a:r>
              <a:t>  • Eye → translator → mouth. Use those words.</a:t>
            </a:r>
          </a:p>
          <a:p>
            <a:r>
              <a:t>  • Vision encoder = the eye; produces vectors, not words.</a:t>
            </a:r>
          </a:p>
          <a:p>
            <a:r>
              <a:t>  • Projector = a small trained layer, the unsung hero of the whole design.</a:t>
            </a:r>
          </a:p>
          <a:p>
            <a:r>
              <a:t>  • LLM = completely unchanged; it just receives extra 'words' that came from an image.</a:t>
            </a:r>
          </a:p>
          <a:p>
            <a:r>
              <a:t>  • Say clearly: nothing here is magic — it is next-word prediction with a picture prepended.</a:t>
            </a:r>
          </a:p>
          <a:p>
            <a:r>
              <a:t>  • Mention in passing where this is used: medical reports, robotics, driving, education.</a:t>
            </a:r>
          </a:p>
          <a:p/>
          <a:p>
            <a:r>
              <a:t>🚫 WHAT NOT TO SAY</a:t>
            </a:r>
          </a:p>
          <a:p>
            <a:r>
              <a:t>  ✗ Don't discuss ViT patch sizes, embedding dimensions, or cross-attention variants.</a:t>
            </a:r>
          </a:p>
          <a:p>
            <a:r>
              <a:t>  ✗ Don't say the model 'understands' the image — say it maps it into the same space as words.</a:t>
            </a:r>
          </a:p>
          <a:p/>
          <a:p>
            <a:r>
              <a:t>❓ LIKELY STUDENT QUESTIONS</a:t>
            </a:r>
          </a:p>
          <a:p>
            <a:r>
              <a:t>  Q: Is the vision encoder trained from scratch?</a:t>
            </a:r>
          </a:p>
          <a:p>
            <a:r>
              <a:t>  A: Usually not — pre-trained, and often frozen.</a:t>
            </a:r>
          </a:p>
          <a:p>
            <a:r>
              <a:t>  Q: How does it know *where* something is?</a:t>
            </a:r>
          </a:p>
          <a:p>
            <a:r>
              <a:t>  A: The image becomes a grid of vectors, so position survives — that's why it can say 'upper left'.</a:t>
            </a:r>
          </a:p>
          <a:p/>
          <a:p>
            <a:r>
              <a:t>➡️ TRANSITION</a:t>
            </a:r>
          </a:p>
          <a:p>
            <a:r>
              <a:t>That's the machinery. Now let's use it on a real problem — 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Ground the whole lecture in the real data, so every later concept has the same referent.</a:t>
            </a:r>
          </a:p>
          <a:p/>
          <a:p>
            <a:r>
              <a:t>🗣️ WHAT TO SAY</a:t>
            </a:r>
          </a:p>
          <a:p>
            <a:r>
              <a:t>  • These are real images from our dataset — not stock photos.</a:t>
            </a:r>
          </a:p>
          <a:p>
            <a:r>
              <a:t>  • Ask the room: 'which one looks healthy?' Let them find the green-bordered one.</a:t>
            </a:r>
          </a:p>
          <a:p>
            <a:r>
              <a:t>  • Then ask: 'could you tell early blight from late blight?' Most cannot — that's the point. This is genuinely hard, even for people.</a:t>
            </a:r>
          </a:p>
          <a:p>
            <a:r>
              <a:t>  • Note what they all have in common: ONE leaf, plain background, no fruit, no whole plant.</a:t>
            </a:r>
          </a:p>
          <a:p>
            <a:r>
              <a:t>  • That single-leaf fact decides what a truthful caption may say — it returns later.</a:t>
            </a:r>
          </a:p>
          <a:p/>
          <a:p>
            <a:r>
              <a:t>🚫 WHAT NOT TO SAY</a:t>
            </a:r>
          </a:p>
          <a:p>
            <a:r>
              <a:t>  ✗ Don't claim we have fruit images, whitefly, aphids or fruit borer — we do not. Our data is leaves only, 10 tomato classes.</a:t>
            </a:r>
          </a:p>
          <a:p>
            <a:r>
              <a:t>  ✗ Don't dwell on plant pathology — students are here for the AI, not the biology.</a:t>
            </a:r>
          </a:p>
          <a:p/>
          <a:p>
            <a:r>
              <a:t>❓ LIKELY STUDENT QUESTIONS</a:t>
            </a:r>
          </a:p>
          <a:p>
            <a:r>
              <a:t>  Q: Where did these come from?</a:t>
            </a:r>
          </a:p>
          <a:p>
            <a:r>
              <a:t>  A: PlantVillage-style tomato images; the class is the folder name.</a:t>
            </a:r>
          </a:p>
          <a:p>
            <a:r>
              <a:t>  Q: Are these real field photos?</a:t>
            </a:r>
          </a:p>
          <a:p>
            <a:r>
              <a:t>  A: No — controlled captures on a plain background. Real field images would be much harder, and that's a genuine limitation.</a:t>
            </a:r>
          </a:p>
          <a:p/>
          <a:p>
            <a:r>
              <a:t>➡️ TRANSITION</a:t>
            </a:r>
          </a:p>
          <a:p>
            <a:r>
              <a:t>Now — are those classes evenly balanced? Look at the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Teach class imbalance using our own numbers — a lesson that transfers to any ML project.</a:t>
            </a:r>
          </a:p>
          <a:p/>
          <a:p>
            <a:r>
              <a:t>🗣️ WHAT TO SAY</a:t>
            </a:r>
          </a:p>
          <a:p>
            <a:r>
              <a:t>  • Point at the tallest and shortest bars. 5,357 versus 373.</a:t>
            </a:r>
          </a:p>
          <a:p>
            <a:r>
              <a:t>  • Ask: 'if you trained on this, which disease would the model be worst at?' — the rare one.</a:t>
            </a:r>
          </a:p>
          <a:p>
            <a:r>
              <a:t>  • This is one of the first things to check in ANY dataset, before any modelling.</a:t>
            </a:r>
          </a:p>
          <a:p>
            <a:r>
              <a:t>  • Say what we did about it: we report per-class results, not just overall accuracy, so a good average cannot hide a bad class.</a:t>
            </a:r>
          </a:p>
          <a:p/>
          <a:p>
            <a:r>
              <a:t>🚫 WHAT NOT TO SAY</a:t>
            </a:r>
          </a:p>
          <a:p>
            <a:r>
              <a:t>  ✗ Don't go into resampling / class weighting / focal loss — name the problem, not the cures.</a:t>
            </a:r>
          </a:p>
          <a:p>
            <a:r>
              <a:t>  ✗ Don't pretend we fully solved it. We report per-class scores; that's a mitigation, not a fix.</a:t>
            </a:r>
          </a:p>
          <a:p/>
          <a:p>
            <a:r>
              <a:t>❓ LIKELY STUDENT QUESTIONS</a:t>
            </a:r>
          </a:p>
          <a:p>
            <a:r>
              <a:t>  Q: Why not just collect more of the rare class?</a:t>
            </a:r>
          </a:p>
          <a:p>
            <a:r>
              <a:t>  A: Ideally yes — but you photograph what the season gives you. This is the normal situation in agriculture.</a:t>
            </a:r>
          </a:p>
          <a:p>
            <a:r>
              <a:t>  Q: Does imbalance explain the benchmark failures?</a:t>
            </a:r>
          </a:p>
          <a:p>
            <a:r>
              <a:t>  A: No — the benchmark models were never trained on our data at all. This matters for *fine-tuning*, later.</a:t>
            </a:r>
          </a:p>
          <a:p/>
          <a:p>
            <a:r>
              <a:t>➡️ TRANSITION</a:t>
            </a:r>
          </a:p>
          <a:p>
            <a:r>
              <a:t>So this is our data. What do we actually want a model to do with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Frame the engineering goal precisely and introduce the single-leaf constraint.</a:t>
            </a:r>
          </a:p>
          <a:p/>
          <a:p>
            <a:r>
              <a:t>🗣️ WHAT TO SAY</a:t>
            </a:r>
          </a:p>
          <a:p>
            <a:r>
              <a:t>  • Read both boxes aloud — the contrast does the work.</a:t>
            </a:r>
          </a:p>
          <a:p>
            <a:r>
              <a:t>  • The right-hand text is a real output from our fine-tuned system.</a:t>
            </a:r>
          </a:p>
          <a:p>
            <a:r>
              <a:t>  • Single-leaf constraint: it decides what a truthful caption may say. It returns in the caption section.</a:t>
            </a:r>
          </a:p>
          <a:p>
            <a:r>
              <a:t>  • Be exact about scale: 16 images, 6 conditions for the benchmark.</a:t>
            </a:r>
          </a:p>
          <a:p/>
          <a:p>
            <a:r>
              <a:t>🚫 WHAT NOT TO SAY</a:t>
            </a:r>
          </a:p>
          <a:p>
            <a:r>
              <a:t>  ✗ Do NOT inflate the dataset size. Never round 16 up to 'a few dozen'.</a:t>
            </a:r>
          </a:p>
          <a:p>
            <a:r>
              <a:t>  ✗ Don't promise the system diagnoses better than an expert — it doesn't.</a:t>
            </a:r>
          </a:p>
          <a:p/>
          <a:p>
            <a:r>
              <a:t>❓ LIKELY STUDENT QUESTIONS</a:t>
            </a:r>
          </a:p>
          <a:p>
            <a:r>
              <a:t>  Q: Why so few images?</a:t>
            </a:r>
          </a:p>
          <a:p>
            <a:r>
              <a:t>  A: It was a fast qualitative sweep, not a statistical benchmark — and we'll say exactly that when we show the results.</a:t>
            </a:r>
          </a:p>
          <a:p>
            <a:r>
              <a:t>  Q: Where's the data from?</a:t>
            </a:r>
          </a:p>
          <a:p>
            <a:r>
              <a:t>  A: PlantVillage-style tomato leaves; labels come from filename codes.</a:t>
            </a:r>
          </a:p>
          <a:p/>
          <a:p>
            <a:r>
              <a:t>➡️ TRANSITION</a:t>
            </a:r>
          </a:p>
          <a:p>
            <a:r>
              <a:t>Goal set. Now the first real engineering question — which model do we even start from?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Justify benchmarking as an engineering necessity rather than a formality.</a:t>
            </a:r>
          </a:p>
          <a:p/>
          <a:p>
            <a:r>
              <a:t>🗣️ WHAT TO SAY</a:t>
            </a:r>
          </a:p>
          <a:p>
            <a:r>
              <a:t>  • Ask first: 'if I gave you five models, how would you pick one?' Most say leaderboard.</a:t>
            </a:r>
          </a:p>
          <a:p>
            <a:r>
              <a:t>  • Then dismantle it: leaderboards measure general images, not your domain, not your hardware.</a:t>
            </a:r>
          </a:p>
          <a:p>
            <a:r>
              <a:t>  • Point 3 is the one nobody predicts — output format is a hard engineering requirement.</a:t>
            </a:r>
          </a:p>
          <a:p>
            <a:r>
              <a:t>  • This is one of our strongest contributions. Give it room.</a:t>
            </a:r>
          </a:p>
          <a:p/>
          <a:p>
            <a:r>
              <a:t>🚫 WHAT NOT TO SAY</a:t>
            </a:r>
          </a:p>
          <a:p>
            <a:r>
              <a:t>  ✗ Don't dismiss benchmarks as useless — say they answer a *different* question than yours.</a:t>
            </a:r>
          </a:p>
          <a:p/>
          <a:p>
            <a:r>
              <a:t>❓ LIKELY STUDENT QUESTIONS</a:t>
            </a:r>
          </a:p>
          <a:p>
            <a:r>
              <a:t>  Q: Why not just take the biggest model?</a:t>
            </a:r>
          </a:p>
          <a:p>
            <a:r>
              <a:t>  A: Biggest lost. Llama-3.2-11B was 10x slower and ignored our format — you'll see the data.</a:t>
            </a:r>
          </a:p>
          <a:p/>
          <a:p>
            <a:r>
              <a:t>➡️ TRANSITION</a:t>
            </a:r>
          </a:p>
          <a:p>
            <a:r>
              <a:t>Before I show you how we compared them — I want you to design the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Have students derive experimental control themselves — it sticks far better than being told.</a:t>
            </a:r>
          </a:p>
          <a:p/>
          <a:p>
            <a:r>
              <a:t>🗣️ WHAT TO SAY</a:t>
            </a:r>
          </a:p>
          <a:p>
            <a:r>
              <a:t>  • Give a genuine 60 seconds. Let the room get noisy; that's the point.</a:t>
            </a:r>
          </a:p>
          <a:p>
            <a:r>
              <a:t>  • Then harvest 3-4 answers on the board or verbally.</a:t>
            </a:r>
          </a:p>
          <a:p>
            <a:r>
              <a:t>  • Fish for: same prompt, same images, same settings. Measure: correctness, speed, format, memory.</a:t>
            </a:r>
          </a:p>
          <a:p>
            <a:r>
              <a:t>  • Praise anyone who says 'the prompt must be identical' — that's the key insight.</a:t>
            </a:r>
          </a:p>
          <a:p>
            <a:r>
              <a:t>  • Then reveal the next slide as 'here's what we actually did' — they'll recognise their own answers.</a:t>
            </a:r>
          </a:p>
          <a:p/>
          <a:p>
            <a:r>
              <a:t>🚫 WHAT NOT TO SAY</a:t>
            </a:r>
          </a:p>
          <a:p>
            <a:r>
              <a:t>  ✗ Don't answer it yourself if the room is quiet — wait. Silence is uncomfortable but productive.</a:t>
            </a:r>
          </a:p>
          <a:p>
            <a:r>
              <a:t>  ✗ Don't skip this to save time; it is the pedagogical centre of the benchmarking section.</a:t>
            </a:r>
          </a:p>
          <a:p/>
          <a:p>
            <a:r>
              <a:t>❓ LIKELY STUDENT QUESTIONS</a:t>
            </a:r>
          </a:p>
          <a:p>
            <a:r>
              <a:t>  Q: Should we measure accuracy only?</a:t>
            </a:r>
          </a:p>
          <a:p>
            <a:r>
              <a:t>  A: Ask them back: 'what if a model is accurate but takes a minute per image?' Let them arrive at multi-criteria evaluation.</a:t>
            </a:r>
          </a:p>
          <a:p/>
          <a:p>
            <a:r>
              <a:t>➡️ TRANSITION</a:t>
            </a:r>
          </a:p>
          <a:p>
            <a:r>
              <a:t>Let's see how close that is to what we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Teach experimental control — the transferable skill of this whole section.</a:t>
            </a:r>
          </a:p>
          <a:p/>
          <a:p>
            <a:r>
              <a:t>🗣️ WHAT TO SAY</a:t>
            </a:r>
          </a:p>
          <a:p>
            <a:r>
              <a:t>  • Connect explicitly to what they just said: 'several of you said keep the prompt the same — exactly.'</a:t>
            </a:r>
          </a:p>
          <a:p>
            <a:r>
              <a:t>  • Zero-shot = no examples in the prompt. The honest test of what a model already knows.</a:t>
            </a:r>
          </a:p>
          <a:p>
            <a:r>
              <a:t>  • Temperature 0 = greedy decoding = reproducible.</a:t>
            </a:r>
          </a:p>
          <a:p>
            <a:r>
              <a:t>  • Read the bottom line as the true scale of the sweep.</a:t>
            </a:r>
          </a:p>
          <a:p/>
          <a:p>
            <a:r>
              <a:t>🚫 WHAT NOT TO SAY</a:t>
            </a:r>
          </a:p>
          <a:p>
            <a:r>
              <a:t>  ✗ Don't oversell the scale — 16 images is small and we say so later. Don't pre-empt that here.</a:t>
            </a:r>
          </a:p>
          <a:p>
            <a:r>
              <a:t>  ✗ Don't explain sampling/top-p; 'no randomness' is enough.</a:t>
            </a:r>
          </a:p>
          <a:p/>
          <a:p>
            <a:r>
              <a:t>❓ LIKELY STUDENT QUESTIONS</a:t>
            </a:r>
          </a:p>
          <a:p>
            <a:r>
              <a:t>  Q: Zero-shot vs one-shot?</a:t>
            </a:r>
          </a:p>
          <a:p>
            <a:r>
              <a:t>  A: Zero = no examples. One = a single worked example in the prompt. We gave none.</a:t>
            </a:r>
          </a:p>
          <a:p>
            <a:r>
              <a:t>  Q: Why does temperature matter?</a:t>
            </a:r>
          </a:p>
          <a:p>
            <a:r>
              <a:t>  A: With sampling, two runs disagree and you can't attribute the difference to the model.</a:t>
            </a:r>
          </a:p>
          <a:p/>
          <a:p>
            <a:r>
              <a:t>➡️ TRANSITION</a:t>
            </a:r>
          </a:p>
          <a:p>
            <a:r>
              <a:t>Here's the actual prompt — there are no tricks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Show the real instrument, and plant the trap for the hallucination reveal.</a:t>
            </a:r>
          </a:p>
          <a:p/>
          <a:p>
            <a:r>
              <a:t>🗣️ WHAT TO SAY</a:t>
            </a:r>
          </a:p>
          <a:p>
            <a:r>
              <a:t>  • Read the three gold lines aloud, slowly.</a:t>
            </a:r>
          </a:p>
          <a:p>
            <a:r>
              <a:t>  • Stress: we TOLD every model not to hallucinate and to state uncertainty.</a:t>
            </a:r>
          </a:p>
          <a:p>
            <a:r>
              <a:t>  • Say 'remember that' — you will call back to it in two slides.</a:t>
            </a:r>
          </a:p>
          <a:p>
            <a:r>
              <a:t>  • Fixed fields = machine-readable answers, which becomes a selection criterion later.</a:t>
            </a:r>
          </a:p>
          <a:p/>
          <a:p>
            <a:r>
              <a:t>🚫 WHAT NOT TO SAY</a:t>
            </a:r>
          </a:p>
          <a:p>
            <a:r>
              <a:t>  ✗ Don't read out all ten fields — it's boring and the detail doesn't matter.</a:t>
            </a:r>
          </a:p>
          <a:p>
            <a:r>
              <a:t>  ✗ Don't claim this is an optimal prompt; it's a *fair* one.</a:t>
            </a:r>
          </a:p>
          <a:p/>
          <a:p>
            <a:r>
              <a:t>❓ LIKELY STUDENT QUESTIONS</a:t>
            </a:r>
          </a:p>
          <a:p>
            <a:r>
              <a:t>  Q: Could a better prompt fix the failures?</a:t>
            </a:r>
          </a:p>
          <a:p>
            <a:r>
              <a:t>  A: Possibly some — prompt sensitivity is real. But the same prompt was fair to all, and the failures we saw were factual, not formatting.</a:t>
            </a:r>
          </a:p>
          <a:p/>
          <a:p>
            <a:r>
              <a:t>➡️ TRANSITION</a:t>
            </a:r>
          </a:p>
          <a:p>
            <a:r>
              <a:t>Eight models went through this. Here's the 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State the bench precisely and honestly, including the two-machine split.</a:t>
            </a:r>
          </a:p>
          <a:p/>
          <a:p>
            <a:r>
              <a:t>🗣️ WHAT TO SAY</a:t>
            </a:r>
          </a:p>
          <a:p>
            <a:r>
              <a:t>  • Eight distinct models; Qwen appears on both setups.</a:t>
            </a:r>
          </a:p>
          <a:p>
            <a:r>
              <a:t>  • Setup A is the sweep whose numbers you'll see — that data is fully recorded.</a:t>
            </a:r>
          </a:p>
          <a:p>
            <a:r>
              <a:t>  • Setup B was our other pipeline; BLIP-2 later lost the output format, Florence-2 needed patching.</a:t>
            </a:r>
          </a:p>
          <a:p>
            <a:r>
              <a:t>  • Every chart in this deck comes from Setup A. Be precise if asked.</a:t>
            </a:r>
          </a:p>
          <a:p/>
          <a:p>
            <a:r>
              <a:t>🚫 WHAT NOT TO SAY</a:t>
            </a:r>
          </a:p>
          <a:p>
            <a:r>
              <a:t>  ✗ Don't blur the two setups together — if challenged, you must be able to separate them.</a:t>
            </a:r>
          </a:p>
          <a:p>
            <a:r>
              <a:t>  ✗ Don't claim a scored eight-model ranking; we never ran the automated judge.</a:t>
            </a:r>
          </a:p>
          <a:p/>
          <a:p>
            <a:r>
              <a:t>❓ LIKELY STUDENT QUESTIONS</a:t>
            </a:r>
          </a:p>
          <a:p>
            <a:r>
              <a:t>  Q: Why 4-bit?</a:t>
            </a:r>
          </a:p>
          <a:p>
            <a:r>
              <a:t>  A: Quantisation shrinks the model so 7-12B fits in 24 GB of shared memory.</a:t>
            </a:r>
          </a:p>
          <a:p>
            <a:r>
              <a:t>  Q: Which numbers come from where?</a:t>
            </a:r>
          </a:p>
          <a:p>
            <a:r>
              <a:t>  A: Every chart here is Setup A, the Apple Silicon sweep.</a:t>
            </a:r>
          </a:p>
          <a:p/>
          <a:p>
            <a:r>
              <a:t>➡️ TRANSITION</a:t>
            </a:r>
          </a:p>
          <a:p>
            <a:r>
              <a:t>Let's look at what came back — one leaf, two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Make hallucination visceral using one image and four real, recorded answers.</a:t>
            </a:r>
          </a:p>
          <a:p/>
          <a:p>
            <a:r>
              <a:t>🗣️ WHAT TO SAY</a:t>
            </a:r>
          </a:p>
          <a:p>
            <a:r>
              <a:t>  • Slow right down. This is the emotional centre of the lecture.</a:t>
            </a:r>
          </a:p>
          <a:p>
            <a:r>
              <a:t>  • Same leaf you saw on slide 2 — we are following ONE image through the whole talk.</a:t>
            </a:r>
          </a:p>
          <a:p>
            <a:r>
              <a:t>  • Read the four species answers across: Uncertain · a legume · SOYBEAN · Unknown.</a:t>
            </a:r>
          </a:p>
          <a:p>
            <a:r>
              <a:t>  • Gemma-3 looked at a tomato leaf, said Soybean, then named a soybean disease to match — at 75%.</a:t>
            </a:r>
          </a:p>
          <a:p>
            <a:r>
              <a:t>  • Call back to the prompt: 'we explicitly told them not to hallucinate and to admit doubt.'</a:t>
            </a:r>
          </a:p>
          <a:p>
            <a:r>
              <a:t>  • Then the killer line: not one of them said late blight. Four models, four answers, all wrong.</a:t>
            </a:r>
          </a:p>
          <a:p/>
          <a:p>
            <a:r>
              <a:t>🚫 WHAT NOT TO SAY</a:t>
            </a:r>
          </a:p>
          <a:p>
            <a:r>
              <a:t>  ✗ Don't mock the models — this is a systemic property, not a funny bug.</a:t>
            </a:r>
          </a:p>
          <a:p>
            <a:r>
              <a:t>  ✗ Don't imply Qwen 'won' here. It also failed to identify the disease.</a:t>
            </a:r>
          </a:p>
          <a:p>
            <a:r>
              <a:t>  ✗ Don't skip the confidence row — confident-and-wrong is the whole danger.</a:t>
            </a:r>
          </a:p>
          <a:p/>
          <a:p>
            <a:r>
              <a:t>❓ LIKELY STUDENT QUESTIONS</a:t>
            </a:r>
          </a:p>
          <a:p>
            <a:r>
              <a:t>  Q: Why soybean?</a:t>
            </a:r>
          </a:p>
          <a:p>
            <a:r>
              <a:t>  A: Probably a prior from training data — soybean leaves are common in agricultural datasets. It pattern-matched shape, not species.</a:t>
            </a:r>
          </a:p>
          <a:p>
            <a:r>
              <a:t>  Q: Would a bigger model fix it?</a:t>
            </a:r>
          </a:p>
          <a:p>
            <a:r>
              <a:t>  A: Gemma-3-12B was the biggest here, and it hallucinated most.</a:t>
            </a:r>
          </a:p>
          <a:p>
            <a:r>
              <a:t>  Q: Is 'leaf spot' not close enough?</a:t>
            </a:r>
          </a:p>
          <a:p>
            <a:r>
              <a:t>  A: No — it's a generic family, not a diagnosis. A farmer cannot act on it.</a:t>
            </a:r>
          </a:p>
          <a:p/>
          <a:p>
            <a:r>
              <a:t>➡️ TRANSITION</a:t>
            </a:r>
          </a:p>
          <a:p>
            <a:r>
              <a:t>That's one leaf. Before I show you all sixteen — I want you to make a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Create a prediction gap — students remember a result far better when they committed to a guess first.</a:t>
            </a:r>
          </a:p>
          <a:p/>
          <a:p>
            <a:r>
              <a:t>🗣️ WHAT TO SAY</a:t>
            </a:r>
          </a:p>
          <a:p>
            <a:r>
              <a:t>  • Read the five bands and take a show of hands for each. Count them out loud.</a:t>
            </a:r>
          </a:p>
          <a:p>
            <a:r>
              <a:t>  • Most rooms cluster around 8-15. Note that publicly: 'so most of us expect at least half.'</a:t>
            </a:r>
          </a:p>
          <a:p>
            <a:r>
              <a:t>  • Do NOT hint at the answer with your tone.</a:t>
            </a:r>
          </a:p>
          <a:p>
            <a:r>
              <a:t>  • Then move to the next slide and let the chart do the work.</a:t>
            </a:r>
          </a:p>
          <a:p/>
          <a:p>
            <a:r>
              <a:t>🚫 WHAT NOT TO SAY</a:t>
            </a:r>
          </a:p>
          <a:p>
            <a:r>
              <a:t>  ✗ Don't reveal the answer here, even if someone shouts it out.</a:t>
            </a:r>
          </a:p>
          <a:p>
            <a:r>
              <a:t>  ✗ Don't say 'you'll be surprised' — that leaks the result.</a:t>
            </a:r>
          </a:p>
          <a:p/>
          <a:p>
            <a:r>
              <a:t>❓ LIKELY STUDENT QUESTIONS</a:t>
            </a:r>
          </a:p>
          <a:p>
            <a:r>
              <a:t>  Q: Does 'best' mean best overall or per image?</a:t>
            </a:r>
          </a:p>
          <a:p>
            <a:r>
              <a:t>  A: Best-performing single model across the 16.</a:t>
            </a:r>
          </a:p>
          <a:p/>
          <a:p>
            <a:r>
              <a:t>➡️ TRANSITION</a:t>
            </a:r>
          </a:p>
          <a:p>
            <a:r>
              <a:t>Let's see. Here is what actually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Deliver the central empirical finding without spin, and model honest reporting.</a:t>
            </a:r>
          </a:p>
          <a:p/>
          <a:p>
            <a:r>
              <a:t>🗣️ WHAT TO SAY</a:t>
            </a:r>
          </a:p>
          <a:p>
            <a:r>
              <a:t>  • Let the chart sit in silence for three seconds before you speak.</a:t>
            </a:r>
          </a:p>
          <a:p>
            <a:r>
              <a:t>  • Then say it flatly: none of the models were reliable. The best got 3 of 16.</a:t>
            </a:r>
          </a:p>
          <a:p>
            <a:r>
              <a:t>  • Compare to their predictions: 'most of you said 8 or more. So did we.'</a:t>
            </a:r>
          </a:p>
          <a:p>
            <a:r>
              <a:t>  • Frame it as valuable: a negative result that redirected the entire project.</a:t>
            </a:r>
          </a:p>
          <a:p/>
          <a:p>
            <a:r>
              <a:t>🚫 WHAT NOT TO SAY</a:t>
            </a:r>
          </a:p>
          <a:p>
            <a:r>
              <a:t>  ✗ Do NOT rescue this. Never say 'but Qwen showed promise'. The honesty IS the content.</a:t>
            </a:r>
          </a:p>
          <a:p>
            <a:r>
              <a:t>  ✗ Don't blame the models or the prompt — state the finding and move on.</a:t>
            </a:r>
          </a:p>
          <a:p/>
          <a:p>
            <a:r>
              <a:t>❓ LIKELY STUDENT QUESTIONS</a:t>
            </a:r>
          </a:p>
          <a:p>
            <a:r>
              <a:t>  Q: Then why use VLMs at all?</a:t>
            </a:r>
          </a:p>
          <a:p>
            <a:r>
              <a:t>  A: Because the failure is fixable by fine-tuning — and we'll show it was.</a:t>
            </a:r>
          </a:p>
          <a:p>
            <a:r>
              <a:t>  Q: Isn't 16 too few to conclude that?</a:t>
            </a:r>
          </a:p>
          <a:p>
            <a:r>
              <a:t>  A: For a precise ranking, yes, and we say so. But 0-3 out of 16 across four models is a clear signal.</a:t>
            </a:r>
          </a:p>
          <a:p/>
          <a:p>
            <a:r>
              <a:t>➡️ TRANSITION</a:t>
            </a:r>
          </a:p>
          <a:p>
            <a:r>
              <a:t>So if none of them can diagnose — on what basis do you choose one at all?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Teach a genuine engineering trade-off and pre-empt the obvious objection.</a:t>
            </a:r>
          </a:p>
          <a:p/>
          <a:p>
            <a:r>
              <a:t>🗣️ WHAT TO SAY</a:t>
            </a:r>
          </a:p>
          <a:p>
            <a:r>
              <a:t>  • Say the objection before they do: 'you're thinking Gemma got 3 and Qwen got 0 — correct.'</a:t>
            </a:r>
          </a:p>
          <a:p>
            <a:r>
              <a:t>  • Answer: 3/16 isn't usable either. Neither is a diagnostician.</a:t>
            </a:r>
          </a:p>
          <a:p>
            <a:r>
              <a:t>  • So select for trainability: format stability, speed, calibrated doubt.</a:t>
            </a:r>
          </a:p>
          <a:p>
            <a:r>
              <a:t>  • Supporting evidence from our other setup: BLIP-2 lost the format after fine-tuning; Qwen held it.</a:t>
            </a:r>
          </a:p>
          <a:p/>
          <a:p>
            <a:r>
              <a:t>🚫 WHAT NOT TO SAY</a:t>
            </a:r>
          </a:p>
          <a:p>
            <a:r>
              <a:t>  ✗ Don't claim Qwen 'understood agriculture better' — our own data contradicts that.</a:t>
            </a:r>
          </a:p>
          <a:p>
            <a:r>
              <a:t>  ✗ Don't present this as a scored decision; it was a qualitative judgement plus these measurements.</a:t>
            </a:r>
          </a:p>
          <a:p/>
          <a:p>
            <a:r>
              <a:t>❓ LIKELY STUDENT QUESTIONS</a:t>
            </a:r>
          </a:p>
          <a:p>
            <a:r>
              <a:t>  Q: Isn't choosing the least accurate model strange?</a:t>
            </a:r>
          </a:p>
          <a:p>
            <a:r>
              <a:t>  A: It would be if we shipped it as-is. We were choosing a starting point to teach.</a:t>
            </a:r>
          </a:p>
          <a:p>
            <a:r>
              <a:t>  Q: Was it formally scored?</a:t>
            </a:r>
          </a:p>
          <a:p>
            <a:r>
              <a:t>  A: No — we designed an automated judge but never ran it. We're clear about that.</a:t>
            </a:r>
          </a:p>
          <a:p/>
          <a:p>
            <a:r>
              <a:t>➡️ TRANSITION</a:t>
            </a:r>
          </a:p>
          <a:p>
            <a:r>
              <a:t>We have our student. Now — how do you teach it? First, a question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Let students discover the circularity trap themselves rather than being told.</a:t>
            </a:r>
          </a:p>
          <a:p/>
          <a:p>
            <a:r>
              <a:t>🗣️ WHAT TO SAY</a:t>
            </a:r>
          </a:p>
          <a:p>
            <a:r>
              <a:t>  • Take answers for each option. Most rooms suggest 'ask a model' first — it's the obvious one.</a:t>
            </a:r>
          </a:p>
          <a:p>
            <a:r>
              <a:t>  • When they do, ask the killer question: 'which model? The one that just got 3 out of 16?'</a:t>
            </a:r>
          </a:p>
          <a:p>
            <a:r>
              <a:t>  • Let the silence land. That's the lesson.</a:t>
            </a:r>
          </a:p>
          <a:p>
            <a:r>
              <a:t>  • Then draw out hand-written: accurate but slow. Label-derived: fast but generic.</a:t>
            </a:r>
          </a:p>
          <a:p>
            <a:r>
              <a:t>  • Tell them there is no clean answer — and that our honest answer is on the next slides.</a:t>
            </a:r>
          </a:p>
          <a:p/>
          <a:p>
            <a:r>
              <a:t>🚫 WHAT NOT TO SAY</a:t>
            </a:r>
          </a:p>
          <a:p>
            <a:r>
              <a:t>  ✗ Don't give the answer before they've tried. This slide fails if you rush it.</a:t>
            </a:r>
          </a:p>
          <a:p>
            <a:r>
              <a:t>  ✗ Don't dismiss 'ask a VLM' as stupid — it's what most of the field does. It's just circular.</a:t>
            </a:r>
          </a:p>
          <a:p/>
          <a:p>
            <a:r>
              <a:t>❓ LIKELY STUDENT QUESTIONS</a:t>
            </a:r>
          </a:p>
          <a:p>
            <a:r>
              <a:t>  Q: Couldn't we use a much bigger model like GPT-4o?</a:t>
            </a:r>
          </a:p>
          <a:p>
            <a:r>
              <a:t>  A: Better, but same problem — you'd inherit its errors, and you can't verify them at scale in a specialist domain.</a:t>
            </a:r>
          </a:p>
          <a:p/>
          <a:p>
            <a:r>
              <a:t>➡️ TRANSITION</a:t>
            </a:r>
          </a:p>
          <a:p>
            <a:r>
              <a:t>Here's what we actually did — and where each approach falls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Motivate fine-tuning as specialisation, using the benchmark failure as the reason.</a:t>
            </a:r>
          </a:p>
          <a:p/>
          <a:p>
            <a:r>
              <a:t>🗣️ WHAT TO SAY</a:t>
            </a:r>
          </a:p>
          <a:p>
            <a:r>
              <a:t>  • Analogy: a bright graduate who has read everything and practised nothing.</a:t>
            </a:r>
          </a:p>
          <a:p>
            <a:r>
              <a:t>  • Fine-tuning is the residency — many examples from one domain.</a:t>
            </a:r>
          </a:p>
          <a:p>
            <a:r>
              <a:t>  • Tie directly back: this is the fix for the 0-3/16 result.</a:t>
            </a:r>
          </a:p>
          <a:p>
            <a:r>
              <a:t>  • Second goal, easy to miss: consistency of format, not only correctness.</a:t>
            </a:r>
          </a:p>
          <a:p/>
          <a:p>
            <a:r>
              <a:t>🚫 WHAT NOT TO SAY</a:t>
            </a:r>
          </a:p>
          <a:p>
            <a:r>
              <a:t>  ✗ Don't say fine-tuning 'adds facts' — it teaches a behaviour: what to look at and how to say it.</a:t>
            </a:r>
          </a:p>
          <a:p>
            <a:r>
              <a:t>  ✗ Don't get drawn into RAG vs fine-tuning; park it for Q&amp;A.</a:t>
            </a:r>
          </a:p>
          <a:p/>
          <a:p>
            <a:r>
              <a:t>❓ LIKELY STUDENT QUESTIONS</a:t>
            </a:r>
          </a:p>
          <a:p>
            <a:r>
              <a:t>  Q: Why not put the knowledge in the prompt?</a:t>
            </a:r>
          </a:p>
          <a:p>
            <a:r>
              <a:t>  A: You can, and it helps a bit — but it costs tokens every call and doesn't fix format drift.</a:t>
            </a:r>
          </a:p>
          <a:p>
            <a:r>
              <a:t>  Q: How much data does it need?</a:t>
            </a:r>
          </a:p>
          <a:p>
            <a:r>
              <a:t>  A: Hundreds to thousands, not millions.</a:t>
            </a:r>
          </a:p>
          <a:p/>
          <a:p>
            <a:r>
              <a:t>➡️ TRANSITION</a:t>
            </a:r>
          </a:p>
          <a:p>
            <a:r>
              <a:t>To teach by example you need examples. What does one example actually look like?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Explain supervised learning intuitively — no loss equations.</a:t>
            </a:r>
          </a:p>
          <a:p/>
          <a:p>
            <a:r>
              <a:t>🗣️ WHAT TO SAY</a:t>
            </a:r>
          </a:p>
          <a:p>
            <a:r>
              <a:t>  • Flashcards is the entire metaphor. Front = image + question. Back = the caption.</a:t>
            </a:r>
          </a:p>
          <a:p>
            <a:r>
              <a:t>  • Be precise about the mechanism: it does NOT compare whole sentences.</a:t>
            </a:r>
          </a:p>
          <a:p>
            <a:r>
              <a:t>  • Word by word, it checks 'how much probability did I give the correct next word?'</a:t>
            </a:r>
          </a:p>
          <a:p>
            <a:r>
              <a:t>  • That gap is the error; the nudge is the update. Say 'one word at a time' twice.</a:t>
            </a:r>
          </a:p>
          <a:p/>
          <a:p>
            <a:r>
              <a:t>🚫 WHAT NOT TO SAY</a:t>
            </a:r>
          </a:p>
          <a:p>
            <a:r>
              <a:t>  ✗ Don't write cross-entropy on the board. Don't say 'loss function' unless asked.</a:t>
            </a:r>
          </a:p>
          <a:p>
            <a:r>
              <a:t>  ✗ Don't say the model 'remembers' the caption — it adjusts weights.</a:t>
            </a:r>
          </a:p>
          <a:p/>
          <a:p>
            <a:r>
              <a:t>❓ LIKELY STUDENT QUESTIONS</a:t>
            </a:r>
          </a:p>
          <a:p>
            <a:r>
              <a:t>  Q: Does it compare its sentence to ours?</a:t>
            </a:r>
          </a:p>
          <a:p>
            <a:r>
              <a:t>  A: No — per word, how much probability it gave the correct next word.</a:t>
            </a:r>
          </a:p>
          <a:p>
            <a:r>
              <a:t>  Q: What if two captions are both right?</a:t>
            </a:r>
          </a:p>
          <a:p>
            <a:r>
              <a:t>  A: Excellent — that's exactly the next problem we hit.</a:t>
            </a:r>
          </a:p>
          <a:p/>
          <a:p>
            <a:r>
              <a:t>➡️ TRANSITION</a:t>
            </a:r>
          </a:p>
          <a:p>
            <a:r>
              <a:t>So where do those answer keys come from? The question you just discussed.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Model intellectual honesty — the single most important slide for credibility.</a:t>
            </a:r>
          </a:p>
          <a:p/>
          <a:p>
            <a:r>
              <a:t>🗣️ WHAT TO SAY</a:t>
            </a:r>
          </a:p>
          <a:p>
            <a:r>
              <a:t>  • Red bar first: the shortcut we refused, justified by our own benchmark.</a:t>
            </a:r>
          </a:p>
          <a:p>
            <a:r>
              <a:t>  • Then both approaches — and READ THE MINUS LINES OUT LOUD.</a:t>
            </a:r>
          </a:p>
          <a:p>
            <a:r>
              <a:t>  • Approach 1's flaw is real: captions grounded in the LABEL, not the pixels.</a:t>
            </a:r>
          </a:p>
          <a:p>
            <a:r>
              <a:t>  • Approach 2's flaw is real: 30 images is small; one annotator means no agreement statistic.</a:t>
            </a:r>
          </a:p>
          <a:p>
            <a:r>
              <a:t>  • Close on the hybrid as honest future work — not as something we've already built.</a:t>
            </a:r>
          </a:p>
          <a:p/>
          <a:p>
            <a:r>
              <a:t>🚫 WHAT NOT TO SAY</a:t>
            </a:r>
          </a:p>
          <a:p>
            <a:r>
              <a:t>  ✗ Do NOT skip or soften the minus lines. They are the point of the slide.</a:t>
            </a:r>
          </a:p>
          <a:p>
            <a:r>
              <a:t>  ✗ Don't claim the hybrid is implemented — it isn't.</a:t>
            </a:r>
          </a:p>
          <a:p/>
          <a:p>
            <a:r>
              <a:t>❓ LIKELY STUDENT QUESTIONS</a:t>
            </a:r>
          </a:p>
          <a:p>
            <a:r>
              <a:t>  Q: Isn't caption-from-label just classification in disguise?</a:t>
            </a:r>
          </a:p>
          <a:p>
            <a:r>
              <a:t>  A: Largely fair — it's why our hardest class performs badly, and why the hybrid is next.</a:t>
            </a:r>
          </a:p>
          <a:p>
            <a:r>
              <a:t>  Q: Which did you finally use?</a:t>
            </a:r>
          </a:p>
          <a:p>
            <a:r>
              <a:t>  A: Both, in two pipelines. One gave scale, the other grounding.</a:t>
            </a:r>
          </a:p>
          <a:p/>
          <a:p>
            <a:r>
              <a:t>➡️ TRANSITION</a:t>
            </a:r>
          </a:p>
          <a:p>
            <a:r>
              <a:t>One more caption idea worth seeing — why we wrote five per leaf.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Explain multi-reference supervision and why it prevents parroting.</a:t>
            </a:r>
          </a:p>
          <a:p/>
          <a:p>
            <a:r>
              <a:t>🗣️ WHAT TO SAY</a:t>
            </a:r>
          </a:p>
          <a:p>
            <a:r>
              <a:t>  • These are our real captions, unedited.</a:t>
            </a:r>
          </a:p>
          <a:p>
            <a:r>
              <a:t>  • Ask the room: 'which one is correct?' Wait. Answer: all five.</a:t>
            </a:r>
          </a:p>
          <a:p>
            <a:r>
              <a:t>  • If we gave only one, the model would learn that exact sentence — parroting, not seeing.</a:t>
            </a:r>
          </a:p>
          <a:p>
            <a:r>
              <a:t>  • Five phrasings force it to learn the underlying visual facts.</a:t>
            </a:r>
          </a:p>
          <a:p/>
          <a:p>
            <a:r>
              <a:t>🚫 WHAT NOT TO SAY</a:t>
            </a:r>
          </a:p>
          <a:p>
            <a:r>
              <a:t>  ✗ Don't imply five is a magic number — it was a practical choice.</a:t>
            </a:r>
          </a:p>
          <a:p/>
          <a:p>
            <a:r>
              <a:t>❓ LIKELY STUDENT QUESTIONS</a:t>
            </a:r>
          </a:p>
          <a:p>
            <a:r>
              <a:t>  Q: Why five?</a:t>
            </a:r>
          </a:p>
          <a:p>
            <a:r>
              <a:t>  A: A practical balance between annotation effort and variety.</a:t>
            </a:r>
          </a:p>
          <a:p>
            <a:r>
              <a:t>  Q: Do all five get used?</a:t>
            </a:r>
          </a:p>
          <a:p>
            <a:r>
              <a:t>  A: Yes — each becomes its own training example for the same image.</a:t>
            </a:r>
          </a:p>
          <a:p/>
          <a:p>
            <a:r>
              <a:t>➡️ TRANSITION</a:t>
            </a:r>
          </a:p>
          <a:p>
            <a:r>
              <a:t>Now the trick that makes training this possible on a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Explain parameter-efficient fine-tuning without matrix maths.</a:t>
            </a:r>
          </a:p>
          <a:p/>
          <a:p>
            <a:r>
              <a:t>🗣️ WHAT TO SAY</a:t>
            </a:r>
          </a:p>
          <a:p>
            <a:r>
              <a:t>  • Problem: a 7B model's full weights won't fit in 24 GB for training.</a:t>
            </a:r>
          </a:p>
          <a:p>
            <a:r>
              <a:t>  • LoRA: freeze everything, insert small trainable matrices, train only those.</a:t>
            </a:r>
          </a:p>
          <a:p>
            <a:r>
              <a:t>  • The four stat boxes are real numbers from our run.</a:t>
            </a:r>
          </a:p>
          <a:p>
            <a:r>
              <a:t>  • Sticky-notes metaphor is the takeaway — say it twice.</a:t>
            </a:r>
          </a:p>
          <a:p>
            <a:r>
              <a:t>  • Consequence worth naming: one base model + many small adapters = many crops.</a:t>
            </a:r>
          </a:p>
          <a:p/>
          <a:p>
            <a:r>
              <a:t>🚫 WHAT NOT TO SAY</a:t>
            </a:r>
          </a:p>
          <a:p>
            <a:r>
              <a:t>  ✗ Don't show the low-rank decomposition or write W + BA.</a:t>
            </a:r>
          </a:p>
          <a:p>
            <a:r>
              <a:t>  ✗ Don't claim LoRA is as good as full fine-tuning in general — say 'close enough, and it's the difference between possible and impossible on our hardware.'</a:t>
            </a:r>
          </a:p>
          <a:p/>
          <a:p>
            <a:r>
              <a:t>❓ LIKELY STUDENT QUESTIONS</a:t>
            </a:r>
          </a:p>
          <a:p>
            <a:r>
              <a:t>  Q: Does LoRA hurt quality?</a:t>
            </a:r>
          </a:p>
          <a:p>
            <a:r>
              <a:t>  A: Slightly in theory; very close in practice for tasks like this.</a:t>
            </a:r>
          </a:p>
          <a:p>
            <a:r>
              <a:t>  Q: What's QLoRA?</a:t>
            </a:r>
          </a:p>
          <a:p>
            <a:r>
              <a:t>  A: LoRA on top of a 4-bit quantised base — that's what we ran.</a:t>
            </a:r>
          </a:p>
          <a:p/>
          <a:p>
            <a:r>
              <a:t>➡️ TRANSITION</a:t>
            </a:r>
          </a:p>
          <a:p>
            <a:r>
              <a:t>Put it all together and you get a working system. Let's look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Show that the pipeline became a usable thing, not just a notebook.</a:t>
            </a:r>
          </a:p>
          <a:p/>
          <a:p>
            <a:r>
              <a:t>🗣️ WHAT TO SAY</a:t>
            </a:r>
          </a:p>
          <a:p>
            <a:r>
              <a:t>  • These are genuine screenshots of our app, not mock-ups.</a:t>
            </a:r>
          </a:p>
          <a:p>
            <a:r>
              <a:t>  • Walk it: upload → prediction → structured fields → logged to disk.</a:t>
            </a:r>
          </a:p>
          <a:p>
            <a:r>
              <a:t>  • Explain the confidence number: the average probability the model gave the words it chose.</a:t>
            </a:r>
          </a:p>
          <a:p>
            <a:r>
              <a:t>  • Note the logging — every prediction is auditable after the fact.</a:t>
            </a:r>
          </a:p>
          <a:p/>
          <a:p>
            <a:r>
              <a:t>🚫 WHAT NOT TO SAY</a:t>
            </a:r>
          </a:p>
          <a:p>
            <a:r>
              <a:t>  ✗ Don't demo live unless you've tested it that morning on that machine.</a:t>
            </a:r>
          </a:p>
          <a:p>
            <a:r>
              <a:t>  ✗ Don't present the confidence number as a probability of being correct — it isn't.</a:t>
            </a:r>
          </a:p>
          <a:p/>
          <a:p>
            <a:r>
              <a:t>❓ LIKELY STUDENT QUESTIONS</a:t>
            </a:r>
          </a:p>
          <a:p>
            <a:r>
              <a:t>  Q: Can we try it?</a:t>
            </a:r>
          </a:p>
          <a:p>
            <a:r>
              <a:t>  A: Yes — come find us afterwards.</a:t>
            </a:r>
          </a:p>
          <a:p>
            <a:r>
              <a:t>  Q: What does the confidence mean?</a:t>
            </a:r>
          </a:p>
          <a:p>
            <a:r>
              <a:t>  A: How sure the model was about the words it produced. Low value = unsure, and we flag it.</a:t>
            </a:r>
          </a:p>
          <a:p/>
          <a:p>
            <a:r>
              <a:t>➡️ TRANSITION</a:t>
            </a:r>
          </a:p>
          <a:p>
            <a:r>
              <a:t>But is it actually better than where we started? Judge for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Show the payoff concretely — and mark the boundary of what it proves.</a:t>
            </a:r>
          </a:p>
          <a:p/>
          <a:p>
            <a:r>
              <a:t>🗣️ WHAT TO SAY</a:t>
            </a:r>
          </a:p>
          <a:p>
            <a:r>
              <a:t>  • INTERACTION: show the BASE side first (cover the right half), ask 'what's wrong with this answer?' Take two answers, then reveal the fine-tuned side.</a:t>
            </a:r>
          </a:p>
          <a:p>
            <a:r>
              <a:t>  • Read a little of the base waffle aloud — the hedging is the point.</a:t>
            </a:r>
          </a:p>
          <a:p>
            <a:r>
              <a:t>  • Connect back to slide 4: 'an answer with the evidence attached'.</a:t>
            </a:r>
          </a:p>
          <a:p>
            <a:r>
              <a:t>  • Then the honesty line: this is behaviour change, not an accuracy claim.</a:t>
            </a:r>
          </a:p>
          <a:p/>
          <a:p>
            <a:r>
              <a:t>🚫 WHAT NOT TO SAY</a:t>
            </a:r>
          </a:p>
          <a:p>
            <a:r>
              <a:t>  ✗ Do NOT present this as evidence of accuracy — accuracy needs a held-out test set.</a:t>
            </a:r>
          </a:p>
          <a:p>
            <a:r>
              <a:t>  ✗ Don't cherry-pick language like 'dramatically better' — let them see it.</a:t>
            </a:r>
          </a:p>
          <a:p/>
          <a:p>
            <a:r>
              <a:t>❓ LIKELY STUDENT QUESTIONS</a:t>
            </a:r>
          </a:p>
          <a:p>
            <a:r>
              <a:t>  Q: Is the fine-tuned answer always right?</a:t>
            </a:r>
          </a:p>
          <a:p>
            <a:r>
              <a:t>  A: No. More consistent and specific. Accuracy needs a held-out test set, and some classes remain hard.</a:t>
            </a:r>
          </a:p>
          <a:p>
            <a:r>
              <a:t>  Q: Why is the base output cut off?</a:t>
            </a:r>
          </a:p>
          <a:p>
            <a:r>
              <a:t>  A: It hit the token limit mid-sentence — a practical problem with unfocused models.</a:t>
            </a:r>
          </a:p>
          <a:p/>
          <a:p>
            <a:r>
              <a:t>➡️ TRANSITION</a:t>
            </a:r>
          </a:p>
          <a:p>
            <a:r>
              <a:t>Let's check what stuck before we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Retrieval practice — the strongest single thing you can do for retention.</a:t>
            </a:r>
          </a:p>
          <a:p/>
          <a:p>
            <a:r>
              <a:t>🗣️ WHAT TO SAY</a:t>
            </a:r>
          </a:p>
          <a:p>
            <a:r>
              <a:t>  • Take each in turn, hands up, ~20 seconds each.</a:t>
            </a:r>
          </a:p>
          <a:p>
            <a:r>
              <a:t>  • ① vision encoder → projector → LLM.</a:t>
            </a:r>
          </a:p>
          <a:p>
            <a:r>
              <a:t>  • ② circularity — it can't diagnose, so it can't teach; our benchmark measured 3/16.</a:t>
            </a:r>
          </a:p>
          <a:p>
            <a:r>
              <a:t>  • ③ about half a percent — 0.484% in our run.</a:t>
            </a:r>
          </a:p>
          <a:p>
            <a:r>
              <a:t>  • Praise partial answers. The act of retrieving matters more than being right.</a:t>
            </a:r>
          </a:p>
          <a:p/>
          <a:p>
            <a:r>
              <a:t>🚫 WHAT NOT TO SAY</a:t>
            </a:r>
          </a:p>
          <a:p>
            <a:r>
              <a:t>  ✗ Don't let it run long — 60 seconds total.</a:t>
            </a:r>
          </a:p>
          <a:p>
            <a:r>
              <a:t>  ✗ Don't move on if the room is silent on ②; that's the one that matters most. Prompt them.</a:t>
            </a:r>
          </a:p>
          <a:p/>
          <a:p>
            <a:r>
              <a:t>❓ LIKELY STUDENT QUESTIONS</a:t>
            </a:r>
          </a:p>
          <a:p>
            <a:r>
              <a:t>  Q: Was that in the exam scope?</a:t>
            </a:r>
          </a:p>
          <a:p>
            <a:r>
              <a:t>  A: Deflect warmly — this is about understanding, not assessment.</a:t>
            </a:r>
          </a:p>
          <a:p/>
          <a:p>
            <a:r>
              <a:t>➡️ TRANSITION</a:t>
            </a:r>
          </a:p>
          <a:p>
            <a:r>
              <a:t>Last slide — where we actually 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LEARNING OBJECTIVE</a:t>
            </a:r>
          </a:p>
          <a:p>
            <a:r>
              <a:t>Model scientific honesty, then close and open the floor.</a:t>
            </a:r>
          </a:p>
          <a:p/>
          <a:p>
            <a:r>
              <a:t>🗣️ WHAT TO SAY</a:t>
            </a:r>
          </a:p>
          <a:p>
            <a:r>
              <a:t>  • Read the middle column as confidently as the left one. That is the whole point.</a:t>
            </a:r>
          </a:p>
          <a:p>
            <a:r>
              <a:t>  • Naming your own limitations first removes their power as attacks.</a:t>
            </a:r>
          </a:p>
          <a:p>
            <a:r>
              <a:t>  • The CNN admission matters — we used CNN-vs-VLM as an argument but never trained one.</a:t>
            </a:r>
          </a:p>
          <a:p>
            <a:r>
              <a:t>  • Recap the three takeaways verbally: a VLM is an LLM that can see · benchmark on YOUR data · none worked zero-shot, which is why we fine-tuned.</a:t>
            </a:r>
          </a:p>
          <a:p>
            <a:r>
              <a:t>  • Invite hard questions explicitly.</a:t>
            </a:r>
          </a:p>
          <a:p/>
          <a:p>
            <a:r>
              <a:t>🚫 WHAT NOT TO SAY</a:t>
            </a:r>
          </a:p>
          <a:p>
            <a:r>
              <a:t>  ✗ Don't rush the middle column or mumble it.</a:t>
            </a:r>
          </a:p>
          <a:p>
            <a:r>
              <a:t>  ✗ Don't end with an apology — end with the invitation.</a:t>
            </a:r>
          </a:p>
          <a:p/>
          <a:p>
            <a:r>
              <a:t>❓ LIKELY STUDENT QUESTIONS</a:t>
            </a:r>
          </a:p>
          <a:p>
            <a:r>
              <a:t>  Q: Which limitation worries you most?</a:t>
            </a:r>
          </a:p>
          <a:p>
            <a:r>
              <a:t>  A: Caption grounding — captions built from labels describe the disease, not this leaf. It changes what the model can learn.</a:t>
            </a:r>
          </a:p>
          <a:p>
            <a:r>
              <a:t>  Q: What would you do differently?</a:t>
            </a:r>
          </a:p>
          <a:p>
            <a:r>
              <a:t>  A: Start with a bigger labelled benchmark set and hybrid captions from day one.</a:t>
            </a:r>
          </a:p>
          <a:p/>
          <a:p>
            <a:r>
              <a:t>➡️ TRANSITION</a:t>
            </a:r>
          </a:p>
          <a:p>
            <a:r>
              <a:t>— end of session · open the floor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FD4B0"/>
                </a:solidFill>
                <a:latin typeface="Calibri"/>
              </a:rPr>
              <a:t>A TEACHING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241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Vision-Language Models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0">
                <a:solidFill>
                  <a:srgbClr val="8FD4B0"/>
                </a:solidFill>
                <a:latin typeface="Calibri"/>
              </a:rPr>
              <a:t>From pixels to sentences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950208"/>
            <a:ext cx="1828800" cy="44450"/>
          </a:xfrm>
          <a:prstGeom prst="rect">
            <a:avLst/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31596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Teaching a model to look at a diseased tomato leaf and describe what it sees —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including everything that failed along the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8FD4B0"/>
                </a:solidFill>
                <a:latin typeface="Calibri"/>
              </a:rPr>
              <a:t>Harish   ·   Aakash   ·   Kamaksha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af_lateb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448056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2011680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A farmer sends you</a:t>
            </a:r>
          </a:p>
          <a:p>
            <a:pPr algn="l">
              <a:lnSpc>
                <a:spcPct val="105000"/>
              </a:lnSpc>
              <a:spcAft>
                <a:spcPts val="20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this photo.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>
                <a:solidFill>
                  <a:srgbClr val="8FD4B0"/>
                </a:solidFill>
                <a:latin typeface="Calibri"/>
              </a:rPr>
              <a:t>What kind of AI could understand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FD4B0"/>
                </a:solidFill>
                <a:latin typeface="Calibri"/>
              </a:rPr>
              <a:t>a real image from our benchmark set  ·  tomato, late blight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Where VLMs come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993392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249424"/>
            <a:ext cx="14264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900" b="1">
                <a:solidFill>
                  <a:srgbClr val="103322"/>
                </a:solidFill>
                <a:latin typeface="Calibri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227832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B7A71"/>
                </a:solidFill>
                <a:latin typeface="Calibri"/>
              </a:rPr>
              <a:t>do smart
things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816352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B08D3A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1993392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2249424"/>
            <a:ext cx="14264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900" b="1">
                <a:solidFill>
                  <a:srgbClr val="103322"/>
                </a:solidFill>
                <a:latin typeface="Calibri"/>
              </a:rPr>
              <a:t>Machine
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3227832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B7A71"/>
                </a:solidFill>
                <a:latin typeface="Calibri"/>
              </a:rPr>
              <a:t>learn from
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816352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B08D3A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993392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249424"/>
            <a:ext cx="14264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900" b="1">
                <a:solidFill>
                  <a:srgbClr val="103322"/>
                </a:solidFill>
                <a:latin typeface="Calibri"/>
              </a:rPr>
              <a:t>Deep
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227832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B7A71"/>
                </a:solidFill>
                <a:latin typeface="Calibri"/>
              </a:rPr>
              <a:t>learn the
features too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816352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B08D3A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993392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2249424"/>
            <a:ext cx="14264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900" b="1">
                <a:solidFill>
                  <a:srgbClr val="103322"/>
                </a:solidFill>
                <a:latin typeface="Calibri"/>
              </a:rPr>
              <a:t>Trans-
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227832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B7A71"/>
                </a:solidFill>
                <a:latin typeface="Calibri"/>
              </a:rPr>
              <a:t>attention:
see it all
at once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2816352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B08D3A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3024" y="1993392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249424"/>
            <a:ext cx="14264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900" b="1">
                <a:solidFill>
                  <a:srgbClr val="103322"/>
                </a:solidFill>
                <a:latin typeface="Calibri"/>
              </a:rPr>
              <a:t>LLMs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227832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B7A71"/>
                </a:solidFill>
                <a:latin typeface="Calibri"/>
              </a:rPr>
              <a:t>language,
at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816352"/>
            <a:ext cx="2011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B08D3A"/>
                </a:solidFill>
                <a:latin typeface="Calib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76688" y="1993392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F6F4E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04704" y="2249424"/>
            <a:ext cx="14264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VLMs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04704" y="3227832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an LLM
that can
also see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623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6F4E"/>
                </a:solidFill>
                <a:latin typeface="Calibri"/>
              </a:rPr>
              <a:t>Each step handed the machine one more job it used to be given by hand.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Three kinds of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27632"/>
            <a:ext cx="352958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3529584" cy="566928"/>
          </a:xfrm>
          <a:prstGeom prst="rect">
            <a:avLst/>
          </a:prstGeom>
          <a:solidFill>
            <a:srgbClr val="6B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77440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6B7A71"/>
                </a:solidFill>
                <a:latin typeface="Calibri"/>
              </a:rPr>
              <a:t>Image → one label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" y="2834640"/>
            <a:ext cx="3090672" cy="1097280"/>
          </a:xfrm>
          <a:prstGeom prst="roundRect">
            <a:avLst>
              <a:gd name="adj" fmla="val 6000"/>
            </a:avLst>
          </a:prstGeom>
          <a:solidFill>
            <a:srgbClr val="EF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980944"/>
            <a:ext cx="27980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B2A22"/>
                </a:solidFill>
                <a:latin typeface="Calibri"/>
              </a:rPr>
              <a:t>“Tomato___Early_blight”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78224"/>
            <a:ext cx="30906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6B7A71"/>
                </a:solidFill>
                <a:latin typeface="Calibri"/>
              </a:rPr>
              <a:t>No reason. You cannot check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1627632"/>
            <a:ext cx="352958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7" y="1627632"/>
            <a:ext cx="3529584" cy="566928"/>
          </a:xfrm>
          <a:prstGeom prst="rect">
            <a:avLst/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7" y="1737360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3" y="2377440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B08D3A"/>
                </a:solidFill>
                <a:latin typeface="Calibri"/>
              </a:rPr>
              <a:t>Text → 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3" y="2834640"/>
            <a:ext cx="3090672" cy="1097280"/>
          </a:xfrm>
          <a:prstGeom prst="roundRect">
            <a:avLst>
              <a:gd name="adj" fmla="val 6000"/>
            </a:avLst>
          </a:prstGeom>
          <a:solidFill>
            <a:srgbClr val="EF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7" y="2980944"/>
            <a:ext cx="27980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B2A22"/>
                </a:solidFill>
                <a:latin typeface="Calibri"/>
              </a:rPr>
              <a:t>“Early blight is caused by
Alternaria solani…”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3" y="4078224"/>
            <a:ext cx="30906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6B7A71"/>
                </a:solidFill>
                <a:latin typeface="Calibri"/>
              </a:rPr>
              <a:t>Fluent — but it never saw your leaf.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6" y="1627632"/>
            <a:ext cx="3529584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048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6" y="1627632"/>
            <a:ext cx="3529584" cy="566928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6" y="1737360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2" y="2377440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F6F4E"/>
                </a:solidFill>
                <a:latin typeface="Calibri"/>
              </a:rPr>
              <a:t>Image + question → sentences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75902" y="2834640"/>
            <a:ext cx="3090672" cy="1097280"/>
          </a:xfrm>
          <a:prstGeom prst="roundRect">
            <a:avLst>
              <a:gd name="adj" fmla="val 6000"/>
            </a:avLst>
          </a:prstGeom>
          <a:solidFill>
            <a:srgbClr val="EF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6" y="2980944"/>
            <a:ext cx="27980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B2A22"/>
                </a:solidFill>
                <a:latin typeface="Calibri"/>
              </a:rPr>
              <a:t>“Two brown patches with
concentric rings, upper left…”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2" y="4078224"/>
            <a:ext cx="30906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03322"/>
                </a:solidFill>
                <a:latin typeface="Calibri"/>
              </a:rPr>
              <a:t>An answer with the evidence attached.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60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6F4E"/>
                </a:solidFill>
                <a:latin typeface="Calibri"/>
              </a:rPr>
              <a:t>A farmer cannot act on a label. A description can be read, questioned, and checked.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7772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B08D3A"/>
                </a:solidFill>
                <a:latin typeface="Calibri"/>
              </a:rPr>
              <a:t>PAUSE  ·  QUICK QUIZ   ·  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Which model would you use?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977639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D9C9EE"/>
                </a:solidFill>
                <a:latin typeface="Calibri"/>
              </a:rPr>
              <a:t>① Sort 50,000 photos into 10 folders.        ② Answer “why does this leaf look sick?”        ③ Summarise a textbook chapter.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4864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B08D3A"/>
                </a:solidFill>
                <a:latin typeface="Calibri"/>
              </a:rPr>
              <a:t>Hands up — CNN, LLM, or VLM?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How a VLM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993392"/>
            <a:ext cx="2331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6B7A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176272"/>
            <a:ext cx="21122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700" b="1">
                <a:solidFill>
                  <a:srgbClr val="6B7A71"/>
                </a:solidFill>
                <a:latin typeface="Calibri"/>
              </a:rPr>
              <a:t>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834640"/>
            <a:ext cx="21122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1B2A22"/>
                </a:solidFill>
                <a:latin typeface="Calibri"/>
              </a:rPr>
              <a:t>the leaf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088" y="2587752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B08D3A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1993392"/>
            <a:ext cx="2331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2176272"/>
            <a:ext cx="21122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700" b="1">
                <a:solidFill>
                  <a:srgbClr val="1F6F4E"/>
                </a:solidFill>
                <a:latin typeface="Calibri"/>
              </a:rPr>
              <a:t>Vision
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2834640"/>
            <a:ext cx="21122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1B2A22"/>
                </a:solidFill>
                <a:latin typeface="Calibri"/>
              </a:rPr>
              <a:t>pixels → vectors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5856" y="2587752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B08D3A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993392"/>
            <a:ext cx="2331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B08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2176272"/>
            <a:ext cx="21122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700" b="1">
                <a:solidFill>
                  <a:srgbClr val="B08D3A"/>
                </a:solidFill>
                <a:latin typeface="Calibri"/>
              </a:rPr>
              <a:t>Projector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834640"/>
            <a:ext cx="21122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1B2A22"/>
                </a:solidFill>
                <a:latin typeface="Calibri"/>
              </a:rPr>
              <a:t>vectors → the LLM's
own “word”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587752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B08D3A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5672" y="1993392"/>
            <a:ext cx="2331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176272"/>
            <a:ext cx="21122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700" b="1">
                <a:solidFill>
                  <a:srgbClr val="1F6F4E"/>
                </a:solidFill>
                <a:latin typeface="Calibri"/>
              </a:rP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834640"/>
            <a:ext cx="21122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1B2A22"/>
                </a:solidFill>
                <a:latin typeface="Calibri"/>
              </a:rPr>
              <a:t>reads image + question,
writes the answer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00032" y="1993392"/>
            <a:ext cx="2139696" cy="1554480"/>
          </a:xfrm>
          <a:prstGeom prst="roundRect">
            <a:avLst>
              <a:gd name="adj" fmla="val 6000"/>
            </a:avLst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313432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Text out</a:t>
            </a:r>
          </a:p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“brown patches
with rings…”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0749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103322"/>
                </a:solidFill>
                <a:latin typeface="Calibri"/>
              </a:rPr>
              <a:t>The trick: the projector makes an image look like a sentence to the language model.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6B7A71"/>
                </a:solidFill>
                <a:latin typeface="Calibri"/>
              </a:rPr>
              <a:t>Once a picture behaves like words, the LLM just does what it always did — predict the next word.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2 · OUR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This is our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sample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536192"/>
            <a:ext cx="8092440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6F4E"/>
                </a:solidFill>
                <a:latin typeface="Calibri"/>
              </a:rPr>
              <a:t>10 classes · 18,160 images · every one a single tomato leaf on a plain background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2 · OUR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Real data is never balanced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class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36192"/>
            <a:ext cx="10058400" cy="42006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2356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03322"/>
                </a:solidFill>
                <a:latin typeface="Calibri"/>
              </a:rPr>
              <a:t>5,357 yellow-leaf-curl images · 373 mosaic-virus images — a 14× imbalance.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7A71"/>
                </a:solidFill>
                <a:latin typeface="Calibri"/>
              </a:rPr>
              <a:t>A model trained naively on this will be good at the common class and poor at the rare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2 · OUR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Our goal: describe, don't just classify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56232"/>
            <a:ext cx="52578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30552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6B7A71"/>
                </a:solidFill>
                <a:latin typeface="Calibri"/>
              </a:rPr>
              <a:t>What a classifier gives you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100" b="1">
                <a:solidFill>
                  <a:srgbClr val="1B2A22"/>
                </a:solidFill>
                <a:latin typeface="Calibri"/>
              </a:rPr>
              <a:t>Tomato___Early_blight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7A71"/>
                </a:solidFill>
                <a:latin typeface="Calibri"/>
              </a:rPr>
              <a:t>Correct — and useless on its 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856232"/>
            <a:ext cx="52578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048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2130552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F6F4E"/>
                </a:solidFill>
                <a:latin typeface="Calibri"/>
              </a:rPr>
              <a:t>What we wanted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1B2A22"/>
                </a:solidFill>
                <a:latin typeface="Calibri"/>
              </a:rPr>
              <a:t>“Circular brown spots with concentric rings and yellow halos, scattered on this leaf.”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7A71"/>
                </a:solidFill>
                <a:latin typeface="Calibri"/>
              </a:rPr>
              <a:t>Every claim can be checked against the photo.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0292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03322"/>
                </a:solidFill>
                <a:latin typeface="Calibri"/>
              </a:rPr>
              <a:t>Our data: single-leaf tomato photos. Benchmark set — 16 images, 6 conditions.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6B7A71"/>
                </a:solidFill>
                <a:latin typeface="Calibri"/>
              </a:rPr>
              <a:t>One leaf per photo. So a truthful caption may never mention fruit, stems, or the whole plant.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3 ·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Which model should we even start from?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993392"/>
            <a:ext cx="3529584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93392"/>
            <a:ext cx="57150" cy="1920240"/>
          </a:xfrm>
          <a:prstGeom prst="rect">
            <a:avLst/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21992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B08D3A"/>
                </a:solidFill>
                <a:latin typeface="Calibri"/>
              </a:rPr>
              <a:t>1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1">
                <a:solidFill>
                  <a:srgbClr val="103322"/>
                </a:solidFill>
                <a:latin typeface="Calibri"/>
              </a:rPr>
              <a:t>Leaderboards mislead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>
                <a:solidFill>
                  <a:srgbClr val="1B2A22"/>
                </a:solidFill>
                <a:latin typeface="Calibri"/>
              </a:rPr>
              <a:t>They're won on cats and street signs. That says nothing about a diseased leaf.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5" y="1993392"/>
            <a:ext cx="3529584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4255" y="1993392"/>
            <a:ext cx="57150" cy="1920240"/>
          </a:xfrm>
          <a:prstGeom prst="rect">
            <a:avLst/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7" y="2221992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B08D3A"/>
                </a:solidFill>
                <a:latin typeface="Calibri"/>
              </a:rPr>
              <a:t>2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1">
                <a:solidFill>
                  <a:srgbClr val="103322"/>
                </a:solidFill>
                <a:latin typeface="Calibri"/>
              </a:rPr>
              <a:t>Our constraints are ours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>
                <a:solidFill>
                  <a:srgbClr val="1B2A22"/>
                </a:solidFill>
                <a:latin typeface="Calibri"/>
              </a:rPr>
              <a:t>One laptop, 24 GB shared memory, no cloud budget.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2" y="1993392"/>
            <a:ext cx="3529584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0142" y="1993392"/>
            <a:ext cx="57150" cy="1920240"/>
          </a:xfrm>
          <a:prstGeom prst="rect">
            <a:avLst/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4" y="2221992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B08D3A"/>
                </a:solidFill>
                <a:latin typeface="Calibri"/>
              </a:rPr>
              <a:t>3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1">
                <a:solidFill>
                  <a:srgbClr val="103322"/>
                </a:solidFill>
                <a:latin typeface="Calibri"/>
              </a:rPr>
              <a:t>We need a fixed format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>
                <a:solidFill>
                  <a:srgbClr val="1B2A22"/>
                </a:solidFill>
                <a:latin typeface="Calibri"/>
              </a:rPr>
              <a:t>Our code must read the answer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4632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103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10149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So we ran our own benchmark — on our own leaves, on our own hardware.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7772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B08D3A"/>
                </a:solidFill>
                <a:latin typeface="Calibri"/>
              </a:rPr>
              <a:t>PAUSE  ·  THINK · PAIR   ·  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You have 4 models and 16 leaf photos.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977639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D9C9EE"/>
                </a:solidFill>
                <a:latin typeface="Calibri"/>
              </a:rPr>
              <a:t>Turn to the person next to you. In 60 seconds:
what would you keep IDENTICAL, and what would you MEASURE?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3 ·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Change one thing at a time —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56232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566928" cy="10058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56232"/>
            <a:ext cx="56692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02536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700" b="1">
                <a:solidFill>
                  <a:srgbClr val="103322"/>
                </a:solidFill>
                <a:latin typeface="Calibri"/>
              </a:rPr>
              <a:t>Zero-shot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B2A22"/>
                </a:solidFill>
                <a:latin typeface="Calibri"/>
              </a:rPr>
              <a:t>Every model sees each leaf once. No examples, no hints.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99232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999232"/>
            <a:ext cx="566928" cy="10058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99232"/>
            <a:ext cx="56692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45536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700" b="1">
                <a:solidFill>
                  <a:srgbClr val="103322"/>
                </a:solidFill>
                <a:latin typeface="Calibri"/>
              </a:rPr>
              <a:t>One identical prompt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B2A22"/>
                </a:solidFill>
                <a:latin typeface="Calibri"/>
              </a:rPr>
              <a:t>Different prompts would mean comparing prompts, not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42232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142232"/>
            <a:ext cx="566928" cy="10058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142232"/>
            <a:ext cx="56692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88536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700" b="1">
                <a:solidFill>
                  <a:srgbClr val="103322"/>
                </a:solidFill>
                <a:latin typeface="Calibri"/>
              </a:rPr>
              <a:t>Temperature 0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B2A22"/>
                </a:solidFill>
                <a:latin typeface="Calibri"/>
              </a:rPr>
              <a:t>No randomness. Run it again, get the same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5778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1F6F4E"/>
                </a:solidFill>
                <a:latin typeface="Calibri"/>
              </a:rPr>
              <a:t>16 images · 6 conditions · 4 models here · 64 runs · 0 failures · ~22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3 ·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The same prompt, for every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1719072"/>
            <a:ext cx="6400800" cy="3291840"/>
          </a:xfrm>
          <a:prstGeom prst="roundRect">
            <a:avLst>
              <a:gd name="adj" fmla="val 6000"/>
            </a:avLst>
          </a:prstGeom>
          <a:solidFill>
            <a:srgbClr val="103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1947672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8FD4B0"/>
                </a:solidFill>
                <a:latin typeface="Calibri"/>
              </a:rPr>
              <a:t>You are an agricultural expert.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Analyze this crop image carefully. Return: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Plant species · Visible symptoms · Leaf color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Leaf texture · Spots or lesions · Severity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Most likely disease · Alternative diagnoses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Confidence (0-100) · Reasoning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B08D3A"/>
                </a:solidFill>
                <a:latin typeface="Calibri"/>
              </a:rPr>
              <a:t>Only describe what is visible.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B08D3A"/>
                </a:solidFill>
                <a:latin typeface="Calibri"/>
              </a:rPr>
              <a:t>If uncertain, explicitly state uncertainty.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B08D3A"/>
                </a:solidFill>
                <a:latin typeface="Calibri"/>
              </a:rPr>
              <a:t>Do not hallucinate diseases.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176272"/>
            <a:ext cx="3566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200" b="1">
                <a:solidFill>
                  <a:srgbClr val="103322"/>
                </a:solidFill>
                <a:latin typeface="Calibri"/>
              </a:rPr>
              <a:t>Remember these
three lines.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6B7A71"/>
                </a:solidFill>
                <a:latin typeface="Calibri"/>
              </a:rPr>
              <a:t>We explicitly told every model not to invent anything, and to admit doubt.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3 ·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Eight open models, two setups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5358384" cy="45720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73936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SETUP A · Apple Silicon, 4-bit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13432"/>
            <a:ext cx="5358384" cy="658368"/>
          </a:xfrm>
          <a:prstGeom prst="roundRect">
            <a:avLst>
              <a:gd name="adj" fmla="val 6000"/>
            </a:avLst>
          </a:prstGeom>
          <a:solidFill>
            <a:srgbClr val="EFF4F0"/>
          </a:solidFill>
          <a:ln w="2540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03322"/>
                </a:solidFill>
                <a:latin typeface="Calibri"/>
              </a:rPr>
              <a:t>Qwen2.5-VL-7B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04872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7A71"/>
                </a:solidFill>
                <a:latin typeface="Calibri"/>
              </a:rPr>
              <a:t>Alibaba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63240"/>
            <a:ext cx="5358384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03322"/>
                </a:solidFill>
                <a:latin typeface="Calibri"/>
              </a:rPr>
              <a:t>Gemma-3-12B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7A71"/>
                </a:solidFill>
                <a:latin typeface="Calibri"/>
              </a:rPr>
              <a:t>Google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58384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03322"/>
                </a:solidFill>
                <a:latin typeface="Calibri"/>
              </a:rPr>
              <a:t>InternVL3-8B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04488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7A71"/>
                </a:solidFill>
                <a:latin typeface="Calibri"/>
              </a:rPr>
              <a:t>OpenGVLab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62856"/>
            <a:ext cx="5358384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54296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03322"/>
                </a:solidFill>
                <a:latin typeface="Calibri"/>
              </a:rPr>
              <a:t>Llama-3.2-11B-Vision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54296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7A71"/>
                </a:solidFill>
                <a:latin typeface="Calibri"/>
              </a:rPr>
              <a:t>Meta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719072"/>
            <a:ext cx="5358384" cy="457200"/>
          </a:xfrm>
          <a:prstGeom prst="rect">
            <a:avLst/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1773936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SETUP B · CUDA workstation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2313432"/>
            <a:ext cx="5358384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2368296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03322"/>
                </a:solidFill>
                <a:latin typeface="Calibri"/>
              </a:rPr>
              <a:t>Qwen2.5-VL-7B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368296"/>
            <a:ext cx="1371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71"/>
                </a:solidFill>
                <a:latin typeface="Calibri"/>
              </a:rPr>
              <a:t>also here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2935224"/>
            <a:ext cx="5358384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2990088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03322"/>
                </a:solidFill>
                <a:latin typeface="Calibri"/>
              </a:rPr>
              <a:t>LLaVA-1.6-Mistral-7B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990088"/>
            <a:ext cx="1371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71"/>
                </a:solidFill>
                <a:latin typeface="Calibri"/>
              </a:rPr>
              <a:t>LLaVA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557016"/>
            <a:ext cx="5358384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3611880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03322"/>
                </a:solidFill>
                <a:latin typeface="Calibri"/>
              </a:rPr>
              <a:t>BLIP-2 OPT-2.7B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611880"/>
            <a:ext cx="1371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71"/>
                </a:solidFill>
                <a:latin typeface="Calibri"/>
              </a:rPr>
              <a:t>Salesforce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178808"/>
            <a:ext cx="5358384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4233672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03322"/>
                </a:solidFill>
                <a:latin typeface="Calibri"/>
              </a:rPr>
              <a:t>BLIP-2 FLAN-T5-XL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4233672"/>
            <a:ext cx="1371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71"/>
                </a:solidFill>
                <a:latin typeface="Calibri"/>
              </a:rPr>
              <a:t>Salesforce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4800600"/>
            <a:ext cx="5358384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4855464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03322"/>
                </a:solidFill>
                <a:latin typeface="Calibri"/>
              </a:rPr>
              <a:t>Florence-2-base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4855464"/>
            <a:ext cx="1371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71"/>
                </a:solidFill>
                <a:latin typeface="Calibri"/>
              </a:rPr>
              <a:t>Microsoft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89788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1F6F4E"/>
                </a:solidFill>
                <a:latin typeface="Calibri"/>
              </a:rPr>
              <a:t>Not one was chosen from a leaderboard. Every one was run on our own leaves.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3 ·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One leaf. Four models. Four answers.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af_lateb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56232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3895344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TRUTH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3322"/>
                </a:solidFill>
                <a:latin typeface="Calibri"/>
              </a:rPr>
              <a:t>Tomato
Late Blight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627632"/>
            <a:ext cx="2103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54680" y="1627632"/>
            <a:ext cx="2103120" cy="457200"/>
          </a:xfrm>
          <a:prstGeom prst="rect">
            <a:avLst/>
          </a:prstGeom>
          <a:solidFill>
            <a:srgbClr val="6B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700784"/>
            <a:ext cx="19202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Qwen2.5-VL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2194560"/>
            <a:ext cx="18836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>
                <a:solidFill>
                  <a:srgbClr val="6B7A71"/>
                </a:solidFill>
                <a:latin typeface="Calibri"/>
              </a:rPr>
              <a:t>species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B2A22"/>
                </a:solidFill>
                <a:latin typeface="Calibri"/>
              </a:rPr>
              <a:t>Uncertain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>
                <a:solidFill>
                  <a:srgbClr val="6B7A71"/>
                </a:solidFill>
                <a:latin typeface="Calibri"/>
              </a:rPr>
              <a:t>its diagnosis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B2A22"/>
                </a:solidFill>
                <a:latin typeface="Calibri"/>
              </a:rPr>
              <a:t>leaf spot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>
                <a:solidFill>
                  <a:srgbClr val="6B7A71"/>
                </a:solidFill>
                <a:latin typeface="Calibri"/>
              </a:rPr>
              <a:t>confidence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103322"/>
                </a:solidFill>
                <a:latin typeface="Calibri"/>
              </a:rPr>
              <a:t>70%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C0432C"/>
                </a:solidFill>
                <a:latin typeface="Calibri"/>
              </a:rPr>
              <a:t>✗  not late blight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4535424"/>
            <a:ext cx="1920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71"/>
                </a:solidFill>
                <a:latin typeface="Calibri"/>
              </a:rPr>
              <a:t>5.4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1" y="1627632"/>
            <a:ext cx="2103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76671" y="1627632"/>
            <a:ext cx="2103120" cy="457200"/>
          </a:xfrm>
          <a:prstGeom prst="rect">
            <a:avLst/>
          </a:prstGeom>
          <a:solidFill>
            <a:srgbClr val="6B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8111" y="1700784"/>
            <a:ext cx="19202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InternVL3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399" y="2194560"/>
            <a:ext cx="18836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>
                <a:solidFill>
                  <a:srgbClr val="6B7A71"/>
                </a:solidFill>
                <a:latin typeface="Calibri"/>
              </a:rPr>
              <a:t>species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B2A22"/>
                </a:solidFill>
                <a:latin typeface="Calibri"/>
              </a:rPr>
              <a:t>“possibly a legume”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>
                <a:solidFill>
                  <a:srgbClr val="6B7A71"/>
                </a:solidFill>
                <a:latin typeface="Calibri"/>
              </a:rPr>
              <a:t>its diagnosis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B2A22"/>
                </a:solidFill>
                <a:latin typeface="Calibri"/>
              </a:rPr>
              <a:t>leaf spot disease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>
                <a:solidFill>
                  <a:srgbClr val="6B7A71"/>
                </a:solidFill>
                <a:latin typeface="Calibri"/>
              </a:rPr>
              <a:t>confidence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103322"/>
                </a:solidFill>
                <a:latin typeface="Calibri"/>
              </a:rPr>
              <a:t>70%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C0432C"/>
                </a:solidFill>
                <a:latin typeface="Calibri"/>
              </a:rPr>
              <a:t>✗  not late blight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1" y="4535424"/>
            <a:ext cx="1920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71"/>
                </a:solidFill>
                <a:latin typeface="Calibri"/>
              </a:rPr>
              <a:t>8.4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98662" y="1627632"/>
            <a:ext cx="2103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C04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98662" y="1627632"/>
            <a:ext cx="2103120" cy="457200"/>
          </a:xfrm>
          <a:prstGeom prst="rect">
            <a:avLst/>
          </a:prstGeom>
          <a:solidFill>
            <a:srgbClr val="C04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0102" y="1700784"/>
            <a:ext cx="19202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Gemma-3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0" y="2194560"/>
            <a:ext cx="18836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>
                <a:solidFill>
                  <a:srgbClr val="6B7A71"/>
                </a:solidFill>
                <a:latin typeface="Calibri"/>
              </a:rPr>
              <a:t>species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C0432C"/>
                </a:solidFill>
                <a:latin typeface="Calibri"/>
              </a:rPr>
              <a:t>Soybean (likely)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>
                <a:solidFill>
                  <a:srgbClr val="6B7A71"/>
                </a:solidFill>
                <a:latin typeface="Calibri"/>
              </a:rPr>
              <a:t>its diagnosis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B2A22"/>
                </a:solidFill>
                <a:latin typeface="Calibri"/>
              </a:rPr>
              <a:t>Cercospora leaf blight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>
                <a:solidFill>
                  <a:srgbClr val="6B7A71"/>
                </a:solidFill>
                <a:latin typeface="Calibri"/>
              </a:rPr>
              <a:t>confidence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103322"/>
                </a:solidFill>
                <a:latin typeface="Calibri"/>
              </a:rPr>
              <a:t>75%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C0432C"/>
                </a:solidFill>
                <a:latin typeface="Calibri"/>
              </a:rPr>
              <a:t>✗  not late blight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0102" y="4535424"/>
            <a:ext cx="1920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71"/>
                </a:solidFill>
                <a:latin typeface="Calibri"/>
              </a:rPr>
              <a:t>16.8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0653" y="1627632"/>
            <a:ext cx="2103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0653" y="1627632"/>
            <a:ext cx="2103120" cy="457200"/>
          </a:xfrm>
          <a:prstGeom prst="rect">
            <a:avLst/>
          </a:prstGeom>
          <a:solidFill>
            <a:srgbClr val="6B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3" y="1700784"/>
            <a:ext cx="19202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Llama-3.2-V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0381" y="2194560"/>
            <a:ext cx="18836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>
                <a:solidFill>
                  <a:srgbClr val="6B7A71"/>
                </a:solidFill>
                <a:latin typeface="Calibri"/>
              </a:rPr>
              <a:t>species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B2A22"/>
                </a:solidFill>
                <a:latin typeface="Calibri"/>
              </a:rPr>
              <a:t>Unknown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>
                <a:solidFill>
                  <a:srgbClr val="6B7A71"/>
                </a:solidFill>
                <a:latin typeface="Calibri"/>
              </a:rPr>
              <a:t>its diagnosis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250" b="1">
                <a:solidFill>
                  <a:srgbClr val="1B2A22"/>
                </a:solidFill>
                <a:latin typeface="Calibri"/>
              </a:rPr>
              <a:t>“some fungal disease”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>
                <a:solidFill>
                  <a:srgbClr val="6B7A71"/>
                </a:solidFill>
                <a:latin typeface="Calibri"/>
              </a:rPr>
              <a:t>confidence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103322"/>
                </a:solidFill>
                <a:latin typeface="Calibri"/>
              </a:rPr>
              <a:t>60%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C0432C"/>
                </a:solidFill>
                <a:latin typeface="Calibri"/>
              </a:rPr>
              <a:t>✗  not late blight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3" y="4535424"/>
            <a:ext cx="1920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A71"/>
                </a:solidFill>
                <a:latin typeface="Calibri"/>
              </a:rPr>
              <a:t>52.4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064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C0432C"/>
                </a:solidFill>
                <a:latin typeface="Calibri"/>
              </a:rPr>
              <a:t>Four models. Four different answers. All four wrong — and every one of them confident.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7772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B08D3A"/>
                </a:solidFill>
                <a:latin typeface="Calibri"/>
              </a:rPr>
              <a:t>PAUSE  ·  PREDICTION   ·  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Across all 16 leaves,
how many will the BEST model get right?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977639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D9C9EE"/>
                </a:solidFill>
                <a:latin typeface="Calibri"/>
              </a:rPr>
              <a:t>Hands up:      16 / 16      ·      12–15      ·      8–11      ·      4–7      ·      fewer than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3 ·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The result we did not want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627632"/>
            <a:ext cx="6858000" cy="3566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810512"/>
            <a:ext cx="3172968" cy="2834640"/>
          </a:xfrm>
          <a:prstGeom prst="roundRect">
            <a:avLst>
              <a:gd name="adj" fmla="val 6000"/>
            </a:avLst>
          </a:prstGeom>
          <a:solidFill>
            <a:srgbClr val="103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3648" y="2103120"/>
            <a:ext cx="2697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None of them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300" b="1">
                <a:solidFill>
                  <a:srgbClr val="B08D3A"/>
                </a:solidFill>
                <a:latin typeface="Calibri"/>
              </a:rPr>
              <a:t>were reliable.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Best: 3 of 16.
Qwen: none.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8FD4B0"/>
                </a:solidFill>
                <a:latin typeface="Calibri"/>
              </a:rPr>
              <a:t>Zero-shot VLMs cannot diagnose crop disease out of the box.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8064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6F4E"/>
                </a:solidFill>
                <a:latin typeface="Calibri"/>
              </a:rPr>
              <a:t>This is why the rest of the project exists — and why fine-tuning was not optional.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3 ·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So we chose the best student, not the best doctor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why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27632"/>
            <a:ext cx="6766560" cy="2706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719072"/>
            <a:ext cx="37673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28431" y="1847088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03322"/>
                </a:solidFill>
                <a:latin typeface="Calibri"/>
              </a:rPr>
              <a:t>Held the format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B7A71"/>
                </a:solidFill>
                <a:latin typeface="Calibri"/>
              </a:rPr>
              <a:t>16/16 · others 0/16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770632"/>
            <a:ext cx="37673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1" y="2898648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03322"/>
                </a:solidFill>
                <a:latin typeface="Calibri"/>
              </a:rPr>
              <a:t>Fastest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B7A71"/>
                </a:solidFill>
                <a:latin typeface="Calibri"/>
              </a:rPr>
              <a:t>5.3 s · Llama 50.8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822192"/>
            <a:ext cx="37673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3950208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03322"/>
                </a:solidFill>
                <a:latin typeface="Calibri"/>
              </a:rPr>
              <a:t>Honest when unsure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B7A71"/>
                </a:solidFill>
                <a:latin typeface="Calibri"/>
              </a:rPr>
              <a:t>said “Uncertain”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1663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FF4F0"/>
          </a:solidFill>
          <a:ln w="2032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349240"/>
            <a:ext cx="10332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103322"/>
                </a:solidFill>
                <a:latin typeface="Calibri"/>
              </a:rPr>
              <a:t>Not the most accurate — it was the least. But consistent, fast and honest. That is what you want in a model you are about to teach.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7772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B08D3A"/>
                </a:solidFill>
                <a:latin typeface="Calibri"/>
              </a:rPr>
              <a:t>PAUSE  ·  DISCUSSION   ·   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We need thousands of example captions.
Where should they come from?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977639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D9C9EE"/>
                </a:solidFill>
                <a:latin typeface="Calibri"/>
              </a:rPr>
              <a:t>Ask a VLM to write them?   ·   Write them by hand?   ·   Generate from the labels?
What could go wrong with each?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4 · TEACHING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Fine-tuning = specialising a generalist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901952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6B7A71"/>
                </a:solidFill>
                <a:latin typeface="Calibri"/>
              </a:rPr>
              <a:t>The base model knows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B2A22"/>
                </a:solidFill>
                <a:latin typeface="Calibri"/>
              </a:rPr>
              <a:t>a little about everything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7A71"/>
                </a:solidFill>
                <a:latin typeface="Calibri"/>
              </a:rPr>
              <a:t>cats · receipts · landmarks · memes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901952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048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219456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F6F4E"/>
                </a:solidFill>
                <a:latin typeface="Calibri"/>
              </a:rPr>
              <a:t>We need it to know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1B2A22"/>
                </a:solidFill>
                <a:latin typeface="Calibri"/>
              </a:rPr>
              <a:t>a lot about one thing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7A71"/>
                </a:solidFill>
                <a:latin typeface="Calibri"/>
              </a:rPr>
              <a:t>early blight vs target spot — said the same way every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502920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9383" y="5120640"/>
            <a:ext cx="25420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103322"/>
                </a:solidFill>
                <a:latin typeface="Calibri"/>
              </a:rPr>
              <a:t>General
VLM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512064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B08D3A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502920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8343" y="5120640"/>
            <a:ext cx="25420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103322"/>
                </a:solidFill>
                <a:latin typeface="Calibri"/>
              </a:rPr>
              <a:t>+ examples from
our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39" y="512064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B08D3A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39" y="502920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1F6F4E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3" y="5120640"/>
            <a:ext cx="25420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Fine-tuned
specialist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4 · TEACHING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One training example = one flashcard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856232"/>
            <a:ext cx="39319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856232"/>
            <a:ext cx="3931920" cy="457200"/>
          </a:xfrm>
          <a:prstGeom prst="rect">
            <a:avLst/>
          </a:prstGeom>
          <a:solidFill>
            <a:srgbClr val="6B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2768" y="1929384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FRONT</a:t>
            </a:r>
          </a:p>
        </p:txBody>
      </p:sp>
      <p:pic>
        <p:nvPicPr>
          <p:cNvPr id="8" name="Picture 7" descr="leaf_lateb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450592"/>
            <a:ext cx="1051560" cy="1051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200" y="359359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1B2A22"/>
                </a:solidFill>
                <a:latin typeface="Calibri"/>
              </a:rPr>
              <a:t>+  “Describe this leaf.”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679192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B08D3A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856232"/>
            <a:ext cx="39319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1856232"/>
            <a:ext cx="3931920" cy="45720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1929384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542032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1F6F4E"/>
                </a:solidFill>
                <a:latin typeface="Calibri"/>
              </a:rPr>
              <a:t>the caption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1B2A22"/>
                </a:solidFill>
                <a:latin typeface="Calibri"/>
              </a:rPr>
              <a:t>“Circular brown spots with concentric rings, scattered across the leaf.”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206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103322"/>
                </a:solidFill>
                <a:latin typeface="Calibri"/>
              </a:rPr>
              <a:t>It guesses one word at a time while we hold the answer key.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6B7A71"/>
                </a:solidFill>
                <a:latin typeface="Calibri"/>
              </a:rPr>
              <a:t>Each time it wasn't sure enough about the correct next word, it nudges itself. Thousands of nudges = learning.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4 · TEACHING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Where our captions came from —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581912"/>
            <a:ext cx="10881360" cy="658368"/>
          </a:xfrm>
          <a:prstGeom prst="rect">
            <a:avLst/>
          </a:prstGeom>
          <a:solidFill>
            <a:srgbClr val="C04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We refused the shortcut: a model that gets 3/16 cannot be trusted to teach.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04872"/>
            <a:ext cx="5358384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87752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B08D3A"/>
                </a:solidFill>
                <a:latin typeface="Calibri"/>
              </a:rPr>
              <a:t>Built from labels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0">
                <a:solidFill>
                  <a:srgbClr val="1B2A22"/>
                </a:solidFill>
                <a:latin typeface="Calibri"/>
              </a:rPr>
              <a:t>Written from a cited reference of what each disease looks like.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1F6F4E"/>
                </a:solidFill>
                <a:latin typeface="Calibri"/>
              </a:rPr>
              <a:t>+  scales, traceable, consistent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432C"/>
                </a:solidFill>
                <a:latin typeface="Calibri"/>
              </a:rPr>
              <a:t>–  describes the DISEASE, not THIS leaf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404872"/>
            <a:ext cx="5358384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2587752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1F6F4E"/>
                </a:solidFill>
                <a:latin typeface="Calibri"/>
              </a:rPr>
              <a:t>Written by hand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0">
                <a:solidFill>
                  <a:srgbClr val="1B2A22"/>
                </a:solidFill>
                <a:latin typeface="Calibri"/>
              </a:rPr>
              <a:t>We looked at each leaf and wrote what we saw. Mentor-reviewed.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1F6F4E"/>
                </a:solidFill>
                <a:latin typeface="Calibri"/>
              </a:rPr>
              <a:t>+  truly grounded in this image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432C"/>
                </a:solidFill>
                <a:latin typeface="Calibri"/>
              </a:rPr>
              <a:t>–  only 30 images · one annotator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760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03322"/>
                </a:solidFill>
                <a:latin typeface="Calibri"/>
              </a:rPr>
              <a:t>Neither is perfect. The honest next step is a hybrid.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4 · TEACHING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Five right answers for one leaf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-8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56232"/>
            <a:ext cx="246888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4165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6B7A71"/>
                </a:solidFill>
                <a:latin typeface="Calibri"/>
              </a:rPr>
              <a:t>Tomato · Early Blight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810512"/>
            <a:ext cx="756208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7639" y="1810512"/>
            <a:ext cx="384048" cy="548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1810512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65376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B2A22"/>
                </a:solidFill>
                <a:latin typeface="Calibri"/>
              </a:rPr>
              <a:t>Two prominent brown patches stand out against the dark green background…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414016"/>
            <a:ext cx="756208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2414016"/>
            <a:ext cx="384048" cy="548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414016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68880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B2A22"/>
                </a:solidFill>
                <a:latin typeface="Calibri"/>
              </a:rPr>
              <a:t>A mix of green tissue and several darker damaged regions…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3017520"/>
            <a:ext cx="756208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3017520"/>
            <a:ext cx="384048" cy="548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3017520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072384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B2A22"/>
                </a:solidFill>
                <a:latin typeface="Calibri"/>
              </a:rPr>
              <a:t>The discoloration is distributed across separate locations…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3621024"/>
            <a:ext cx="756208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3621024"/>
            <a:ext cx="384048" cy="548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3621024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675888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B2A22"/>
                </a:solidFill>
                <a:latin typeface="Calibri"/>
              </a:rPr>
              <a:t>Multiple isolated lesions. Largest mark on the right side…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224528"/>
            <a:ext cx="756208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4224528"/>
            <a:ext cx="384048" cy="548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4224528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279392"/>
            <a:ext cx="6858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B2A22"/>
                </a:solidFill>
                <a:latin typeface="Calibri"/>
              </a:rPr>
              <a:t>Several damaged sections interrupt an otherwise dark green surface…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7150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03322"/>
                </a:solidFill>
                <a:latin typeface="Calibri"/>
              </a:rPr>
              <a:t>All five are true. The model cannot memorise one — so it has to learn the leaf.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4 · TEACHING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LoRA — add, don't rewrite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10512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103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84832"/>
            <a:ext cx="5394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Qwen2.5-VL · frozen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8FD4B0"/>
                </a:solidFill>
                <a:latin typeface="Calibri"/>
              </a:rPr>
              <a:t>Everything it already knows stays exactly as it 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2084832"/>
            <a:ext cx="1417320" cy="1463040"/>
          </a:xfrm>
          <a:prstGeom prst="roundRect">
            <a:avLst>
              <a:gd name="adj" fmla="val 6000"/>
            </a:avLst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2084832"/>
            <a:ext cx="14173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LoRA
adapter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084832"/>
            <a:ext cx="1417320" cy="1463040"/>
          </a:xfrm>
          <a:prstGeom prst="roundRect">
            <a:avLst>
              <a:gd name="adj" fmla="val 6000"/>
            </a:avLst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084832"/>
            <a:ext cx="14173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LoRA
adapter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2084832"/>
            <a:ext cx="1417320" cy="1463040"/>
          </a:xfrm>
          <a:prstGeom prst="roundRect">
            <a:avLst>
              <a:gd name="adj" fmla="val 6000"/>
            </a:avLst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084832"/>
            <a:ext cx="14173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LoRA
adapter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480560"/>
            <a:ext cx="26243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617720"/>
            <a:ext cx="2441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1F6F4E"/>
                </a:solidFill>
                <a:latin typeface="Calibri"/>
              </a:rPr>
              <a:t>0.484%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B7A71"/>
                </a:solidFill>
                <a:latin typeface="Calibri"/>
              </a:rPr>
              <a:t>of weights trained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2424" y="4480560"/>
            <a:ext cx="26243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4617720"/>
            <a:ext cx="2441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1F6F4E"/>
                </a:solidFill>
                <a:latin typeface="Calibri"/>
              </a:rPr>
              <a:t>173 MB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B7A71"/>
                </a:solidFill>
                <a:latin typeface="Calibri"/>
              </a:rPr>
              <a:t>the whole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480560"/>
            <a:ext cx="26243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617720"/>
            <a:ext cx="2441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1F6F4E"/>
                </a:solidFill>
                <a:latin typeface="Calibri"/>
              </a:rPr>
              <a:t>~20 min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B7A71"/>
                </a:solidFill>
                <a:latin typeface="Calibri"/>
              </a:rPr>
              <a:t>one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0536" y="4480560"/>
            <a:ext cx="26243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1976" y="4617720"/>
            <a:ext cx="2441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1F6F4E"/>
                </a:solidFill>
                <a:latin typeface="Calibri"/>
              </a:rPr>
              <a:t>19.4 / 24 GB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B7A71"/>
                </a:solidFill>
                <a:latin typeface="Calibri"/>
              </a:rPr>
              <a:t>peak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7150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103322"/>
                </a:solidFill>
                <a:latin typeface="Calibri"/>
              </a:rPr>
              <a:t>The textbook stays untouched. We only add sticky notes in the margins.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5 ·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The system, running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-1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73352"/>
            <a:ext cx="5644103" cy="2194560"/>
          </a:xfrm>
          <a:prstGeom prst="rect">
            <a:avLst/>
          </a:prstGeom>
        </p:spPr>
      </p:pic>
      <p:pic>
        <p:nvPicPr>
          <p:cNvPr id="6" name="Picture 5" descr="image-10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673352"/>
            <a:ext cx="3952068" cy="2194560"/>
          </a:xfrm>
          <a:prstGeom prst="rect">
            <a:avLst/>
          </a:prstGeom>
        </p:spPr>
      </p:pic>
      <p:pic>
        <p:nvPicPr>
          <p:cNvPr id="7" name="Picture 6" descr="image-10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4744" y="1673352"/>
            <a:ext cx="965669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931920"/>
            <a:ext cx="5641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B7A71"/>
                </a:solidFill>
                <a:latin typeface="Calibri"/>
              </a:rPr>
              <a:t>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3931920"/>
            <a:ext cx="3950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B7A71"/>
                </a:solidFill>
                <a:latin typeface="Calibri"/>
              </a:rPr>
              <a:t>prediction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4744" y="3931920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B7A71"/>
                </a:solidFill>
                <a:latin typeface="Calibri"/>
              </a:rPr>
              <a:t>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502920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5120640"/>
            <a:ext cx="226771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03322"/>
                </a:solidFill>
                <a:latin typeface="Calibri"/>
              </a:rPr>
              <a:t>Upload leaf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5120640"/>
            <a:ext cx="3200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B08D3A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502920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6784" y="5120640"/>
            <a:ext cx="226771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03322"/>
                </a:solidFill>
                <a:latin typeface="Calibri"/>
              </a:rPr>
              <a:t>Model reads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120640"/>
            <a:ext cx="3200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B08D3A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502920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4264" y="5120640"/>
            <a:ext cx="226771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03322"/>
                </a:solidFill>
                <a:latin typeface="Calibri"/>
              </a:rPr>
              <a:t>Structured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5120640"/>
            <a:ext cx="3200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B08D3A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502920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F6F4E"/>
          </a:solidFill>
          <a:ln w="1397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81744" y="5120640"/>
            <a:ext cx="226771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Logged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6B7A71"/>
                </a:solidFill>
                <a:latin typeface="Calibri"/>
              </a:rPr>
              <a:t>real screenshots of our own application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08D3A"/>
                </a:solidFill>
                <a:latin typeface="Calibri"/>
              </a:rPr>
              <a:t>SECTION 5 ·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03322"/>
                </a:solidFill>
                <a:latin typeface="Calibri"/>
              </a:rPr>
              <a:t>Before and after fine-tuning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371600" cy="4064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719072"/>
            <a:ext cx="535838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2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19072"/>
            <a:ext cx="5358384" cy="502920"/>
          </a:xfrm>
          <a:prstGeom prst="rect">
            <a:avLst/>
          </a:prstGeom>
          <a:solidFill>
            <a:srgbClr val="6B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013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0">
                <a:solidFill>
                  <a:srgbClr val="1B2A22"/>
                </a:solidFill>
                <a:latin typeface="Calibri"/>
              </a:rPr>
              <a:t>“…appears to have some signs of disease or damage… could indicate fungal infections, bacterial diseases, or physical damage… advisable to consult a plant pathologist for a”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C0432C"/>
                </a:solidFill>
                <a:latin typeface="Calibri"/>
              </a:rPr>
              <a:t>— hedges across three possibilities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C0432C"/>
                </a:solidFill>
                <a:latin typeface="Calibri"/>
              </a:rPr>
              <a:t>— unasked-for advice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C0432C"/>
                </a:solidFill>
                <a:latin typeface="Calibri"/>
              </a:rPr>
              <a:t>— cut off mid-sentence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719072"/>
            <a:ext cx="535838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0480">
            <a:solidFill>
              <a:srgbClr val="1F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1344" y="1719072"/>
            <a:ext cx="5358384" cy="50292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013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FINE-TUNED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404872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50" b="0">
                <a:solidFill>
                  <a:srgbClr val="1B2A22"/>
                </a:solidFill>
                <a:latin typeface="Calibri"/>
              </a:rPr>
              <a:t>“Plant: Tomato. Condition: Target Spot. Circular brown spots with concentric lighter zones and chlorotic halos are scattered on this leaf surface.”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F6F4E"/>
                </a:solidFill>
                <a:latin typeface="Calibri"/>
              </a:rPr>
              <a:t>— names what it sees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F6F4E"/>
                </a:solidFill>
                <a:latin typeface="Calibri"/>
              </a:rPr>
              <a:t>— same shape every time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F6F4E"/>
                </a:solidFill>
                <a:latin typeface="Calibri"/>
              </a:rPr>
              <a:t>— readable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0644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6B7A71"/>
                </a:solidFill>
                <a:latin typeface="Calibri"/>
              </a:rPr>
              <a:t>Both are real outputs from our own runs. This shows changed behaviour — not proof of accuracy.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8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7772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B08D3A"/>
                </a:solidFill>
                <a:latin typeface="Calibri"/>
              </a:rPr>
              <a:t>PAUSE  ·  RECAP QUIZ   ·   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Three quick 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977639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D9C9EE"/>
                </a:solidFill>
                <a:latin typeface="Calibri"/>
              </a:rPr>
              <a:t>① Name the three parts of a VLM.
② Why couldn't we ask a VLM to write our captions?
③ In LoRA, what percentage of the model do we train?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B08D3A"/>
                </a:solidFill>
                <a:latin typeface="Calibri"/>
              </a:rPr>
              <a:t>WHERE WE ACTUALLY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1">
                <a:solidFill>
                  <a:srgbClr val="8FD4B0"/>
                </a:solidFill>
                <a:latin typeface="Calibri"/>
              </a:rPr>
              <a:t>What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·  A benchmark of 8 open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5000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·  A pipeline that runs on a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1693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·  Consistent, structured descriptions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8386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·  A working, logged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188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1">
                <a:solidFill>
                  <a:srgbClr val="F0A89A"/>
                </a:solidFill>
                <a:latin typeface="Calibri"/>
              </a:rPr>
              <a:t>What doesn't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830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·  16 images is too few to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5000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·  Label-built captions aren't leaf-specific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1693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·  Hand-written set is only 30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48386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·  No CNN baseline trained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188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1">
                <a:solidFill>
                  <a:srgbClr val="E8D092"/>
                </a:solidFill>
                <a:latin typeface="Calibri"/>
              </a:rPr>
              <a:t>What's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7830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·  Hybrid captions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35000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·  More images, more crops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91693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·  Finish the scored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48386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·  Explain *why* it said that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709160"/>
            <a:ext cx="10332720" cy="777240"/>
          </a:xfrm>
          <a:prstGeom prst="roundRect">
            <a:avLst>
              <a:gd name="adj" fmla="val 6000"/>
            </a:avLst>
          </a:prstGeom>
          <a:solidFill>
            <a:srgbClr val="1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864608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We'd rather tell you what's unfinished than have you find it in the questions.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71500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Thank you — questions welcome, including the ones we haven't answered yet.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8FD4B0"/>
                </a:solidFill>
                <a:latin typeface="Calibri"/>
              </a:rPr>
              <a:t>Harish  ·  Aakash  ·  Kamaksha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