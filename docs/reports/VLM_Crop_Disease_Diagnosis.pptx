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64008"/>
            <a:ext cx="36576" cy="5079492"/>
          </a:xfrm>
          <a:prstGeom prst="rect">
            <a:avLst/>
          </a:prstGeom>
          <a:solidFill>
            <a:srgbClr val="8C6E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77724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65960"/>
            <a:ext cx="2926080" cy="347472"/>
          </a:xfrm>
          <a:prstGeom prst="rect">
            <a:avLst/>
          </a:prstGeom>
          <a:solidFill>
            <a:srgbClr val="8C6E3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F0E8"/>
                </a:solidFill>
              </a:rPr>
              <a:t>RESEARCH PRESENTATION · 2025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070"/>
                </a:solidFill>
              </a:rPr>
              <a:t>Vision-Language Models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32369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Research Papers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</a:rPr>
              <a:t>186K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37398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Training Pairs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206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</a:rPr>
              <a:t>98.5%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42428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06240" y="8229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Vision-Language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for Crop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Diagnosis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20624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8BFA8"/>
                </a:solidFill>
              </a:rPr>
              <a:t>From classification labels to intelligent diagnosis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8BFA8"/>
                </a:solidFill>
              </a:rPr>
              <a:t>building a digital agronomist with fine-tuned VLMs.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77056" y="4389120"/>
            <a:ext cx="5266944" cy="75438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Shape 15"/>
          <p:cNvSpPr/>
          <p:nvPr/>
        </p:nvSpPr>
        <p:spPr>
          <a:xfrm>
            <a:off x="3877056" y="4389120"/>
            <a:ext cx="54864" cy="7543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6"/>
          <p:cNvSpPr/>
          <p:nvPr/>
        </p:nvSpPr>
        <p:spPr>
          <a:xfrm>
            <a:off x="4069080" y="442569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D0C0"/>
                </a:solidFill>
              </a:rPr>
              <a:t>"Crop diseases account for 10–30% of global yield loss annually."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6E3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Labels Alone Are Not Enough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25603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8070"/>
                </a:solidFill>
              </a:rPr>
              <a:t>TRADITIONAL CNN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BFA8"/>
                </a:solidFill>
              </a:rPr>
              <a:t>Image Input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BFA8"/>
                </a:solidFill>
              </a:rPr>
              <a:t>  ↓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BFA8"/>
                </a:solidFill>
              </a:rPr>
              <a:t>CNN Encoder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BFA8"/>
                </a:solidFill>
              </a:rPr>
              <a:t>  ↓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8BFA8"/>
                </a:solidFill>
              </a:rPr>
              <a:t>"Tomato Blight"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2560320" cy="228600"/>
          </a:xfrm>
          <a:prstGeom prst="rect">
            <a:avLst/>
          </a:prstGeom>
          <a:solidFill>
            <a:srgbClr val="6B20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29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99"/>
                </a:solidFill>
              </a:rPr>
              <a:t>Output = Label only 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5532120" cy="10241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64008" cy="102412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261872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959352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Explanation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59352" y="1435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BFA8"/>
                </a:solidFill>
              </a:rPr>
              <a:t>Models identify disease names but cannot describe symptoms, causes, or visual cues.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2194560"/>
            <a:ext cx="5532120" cy="10241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194560"/>
            <a:ext cx="64008" cy="102412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450592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9352" y="23042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Reasoning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959352" y="2624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BFA8"/>
                </a:solidFill>
              </a:rPr>
              <a:t>Zero capacity for treatment recommendations or severity assessment.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46120" y="3383280"/>
            <a:ext cx="5532120" cy="10241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46120" y="3383280"/>
            <a:ext cx="64008" cy="102412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63931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59352" y="3493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Interaction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959352" y="38130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BFA8"/>
                </a:solidFill>
              </a:rPr>
              <a:t>Static outputs — users cannot ask follow-up questions or receive guidance.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1C1C1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63600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</a:rPr>
              <a:t>Goal:  Build a system that understands an image, generates detailed captions, and reasons like a digital agronomist.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E3F"/>
                </a:solidFill>
              </a:rPr>
              <a:t>PAPER 1 ·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SCOLD: Vision-Language Foundation Model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Leaf Disease Identification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54480" cy="1234440"/>
          </a:xfrm>
          <a:prstGeom prst="rect">
            <a:avLst/>
          </a:prstGeom>
          <a:solidFill>
            <a:srgbClr val="B5866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Visual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Encoder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554480" cy="1234440"/>
          </a:xfrm>
          <a:prstGeom prst="rect">
            <a:avLst/>
          </a:prstGeom>
          <a:solidFill>
            <a:srgbClr val="8C6E3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1732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CST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Bridging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554480" cy="1234440"/>
          </a:xfrm>
          <a:prstGeom prst="rect">
            <a:avLst/>
          </a:prstGeom>
          <a:solidFill>
            <a:srgbClr val="7A9E8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141732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Encoder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1874520"/>
            <a:ext cx="320040" cy="3200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87452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2743200"/>
            <a:ext cx="5120640" cy="2743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" name="Text 10"/>
          <p:cNvSpPr/>
          <p:nvPr/>
        </p:nvSpPr>
        <p:spPr>
          <a:xfrm>
            <a:off x="320040" y="2743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0"/>
                </a:solidFill>
              </a:rPr>
              <a:t>Contrastive Learning · InfoNCE Loss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23560" y="1325880"/>
            <a:ext cx="3200400" cy="6858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44475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1399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186K curated image-caption pairs for domain-specific training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623560" y="2103120"/>
            <a:ext cx="3200400" cy="6858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72200" y="21762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Context-Aware Soft Targets (CST) handle visually similar diseases &amp; reduce overconfidence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623560" y="2880360"/>
            <a:ext cx="3200400" cy="6858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99923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72200" y="2953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Outperforms CLIP &amp; BioCLIP on zero-shot and few-shot benchmarks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0040" y="3154680"/>
            <a:ext cx="4114800" cy="685800"/>
          </a:xfrm>
          <a:prstGeom prst="rect">
            <a:avLst/>
          </a:prstGeom>
          <a:solidFill>
            <a:srgbClr val="2A5A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355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96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Strong zero-shot generalisation across crop types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617720" y="3154680"/>
            <a:ext cx="4206240" cy="685800"/>
          </a:xfrm>
          <a:prstGeom prst="rect">
            <a:avLst/>
          </a:prstGeom>
          <a:solidFill>
            <a:srgbClr val="6B202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273552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38928" y="3200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Cannot generate text or explain — alignment ≠ understanding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Shape 22"/>
          <p:cNvSpPr/>
          <p:nvPr/>
        </p:nvSpPr>
        <p:spPr>
          <a:xfrm>
            <a:off x="457200" y="4480560"/>
            <a:ext cx="54864" cy="6629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2" name="Text 23"/>
          <p:cNvSpPr/>
          <p:nvPr/>
        </p:nvSpPr>
        <p:spPr>
          <a:xfrm>
            <a:off x="685800" y="44988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D0C0"/>
                </a:solidFill>
              </a:rPr>
              <a:t>"Alignment ≠ Understanding — models that align image and text still cannot reason or generate explanations."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E3F"/>
                </a:solidFill>
              </a:rPr>
              <a:t>PAPER 2 ·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Agro-Consensus: Semantic Self-Consistency in VLMs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11430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96E"/>
                </a:solidFill>
              </a:rPr>
              <a:t>77.5%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0E8"/>
                </a:solidFill>
              </a:rPr>
              <a:t>Baseline Accuracy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0"/>
                </a:solidFill>
              </a:rPr>
              <a:t>Single model output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06040" cy="11430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96E"/>
                </a:solidFill>
              </a:rPr>
              <a:t>83.1%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54680" y="16642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0E8"/>
                </a:solidFill>
              </a:rPr>
              <a:t>With Consensus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0"/>
                </a:solidFill>
              </a:rPr>
              <a:t>21-output ensemble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9320" y="1005840"/>
            <a:ext cx="2606040" cy="1143000"/>
          </a:xfrm>
          <a:prstGeom prst="rect">
            <a:avLst/>
          </a:prstGeom>
          <a:solidFill>
            <a:srgbClr val="8C6E3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E8"/>
                </a:solidFill>
              </a:rPr>
              <a:t>94%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9320" y="16642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0E8"/>
                </a:solidFill>
              </a:rPr>
              <a:t>Top-k Selection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192024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0"/>
                </a:solidFill>
              </a:rPr>
              <a:t>Best-of-21 strategy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1965960" cy="11887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2487168"/>
            <a:ext cx="365760" cy="365760"/>
          </a:xfrm>
          <a:prstGeom prst="ellipse">
            <a:avLst/>
          </a:prstGeom>
          <a:solidFill>
            <a:srgbClr val="8C6E3F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1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587752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3063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21 Captions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852928"/>
            <a:ext cx="228600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2514600" y="2423160"/>
            <a:ext cx="1965960" cy="11887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977640" y="2487168"/>
            <a:ext cx="365760" cy="365760"/>
          </a:xfrm>
          <a:prstGeom prst="ellipse">
            <a:avLst/>
          </a:prstGeom>
          <a:solidFill>
            <a:srgbClr val="8C6E3F"/>
          </a:solidFill>
          <a:ln/>
        </p:spPr>
      </p:sp>
      <p:sp>
        <p:nvSpPr>
          <p:cNvPr id="25" name="Text 21"/>
          <p:cNvSpPr/>
          <p:nvPr/>
        </p:nvSpPr>
        <p:spPr>
          <a:xfrm>
            <a:off x="3977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587752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514600" y="3063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Encode 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Embeddings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852928"/>
            <a:ext cx="228600" cy="2286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663440" y="2423160"/>
            <a:ext cx="1965960" cy="11887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26480" y="2487168"/>
            <a:ext cx="365760" cy="365760"/>
          </a:xfrm>
          <a:prstGeom prst="ellipse">
            <a:avLst/>
          </a:prstGeom>
          <a:solidFill>
            <a:srgbClr val="8C6E3F"/>
          </a:solidFill>
          <a:ln/>
        </p:spPr>
      </p:sp>
      <p:sp>
        <p:nvSpPr>
          <p:cNvPr id="31" name="Text 25"/>
          <p:cNvSpPr/>
          <p:nvPr/>
        </p:nvSpPr>
        <p:spPr>
          <a:xfrm>
            <a:off x="61264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3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58775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63440" y="3063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Compute Cosine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Similarity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52928"/>
            <a:ext cx="228600" cy="2286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812280" y="2423160"/>
            <a:ext cx="1965960" cy="11887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275320" y="2487168"/>
            <a:ext cx="365760" cy="365760"/>
          </a:xfrm>
          <a:prstGeom prst="ellipse">
            <a:avLst/>
          </a:prstGeom>
          <a:solidFill>
            <a:srgbClr val="8C6E3F"/>
          </a:solidFill>
          <a:ln/>
        </p:spPr>
      </p:sp>
      <p:sp>
        <p:nvSpPr>
          <p:cNvPr id="37" name="Text 29"/>
          <p:cNvSpPr/>
          <p:nvPr/>
        </p:nvSpPr>
        <p:spPr>
          <a:xfrm>
            <a:off x="827532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4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587752"/>
            <a:ext cx="411480" cy="411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12280" y="3063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Select Consensus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Output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20040" y="3767328"/>
            <a:ext cx="4023360" cy="594360"/>
          </a:xfrm>
          <a:prstGeom prst="rect">
            <a:avLst/>
          </a:prstGeom>
          <a:solidFill>
            <a:srgbClr val="2A5A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85876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22960" y="3794760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Consistency boosts reliability from 77.5% → 94%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4572000" y="3767328"/>
            <a:ext cx="4251960" cy="594360"/>
          </a:xfrm>
          <a:prstGeom prst="rect">
            <a:avLst/>
          </a:prstGeom>
          <a:solidFill>
            <a:srgbClr val="6B202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858768"/>
            <a:ext cx="274320" cy="27432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074920" y="37947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Computationally costly; still no structured output or explainability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7" name="Shape 36"/>
          <p:cNvSpPr/>
          <p:nvPr/>
        </p:nvSpPr>
        <p:spPr>
          <a:xfrm>
            <a:off x="457200" y="4480560"/>
            <a:ext cx="54864" cy="6629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8" name="Text 37"/>
          <p:cNvSpPr/>
          <p:nvPr/>
        </p:nvSpPr>
        <p:spPr>
          <a:xfrm>
            <a:off x="685800" y="44988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D0C0"/>
                </a:solidFill>
              </a:rPr>
              <a:t>"Consistency improves reliability — truth lies in semantic agreement across multiple generations."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E3F"/>
                </a:solidFill>
              </a:rPr>
              <a:t>PAPER 3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Explainable VLM for Crop Disease VQA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</a:rPr>
              <a:t>Two-Stage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97680" cy="10972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1097280"/>
          </a:xfrm>
          <a:prstGeom prst="rect">
            <a:avLst/>
          </a:prstGeom>
          <a:solidFill>
            <a:srgbClr val="B586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4792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1417320"/>
            <a:ext cx="4297680" cy="329184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173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</a:rPr>
              <a:t>Stage 1  ·  Vision Encoder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1783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Swin Transformer pre-trained on disease classification.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Frozen after Stage 1 — stable visual features.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651760"/>
            <a:ext cx="4297680" cy="10972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651760"/>
            <a:ext cx="64008" cy="1097280"/>
          </a:xfrm>
          <a:prstGeom prst="rect">
            <a:avLst/>
          </a:prstGeom>
          <a:solidFill>
            <a:srgbClr val="B5866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99232"/>
            <a:ext cx="384048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5760" y="2651760"/>
            <a:ext cx="4297680" cy="329184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" y="26517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</a:rPr>
              <a:t>Stage 2  ·  Language Decoder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51560" y="30175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FA8"/>
                </a:solidFill>
              </a:rPr>
              <a:t>BART / T5 generates natural language answers: disease name, symptoms, severity.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886200"/>
            <a:ext cx="4297680" cy="594360"/>
          </a:xfrm>
          <a:prstGeom prst="rect">
            <a:avLst/>
          </a:prstGeom>
          <a:solidFill>
            <a:srgbClr val="8C6E3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0507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9136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Grad-CAM Explainability — visual attention maps highlight infected regions, making predictions trustworthy.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983480" y="1005840"/>
            <a:ext cx="3840480" cy="9601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344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VQA = Interaction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577840" y="13990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AI should answer questions, not just output static labels.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983480" y="2121408"/>
            <a:ext cx="3840480" cy="9601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35000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2212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Two-Stage Stability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778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Decoupling vision &amp; language prevents overfitting and improves performance.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983480" y="3236976"/>
            <a:ext cx="3840480" cy="96012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65576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77840" y="33284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Lightweight Wins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577840" y="36301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Smaller model achieves high performance — efficiency matters for field deployment.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4" name="Shape 26"/>
          <p:cNvSpPr/>
          <p:nvPr/>
        </p:nvSpPr>
        <p:spPr>
          <a:xfrm>
            <a:off x="457200" y="4480560"/>
            <a:ext cx="54864" cy="6629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5" name="Text 27"/>
          <p:cNvSpPr/>
          <p:nvPr/>
        </p:nvSpPr>
        <p:spPr>
          <a:xfrm>
            <a:off x="685800" y="44988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D0C0"/>
                </a:solidFill>
              </a:rPr>
              <a:t>"VLMs should interact, not just predict — explainability builds the trust farmers need."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E3F"/>
                </a:solidFill>
              </a:rPr>
              <a:t>RESEARCH GAPS &amp; OUR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Is Missing — and How We Address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</a:rPr>
              <a:t>Common Gaps Across All Papers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114800" cy="5669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4081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No true caption generation — SCOLD aligns; VQA answers; neither produces a full diagnostic report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2039112"/>
            <a:ext cx="4114800" cy="5669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71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20939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Template-based language — outputs are rigid, repetitive, lack clinical diversity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724912"/>
            <a:ext cx="4114800" cy="5669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27797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No structured output — severity score, treatment plan, and explanation absent from all models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65760" y="3410712"/>
            <a:ext cx="4114800" cy="566928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4655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BFA8"/>
                </a:solidFill>
              </a:rPr>
              <a:t>No real-world deployment — benchmarked on lab datasets; none are production-ready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8C6E3F"/>
          </a:solidFill>
          <a:ln/>
        </p:spPr>
      </p:sp>
      <p:sp>
        <p:nvSpPr>
          <p:cNvPr id="19" name="Text 13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0E8"/>
                </a:solidFill>
              </a:rPr>
              <a:t>Our Implementation · Fine-Tuned Qwen2.5-VL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09160" y="1389888"/>
            <a:ext cx="1947672" cy="8686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81328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14630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96E"/>
                </a:solidFill>
              </a:rPr>
              <a:t>Generative Reports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800600" y="17922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BFA8"/>
                </a:solidFill>
              </a:rPr>
              <a:t>Structured disease captions with severity &amp; treatment recommendations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784848" y="1389888"/>
            <a:ext cx="1947672" cy="8686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481328"/>
            <a:ext cx="301752" cy="3017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87768" y="14630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96E"/>
                </a:solidFill>
              </a:rPr>
              <a:t>OOD Detection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6876288" y="17922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BFA8"/>
                </a:solidFill>
              </a:rPr>
              <a:t>CLIP-based out-of-distribution filtering for real-world reliability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4709160" y="2395728"/>
            <a:ext cx="1947672" cy="8686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487168"/>
            <a:ext cx="301752" cy="30175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12080" y="24688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96E"/>
                </a:solidFill>
              </a:rPr>
              <a:t>LoRA Fine-Tuning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4800600" y="27980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BFA8"/>
                </a:solidFill>
              </a:rPr>
              <a:t>Parameter-efficient training on structured caption dataset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6784848" y="2395728"/>
            <a:ext cx="1947672" cy="86868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487168"/>
            <a:ext cx="301752" cy="30175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87768" y="24688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96E"/>
                </a:solidFill>
              </a:rPr>
              <a:t>Web App Deployed</a:t>
            </a:r>
            <a:endParaRPr lang="en-US" sz="950" dirty="0"/>
          </a:p>
        </p:txBody>
      </p:sp>
      <p:sp>
        <p:nvSpPr>
          <p:cNvPr id="35" name="Text 25"/>
          <p:cNvSpPr/>
          <p:nvPr/>
        </p:nvSpPr>
        <p:spPr>
          <a:xfrm>
            <a:off x="6876288" y="27980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BFA8"/>
                </a:solidFill>
              </a:rPr>
              <a:t>Real-time inference accessible to agronomists in the field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4709160" y="3401568"/>
            <a:ext cx="1316736" cy="685800"/>
          </a:xfrm>
          <a:prstGeom prst="rect">
            <a:avLst/>
          </a:prstGeom>
          <a:solidFill>
            <a:srgbClr val="8C6E3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4709160" y="3419856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</a:rPr>
              <a:t>98.5%</a:t>
            </a:r>
            <a:endParaRPr lang="en-US" sz="1800" dirty="0"/>
          </a:p>
        </p:txBody>
      </p:sp>
      <p:sp>
        <p:nvSpPr>
          <p:cNvPr id="38" name="Text 28"/>
          <p:cNvSpPr/>
          <p:nvPr/>
        </p:nvSpPr>
        <p:spPr>
          <a:xfrm>
            <a:off x="4709160" y="3767328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BFA8"/>
                </a:solidFill>
              </a:rPr>
              <a:t>Accuracy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6099048" y="3401568"/>
            <a:ext cx="1316736" cy="6858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0"/>
          <p:cNvSpPr/>
          <p:nvPr/>
        </p:nvSpPr>
        <p:spPr>
          <a:xfrm>
            <a:off x="6099048" y="3419856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</a:rPr>
              <a:t>0.96</a:t>
            </a:r>
            <a:endParaRPr lang="en-US" sz="1800" dirty="0"/>
          </a:p>
        </p:txBody>
      </p:sp>
      <p:sp>
        <p:nvSpPr>
          <p:cNvPr id="41" name="Text 31"/>
          <p:cNvSpPr/>
          <p:nvPr/>
        </p:nvSpPr>
        <p:spPr>
          <a:xfrm>
            <a:off x="6099048" y="3767328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BFA8"/>
                </a:solidFill>
              </a:rPr>
              <a:t>R² Severity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7488936" y="3401568"/>
            <a:ext cx="1316736" cy="685800"/>
          </a:xfrm>
          <a:prstGeom prst="rect">
            <a:avLst/>
          </a:prstGeom>
          <a:solidFill>
            <a:srgbClr val="4242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33"/>
          <p:cNvSpPr/>
          <p:nvPr/>
        </p:nvSpPr>
        <p:spPr>
          <a:xfrm>
            <a:off x="7488936" y="3419856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</a:rPr>
              <a:t>↑BLEU</a:t>
            </a:r>
            <a:endParaRPr lang="en-US" sz="1800" dirty="0"/>
          </a:p>
        </p:txBody>
      </p:sp>
      <p:sp>
        <p:nvSpPr>
          <p:cNvPr id="44" name="Text 34"/>
          <p:cNvSpPr/>
          <p:nvPr/>
        </p:nvSpPr>
        <p:spPr>
          <a:xfrm>
            <a:off x="7488936" y="3767328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BFA8"/>
                </a:solidFill>
              </a:rPr>
              <a:t>Caption Quality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6" name="Shape 36"/>
          <p:cNvSpPr/>
          <p:nvPr/>
        </p:nvSpPr>
        <p:spPr>
          <a:xfrm>
            <a:off x="457200" y="4480560"/>
            <a:ext cx="54864" cy="6629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7" name="Text 37"/>
          <p:cNvSpPr/>
          <p:nvPr/>
        </p:nvSpPr>
        <p:spPr>
          <a:xfrm>
            <a:off x="685800" y="44988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D0C0"/>
                </a:solidFill>
              </a:rPr>
              <a:t>"Current VLMs improve detection but lack generative reasoning, structured outputs, and real-world robustness. Our work bridges that gap."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Vision-Language Models for Crop Disease Diagnosis</dc:title>
  <dc:subject>PptxGenJS Presentation</dc:subject>
  <dc:creator>PptxGenJS</dc:creator>
  <cp:lastModifiedBy>PptxGenJS</cp:lastModifiedBy>
  <cp:revision>1</cp:revision>
  <dcterms:created xsi:type="dcterms:W3CDTF">2026-04-09T05:42:26Z</dcterms:created>
  <dcterms:modified xsi:type="dcterms:W3CDTF">2026-04-09T05:42:26Z</dcterms:modified>
</cp:coreProperties>
</file>